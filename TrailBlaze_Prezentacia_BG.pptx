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16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-548640" y="3840480"/>
            <a:ext cx="4937760" cy="3017520"/>
          </a:xfrm>
          <a:prstGeom prst="triangle">
            <a:avLst/>
          </a:prstGeom>
          <a:solidFill>
            <a:srgbClr val="1B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3108960" y="3429000"/>
            <a:ext cx="5669280" cy="3429000"/>
          </a:xfrm>
          <a:prstGeom prst="triangle">
            <a:avLst/>
          </a:prstGeom>
          <a:solidFill>
            <a:srgbClr val="203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7498079" y="3977639"/>
            <a:ext cx="5486400" cy="2880360"/>
          </a:xfrm>
          <a:prstGeom prst="triangle">
            <a:avLst/>
          </a:prstGeom>
          <a:solidFill>
            <a:srgbClr val="18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rebuchet MS"/>
              </a:rPr>
              <a:t>ЗАЩИТА НА ДИПЛОМНА РАБОТА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09344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i="0">
                <a:solidFill>
                  <a:srgbClr val="FFFFFF"/>
                </a:solidFill>
                <a:latin typeface="Trebuchet MS"/>
              </a:rPr>
              <a:t>TrailBlaze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761488"/>
            <a:ext cx="9235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8CBB99"/>
                </a:solidFill>
                <a:latin typeface="Tahoma"/>
              </a:rPr>
              <a:t>Платформа за електронна търговия с туристическа екипировка, откриване на маршрути и препоръки с изкуствен интелект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858768"/>
            <a:ext cx="822960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151376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Денис Хержик</a:t>
            </a:r>
          </a:p>
          <a:p>
            <a:pPr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8CBB99"/>
                </a:solidFill>
                <a:latin typeface="Tahoma"/>
              </a:rPr>
              <a:t>Русенски университет, Русе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2 септември 2026 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151376"/>
            <a:ext cx="1170432" cy="384048"/>
          </a:xfrm>
          <a:prstGeom prst="roundRect">
            <a:avLst>
              <a:gd name="adj" fmla="val 22000"/>
            </a:avLst>
          </a:prstGeom>
          <a:solidFill>
            <a:srgbClr val="1D3327"/>
          </a:solidFill>
          <a:ln w="9525">
            <a:solidFill>
              <a:srgbClr val="2C46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BB99"/>
                </a:solidFill>
                <a:latin typeface="Trebuchet MS"/>
              </a:rPr>
              <a:t>React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4151376"/>
            <a:ext cx="1170432" cy="384048"/>
          </a:xfrm>
          <a:prstGeom prst="roundRect">
            <a:avLst>
              <a:gd name="adj" fmla="val 22000"/>
            </a:avLst>
          </a:prstGeom>
          <a:solidFill>
            <a:srgbClr val="1D3327"/>
          </a:solidFill>
          <a:ln w="9525">
            <a:solidFill>
              <a:srgbClr val="2C46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BB99"/>
                </a:solidFill>
                <a:latin typeface="Trebuchet MS"/>
              </a:rPr>
              <a:t>Express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78440" y="4151376"/>
            <a:ext cx="1170432" cy="384048"/>
          </a:xfrm>
          <a:prstGeom prst="roundRect">
            <a:avLst>
              <a:gd name="adj" fmla="val 22000"/>
            </a:avLst>
          </a:prstGeom>
          <a:solidFill>
            <a:srgbClr val="1D3327"/>
          </a:solidFill>
          <a:ln w="9525">
            <a:solidFill>
              <a:srgbClr val="2C46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BB99"/>
                </a:solidFill>
                <a:latin typeface="Trebuchet MS"/>
              </a:rPr>
              <a:t>Prisma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626864"/>
            <a:ext cx="1170432" cy="384048"/>
          </a:xfrm>
          <a:prstGeom prst="roundRect">
            <a:avLst>
              <a:gd name="adj" fmla="val 22000"/>
            </a:avLst>
          </a:prstGeom>
          <a:solidFill>
            <a:srgbClr val="1D3327"/>
          </a:solidFill>
          <a:ln w="9525">
            <a:solidFill>
              <a:srgbClr val="2C46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BB99"/>
                </a:solidFill>
                <a:latin typeface="Trebuchet MS"/>
              </a:rPr>
              <a:t>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626864"/>
            <a:ext cx="1170432" cy="384048"/>
          </a:xfrm>
          <a:prstGeom prst="roundRect">
            <a:avLst>
              <a:gd name="adj" fmla="val 22000"/>
            </a:avLst>
          </a:prstGeom>
          <a:solidFill>
            <a:srgbClr val="1D3327"/>
          </a:solidFill>
          <a:ln w="9525">
            <a:solidFill>
              <a:srgbClr val="2C46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BB99"/>
                </a:solidFill>
                <a:latin typeface="Trebuchet MS"/>
              </a:rPr>
              <a:t>Stripe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4626864"/>
            <a:ext cx="1170432" cy="384048"/>
          </a:xfrm>
          <a:prstGeom prst="roundRect">
            <a:avLst>
              <a:gd name="adj" fmla="val 22000"/>
            </a:avLst>
          </a:prstGeom>
          <a:solidFill>
            <a:srgbClr val="1D3327"/>
          </a:solidFill>
          <a:ln w="9525">
            <a:solidFill>
              <a:srgbClr val="2C46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CBB99"/>
                </a:solidFill>
                <a:latin typeface="Trebuchet MS"/>
              </a:rPr>
              <a:t>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МОТИВАЦИЯ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Два проблема, едно пътуване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Купуването на екипировка и планирането къде да се използва се случват на напълно различни места и нито едната страна не знае за другата.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3429000" cy="208711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345435"/>
            <a:ext cx="50292" cy="208711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546603"/>
            <a:ext cx="2990088" cy="17579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ПРОБЛЕМ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Екипировка без контекст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7A72"/>
                </a:solidFill>
                <a:latin typeface="Tahoma"/>
              </a:rPr>
              <a:t>Онлайн магазинът показва характеристики и размерна таблица. Той не може да каже дали това яке е подходящо за конкретен маршрут в конкретен ден.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345435"/>
            <a:ext cx="3429000" cy="208711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345435"/>
            <a:ext cx="50292" cy="208711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546603"/>
            <a:ext cx="2990088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ПРОБЛЕМ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Планиране без екипировка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7A72"/>
                </a:solidFill>
                <a:latin typeface="Tahoma"/>
              </a:rPr>
              <a:t>Базите с маршрути и услугите за прогноза описват маршрута и времето, след което оставят избора на екипировка изцяло на туриста.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45435"/>
            <a:ext cx="3429000" cy="208711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345435"/>
            <a:ext cx="50292" cy="208711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46603"/>
            <a:ext cx="2990088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СЛЕДСТВИЕ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Догадки по средата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7A72"/>
                </a:solidFill>
                <a:latin typeface="Tahoma"/>
              </a:rPr>
              <a:t>Туристът сам съпоставя трудност, прогноза и наличности. Начинаещите разполагат с най-малко информация и рискуват най-много.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43449"/>
            <a:ext cx="1076888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Теза на разработката.  </a:t>
            </a:r>
            <a:r>
              <a:rPr sz="1500" b="0" i="0">
                <a:solidFill>
                  <a:srgbClr val="232E27"/>
                </a:solidFill>
                <a:latin typeface="Tahoma"/>
              </a:rPr>
              <a:t>Ако каталогът, данните за маршрутите и прогнозата за времето са в една система, препоръката за екипировка престава да бъде догадка и се превръща в заявка към данни, които платформата вече притежава.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ОБХВАТ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Цели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Шест цели, поставени в началото на проекта, всяка от които съответства на конкретен резултат в готовата система.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77973"/>
            <a:ext cx="530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CBB99"/>
                </a:solidFill>
                <a:latin typeface="Trebuchet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077973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Пълен процес на електронна търговия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Каталог, филтри, продуктова страница, кошница, списък с желани, реално плащане и история на поръчките.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77973"/>
            <a:ext cx="530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CBB99"/>
                </a:solidFill>
                <a:latin typeface="Trebuchet M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1424" y="2077973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Интеграция на реални геопространствени данни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Търсене на реални туристически маршрути от OpenStreetMap и визуализация върху интерактивна карта.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03269"/>
            <a:ext cx="530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CBB99"/>
                </a:solidFill>
                <a:latin typeface="Trebuchet M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3303269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Съчетаване на маршрут и прогноза за времето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Извличане на прогноза за избраната дата и локация и показването ѝ в интерфейса.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03269"/>
            <a:ext cx="530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CBB99"/>
                </a:solidFill>
                <a:latin typeface="Trebuchet M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3303269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Препоръки от реалния каталог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Езиковият модел се ограничава до наличните продукти, така че всяка препоръка може да бъде купена.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528565"/>
            <a:ext cx="530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CBB99"/>
                </a:solidFill>
                <a:latin typeface="Trebuchet MS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28565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Коректна защита на приложението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Управление на сесии, потвърждаване на имейл, контрол на достъпа по роли и валидация на сървъра.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28565"/>
            <a:ext cx="530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CBB99"/>
                </a:solidFill>
                <a:latin typeface="Trebuchet MS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4528565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Публично внедряване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Работещ фронтенд, API и управлявана база данни, а не демонстрация на localhost.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ОБОБЩЕНИЕ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Какво е изградено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Четири функционални области използват едно React приложение, едно Express API и една PostgreSQL база данни.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77973"/>
            <a:ext cx="2587752" cy="356930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77973"/>
            <a:ext cx="50292" cy="3569309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79141"/>
            <a:ext cx="2148840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МАГАЗИН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Електронна търговия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138677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60 продукта в 5 категории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Филтри по размер, цена и пол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Кошница и списък с желани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Плащане със Stripe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Проследяване на поръчката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077973"/>
            <a:ext cx="2587752" cy="356930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8" y="2077973"/>
            <a:ext cx="50292" cy="3569309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279141"/>
            <a:ext cx="2148840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ГЕОДАННИ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Откриване на маршрути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38677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Търсене по град, парк или регион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Маршрути от OpenStreetMap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Интерактивна карта с Leaflet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Дължина, изкачване, трудност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Четири бързи търсения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077973"/>
            <a:ext cx="2587752" cy="356930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077973"/>
            <a:ext cx="50292" cy="3569309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279141"/>
            <a:ext cx="2148840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ПРЕПОРЪКИ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AI съветник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138677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Claude Haiku 4.5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Промпт, ограничен до каталога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Трудност на маршрута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Прогноза за времето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Строг JSON формат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077973"/>
            <a:ext cx="2587752" cy="356930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077973"/>
            <a:ext cx="50292" cy="3569309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279141"/>
            <a:ext cx="2148840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АДМИНИСТРАЦИЯ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Административен панел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3138677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Наличности по размер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Увеличаване и намаляване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Премахване на размер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Ролята се чете от базата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Защитен маршрут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Технологичен стек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Избран за типова сигурност между клиента и сървъра, управлявана PostgreSQL с типизиран клиент и безплатни външни източници на данни.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2587752" cy="303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345435"/>
            <a:ext cx="50292" cy="303916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546603"/>
            <a:ext cx="2148840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Фронтенд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095243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React 19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TypeScript 5.9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Vite 7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React Router 7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Tailwind CSS + DaisyUI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Leaflet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react-hot-toast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345435"/>
            <a:ext cx="2587752" cy="303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8" y="2345435"/>
            <a:ext cx="50292" cy="303916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546603"/>
            <a:ext cx="2148840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Бекенд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95243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Node.js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Express 5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Prisma 7 (ORM)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JWT + bcrypt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Stripe SDK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Anthropic SDK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Resend (имейл)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345435"/>
            <a:ext cx="2587752" cy="303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345435"/>
            <a:ext cx="50292" cy="303916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546603"/>
            <a:ext cx="2148840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Външни данни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095243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Overpass API (маршрути)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Nominatim (геокодиране)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OpenRouteService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Open-Meteo (време)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Pexels (снимки)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Cloudinary (медия)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345435"/>
            <a:ext cx="2587752" cy="303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345435"/>
            <a:ext cx="50292" cy="303916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546603"/>
            <a:ext cx="2148840" cy="2688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Инфраструктура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3095243"/>
            <a:ext cx="2130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Vercel (фронтенд)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Render (API)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Neon PostgreSQL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pnpm workspace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Concurrently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ESLint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ПРОЕКТИРАНЕ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Системна архитектура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Внедряване на три слоя. API-то е единственият компонент, който съхранява тайни и единственият, който достъпва базата данни и външните услуги.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2999232" cy="116052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345435"/>
            <a:ext cx="50292" cy="116052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546603"/>
            <a:ext cx="2560320" cy="8313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КЛИЕНТ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82A21"/>
                </a:solidFill>
                <a:latin typeface="Trebuchet MS"/>
              </a:rPr>
              <a:t>React SPA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7A72"/>
                </a:solidFill>
                <a:latin typeface="Tahoma"/>
              </a:rPr>
              <a:t>Vercel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2345435"/>
            <a:ext cx="2999232" cy="116052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2345435"/>
            <a:ext cx="50292" cy="1160526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2546603"/>
            <a:ext cx="2560320" cy="8313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API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82A21"/>
                </a:solidFill>
                <a:latin typeface="Trebuchet MS"/>
              </a:rPr>
              <a:t>Express 5 REST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7A72"/>
                </a:solidFill>
                <a:latin typeface="Tahoma"/>
              </a:rPr>
              <a:t>Render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9792" y="2345435"/>
            <a:ext cx="2999232" cy="116052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79792" y="2345435"/>
            <a:ext cx="50292" cy="116052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2546603"/>
            <a:ext cx="2560320" cy="8313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ДАННИ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182A21"/>
                </a:solidFill>
                <a:latin typeface="Trebuchet MS"/>
              </a:rPr>
              <a:t>PostgreSQL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7A72"/>
                </a:solidFill>
                <a:latin typeface="Tahoma"/>
              </a:rPr>
              <a:t>Neon (serverless)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58184" y="2843402"/>
            <a:ext cx="292608" cy="164592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141464" y="2843402"/>
            <a:ext cx="292608" cy="164592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97401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72"/>
                </a:solidFill>
                <a:latin typeface="Tahoma"/>
              </a:rPr>
              <a:t>httpOnly cookie с JWT, ограничен CORS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3597401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72"/>
                </a:solidFill>
                <a:latin typeface="Tahoma"/>
              </a:rPr>
              <a:t>Prisma клиент, Neon адаптер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018025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18261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8A63"/>
                </a:solidFill>
                <a:latin typeface="Trebuchet MS"/>
              </a:rPr>
              <a:t>ИНТЕГРАЦИИ, ИЗВИКВАНИ ОТ СЪРВЪРА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530089"/>
            <a:ext cx="1298448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Stripe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61972" y="4530089"/>
            <a:ext cx="1298448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Anthropic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0712" y="4530089"/>
            <a:ext cx="1298448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Resend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9452" y="4530089"/>
            <a:ext cx="1298448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Overpass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8192" y="4530089"/>
            <a:ext cx="1298448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Nominatim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6932" y="4530089"/>
            <a:ext cx="1298448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OpenRouteService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05672" y="4530089"/>
            <a:ext cx="1298448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Open-Meteo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54412" y="4530089"/>
            <a:ext cx="1298448" cy="42062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Pexels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170169"/>
            <a:ext cx="10768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Всяко обръщение към външна услуга минава през API-то.  </a:t>
            </a:r>
            <a:r>
              <a:rPr sz="1400" b="0" i="0">
                <a:solidFill>
                  <a:srgbClr val="232E27"/>
                </a:solidFill>
                <a:latin typeface="Tahoma"/>
              </a:rPr>
              <a:t>Браузърът никога не получава API ключ, а ограниченията на заявките, повторните опити и обработката на отговорите са на едно място, вместо да се повтарят в клиента.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Организация на кода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Слоест бекенд и фронтенд, организиран по функционалности. Всяка страница притежава своя интерфейс, обработчици и типове.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5212080" cy="3291828"/>
          </a:xfrm>
          <a:prstGeom prst="roundRect">
            <a:avLst>
              <a:gd name="adj" fmla="val 4000"/>
            </a:avLst>
          </a:prstGeom>
          <a:solidFill>
            <a:srgbClr val="18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82595"/>
            <a:ext cx="4773168" cy="3072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trailblaze/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client/src/   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React фронтенд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  pages/      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11 функционални папки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    UI/ handlers/ interface/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  shared/     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хедър, плащане, защити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  services/   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клиенти за външни API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server/       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Express бекенд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  routes/     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17 модула с маршрути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  controllers/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17 контролера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  services/   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кошница, желани, поръчки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  middlewares/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verifyJWT, requireAdmin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BB99"/>
                </a:solidFill>
                <a:latin typeface="Courier New"/>
              </a:rPr>
              <a:t>  prisma/                     </a:t>
            </a:r>
            <a:r>
              <a:rPr sz="1100" b="0" i="0">
                <a:solidFill>
                  <a:srgbClr val="ECE8E1"/>
                </a:solidFill>
                <a:latin typeface="Courier New"/>
              </a:rPr>
              <a:t>схема, seed, миграции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345435"/>
            <a:ext cx="5184648" cy="367131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2345435"/>
            <a:ext cx="50292" cy="3671315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546603"/>
            <a:ext cx="4745736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ОРГАНИЗАЦИЯ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2A21"/>
                </a:solidFill>
                <a:latin typeface="Trebuchet MS"/>
              </a:rPr>
              <a:t>Как се разделят слоевете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3131819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Маршрути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декларират само пътища и middleware</a:t>
            </a:r>
          </a:p>
          <a:p>
            <a:pPr algn="l" marL="187452" indent="-187452">
              <a:lnSpc>
                <a:spcPct val="126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Контролери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обработват заявката и отговора</a:t>
            </a:r>
          </a:p>
          <a:p>
            <a:pPr algn="l" marL="187452" indent="-187452">
              <a:lnSpc>
                <a:spcPct val="126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Услуги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съдържат логиката към базата, така че промяната на кошницата е написана веднъж и се извиква от три места</a:t>
            </a:r>
          </a:p>
          <a:p>
            <a:pPr algn="l" marL="187452" indent="-187452">
              <a:lnSpc>
                <a:spcPct val="126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Страници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държат заедно интерфейса, обработчиците и типовете си; общите елементи са в shared/</a:t>
            </a:r>
          </a:p>
          <a:p>
            <a:pPr algn="l" marL="187452" indent="-187452">
              <a:lnSpc>
                <a:spcPct val="126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Защити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ProtectedRoute пази профила, плащането и администрацията, GuestRoute не допуска влезли потребители до вход и регистрация</a:t>
            </a:r>
          </a:p>
          <a:p>
            <a:pPr algn="l" marL="187452" indent="-187452">
              <a:lnSpc>
                <a:spcPct val="126000"/>
              </a:lnSpc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Транспорт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един конфигуриран axios клиент за всяка среда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СЪХРАНЕНИЕ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Модел на данните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Девет Prisma модела върху PostgreSQL. Cart и Wishlist са в отношение един към един с User, а Order пази собствени редове, за да остане историята непроменена при редакция на каталога.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2587752" cy="18870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345435"/>
            <a:ext cx="50292" cy="188701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546603"/>
            <a:ext cx="21488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Идентичност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85515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User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DeliveryAddress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345435"/>
            <a:ext cx="2587752" cy="18870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8" y="2345435"/>
            <a:ext cx="50292" cy="1887016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546603"/>
            <a:ext cx="21488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Каталог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985515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345435"/>
            <a:ext cx="2587752" cy="18870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345435"/>
            <a:ext cx="50292" cy="188701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546603"/>
            <a:ext cx="21488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Състояние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985515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Cart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CartItem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Wishlist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WishlistItem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345435"/>
            <a:ext cx="2587752" cy="18870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345435"/>
            <a:ext cx="50292" cy="1887016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546603"/>
            <a:ext cx="214884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Изпълнение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985515"/>
            <a:ext cx="2130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Order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32E27"/>
                </a:solidFill>
                <a:latin typeface="Courier New"/>
              </a:rPr>
              <a:t>OrderItem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51907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4F8A63"/>
                </a:solidFill>
                <a:latin typeface="Trebuchet MS"/>
              </a:rPr>
              <a:t>ПРОЕКТНИ РЕШЕНИЯ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44515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stock е Json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карта размер-количество; нов размер не изисква миграция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availableSizes е String[]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синхронизира се и служи за филтриране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OrderItem пази цената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платената цена се запазва при покупката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role по подразбиране е user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правата се дават изрично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91072" y="4451907"/>
            <a:ext cx="5184648" cy="1531615"/>
          </a:xfrm>
          <a:prstGeom prst="roundRect">
            <a:avLst>
              <a:gd name="adj" fmla="val 4000"/>
            </a:avLst>
          </a:prstGeom>
          <a:solidFill>
            <a:srgbClr val="18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589067"/>
            <a:ext cx="4745736" cy="1312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model Product {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  availableSizes      String[]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  stock               Json   // { "M": 4, "L": 0 }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  details, sizeGuide  Json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СИГУРНОСТ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Автентикация и потвърждаване на имейл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Регистрацията умишлено не създава сесия. Профилът остава неактивен, докато не се използва изпратената по имейл връзка.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1627174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POST /register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03831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41574" y="2345435"/>
            <a:ext cx="1627174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bcrypt хеш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(10 рунда)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2173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9916" y="2345435"/>
            <a:ext cx="1627174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токен 32 байта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валиден 24 ч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0515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8258" y="2345435"/>
            <a:ext cx="1627174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имейл чрез Resend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88857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6600" y="2345435"/>
            <a:ext cx="1627174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GET /verify-email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17199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54942" y="2345435"/>
            <a:ext cx="1627174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POST /login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369563"/>
            <a:ext cx="3429000" cy="173187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369563"/>
            <a:ext cx="50292" cy="1731873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570731"/>
            <a:ext cx="2990088" cy="1402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СЛЕД ВХОД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Пренос на сесията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JWT се задава като httpOnly cookie, така че скриптовете на страницата не могат да го прочетат. CORS е ограничен до двата известни адреса.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3369563"/>
            <a:ext cx="3429000" cy="173187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9976" y="3369563"/>
            <a:ext cx="50292" cy="1731873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570731"/>
            <a:ext cx="2990088" cy="1402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ПОТВЪРЖДАВАНЕ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Токен за еднократна употреба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Токенът е 32 случайни байта, уникален в базата, валиден 24 часа и се изтрива след употреба, така че връзката не може да се използва повторно.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369563"/>
            <a:ext cx="3429000" cy="173187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369563"/>
            <a:ext cx="50292" cy="1731873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570731"/>
            <a:ext cx="2990088" cy="1402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ОБРАБОТКА НА ГРЕШКИ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Имейлът не е критичен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Неуспешно изпращане през Resend се прихваща и записва в журнала, вместо да отмени вече създаден профил, което би направило адреса неизползваем.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57468"/>
            <a:ext cx="107688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E27"/>
                </a:solidFill>
                <a:latin typeface="Tahoma"/>
              </a:rPr>
              <a:t>Входът се отказва с 403, докато </a:t>
            </a:r>
            <a:r>
              <a:rPr sz="1350" b="0" i="0">
                <a:solidFill>
                  <a:srgbClr val="182A21"/>
                </a:solidFill>
                <a:latin typeface="Courier New"/>
              </a:rPr>
              <a:t>emailVerified</a:t>
            </a:r>
            <a:r>
              <a:rPr sz="1350" b="0" i="0">
                <a:solidFill>
                  <a:srgbClr val="232E27"/>
                </a:solidFill>
                <a:latin typeface="Tahoma"/>
              </a:rPr>
              <a:t> е false, а редовете за кошница и списък с желани се създават заедно с потребителя, за да няма по-късен код, който да обработва липсваща кошница.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СИГУРНОСТ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Контрол на достъпа: преглед и укрепване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Самостоятелен преглед в края на проекта откри три пропуска, които работеща демонстрация никога не би показала. И трите са отстранени.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91155"/>
            <a:ext cx="1024128" cy="283464"/>
          </a:xfrm>
          <a:prstGeom prst="roundRect">
            <a:avLst>
              <a:gd name="adj" fmla="val 22000"/>
            </a:avLst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ОТСТРАНЕН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345435"/>
            <a:ext cx="9555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Сесия, издадена преди потвърждаване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Проблем.  </a:t>
            </a:r>
            <a:r>
              <a:rPr sz="1100" b="0" i="0">
                <a:solidFill>
                  <a:srgbClr val="6E7A72"/>
                </a:solidFill>
                <a:latin typeface="Tahoma"/>
              </a:rPr>
              <a:t>Регистрацията връщаше валиден JWT и cookie, така че проверката за потвърден имейл при вход можеше да бъде заобиколена чрез този токен.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Решение.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Регистрацията вече не издава нито токен, нито cookie.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576115"/>
            <a:ext cx="1024128" cy="283464"/>
          </a:xfrm>
          <a:prstGeom prst="roundRect">
            <a:avLst>
              <a:gd name="adj" fmla="val 22000"/>
            </a:avLst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ОТСТРАНЕН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3530395"/>
            <a:ext cx="9555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Административните маршрути, пазени само от verifyJWT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Проблем.  </a:t>
            </a:r>
            <a:r>
              <a:rPr sz="1100" b="0" i="0">
                <a:solidFill>
                  <a:srgbClr val="6E7A72"/>
                </a:solidFill>
                <a:latin typeface="Tahoma"/>
              </a:rPr>
              <a:t>Маршрутите за наличности използваха същия middleware като кошницата, а моделът User не притежаваше роля, така че всеки регистриран профил можеше да променя инвентара.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Решение.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Добавено е поле User.role и middleware requireAdmin, който чете ролята от базата данни, а не от токена, така че отнемането на права влиза в сила веднага.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968949"/>
            <a:ext cx="1024128" cy="283464"/>
          </a:xfrm>
          <a:prstGeom prst="roundRect">
            <a:avLst>
              <a:gd name="adj" fmla="val 22000"/>
            </a:avLst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Trebuchet MS"/>
              </a:rPr>
              <a:t>ОТСТРАНЕН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4923229"/>
            <a:ext cx="9555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Потвърждаването приемаше последователно id</a:t>
            </a:r>
          </a:p>
          <a:p>
            <a:pPr algn="l">
              <a:lnSpc>
                <a:spcPct val="12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Проблем.  </a:t>
            </a:r>
            <a:r>
              <a:rPr sz="1100" b="0" i="0">
                <a:solidFill>
                  <a:srgbClr val="6E7A72"/>
                </a:solidFill>
                <a:latin typeface="Tahoma"/>
              </a:rPr>
              <a:t>Връзката съдържаше id на потребителя в адреса, така че всеки профил можеше да бъде потвърден чрез отгатване на неговото id.</a:t>
            </a:r>
          </a:p>
          <a:p>
            <a:pPr algn="l">
              <a:lnSpc>
                <a:spcPct val="124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Решение.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Заменено с токен за еднократна употреба, който изтича и не може да бъде отгатнат.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936892"/>
            <a:ext cx="107688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E7A72"/>
                </a:solidFill>
                <a:latin typeface="Tahoma"/>
              </a:rPr>
              <a:t>В същия преглед: премахнати са JWT от журналите, изтрит е празен middleware и fullName вече се записва при регистрация.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ФУНКЦИОНАЛНОСТ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Каталог, кошница и списък с желани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Витрината се филтрира на сървъра, а кошницата е запис в базата данни, не състояние в браузъра.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77973"/>
            <a:ext cx="3429000" cy="266131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77973"/>
            <a:ext cx="50292" cy="266131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79141"/>
            <a:ext cx="2990088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РАЗГЛЕЖДАНЕ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Каталог и продуктова страница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864357"/>
            <a:ext cx="2962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Филтри по категория, размер, цена и пол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Избор на размер и цвят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Размерна таблица от Json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Отстъпка се показва при наличие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skeleton индикатори при зареждане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077973"/>
            <a:ext cx="3429000" cy="266131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2077973"/>
            <a:ext cx="50292" cy="266131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279141"/>
            <a:ext cx="2990088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ЗАПАЗЕНА В БАЗАТА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Кошница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864357"/>
            <a:ext cx="2962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Един запис за кошница на потребител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Продуктите се различават по размер и цвят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Количествата се валидират на сървъра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Преместване към списъка с желани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Изчиства се след създадена поръчка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77973"/>
            <a:ext cx="3429000" cy="266131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77973"/>
            <a:ext cx="50292" cy="266131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279141"/>
            <a:ext cx="2990088" cy="19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ЗАПАЗЕН В БАЗАТА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Списък с желани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864357"/>
            <a:ext cx="2962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Един запис на потребител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Същата структура като кошницата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Връщане в кошницата с едно действие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Общи услуги за добавяне и премахване</a:t>
            </a:r>
          </a:p>
          <a:p>
            <a:pPr algn="l" marL="187452" indent="-187452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• 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Запазва се след изход и на друго устройство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995315"/>
            <a:ext cx="1076888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Защо сървърът управлява кошницата.  </a:t>
            </a:r>
            <a:r>
              <a:rPr sz="1350" b="0" i="0">
                <a:solidFill>
                  <a:srgbClr val="232E27"/>
                </a:solidFill>
                <a:latin typeface="Tahoma"/>
              </a:rPr>
              <a:t>Количествата и проверките за наличност в браузъра могат да бъдат променени от потребителя. Като логиката е в общи услуги, една и съща валидация се изпълнява независимо откъде идва продуктът.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ФУНКЦИОНАЛНОСТ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Плащане със Stripe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Плащането се потвърждава от Stripe, преди да съществува запис за поръчка, а крайната точка за потвърждение е безопасна при повторно извикване.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1978212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Адрес за доставка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64013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10900" y="2345435"/>
            <a:ext cx="1978212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POST /checkout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създава PaymentIntent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61681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8568" y="2345435"/>
            <a:ext cx="1978212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Stripe Elements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потвърждаване на картата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59349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6236" y="2345435"/>
            <a:ext cx="1978212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POST /orders/confirm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57017" y="2665475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3904" y="2345435"/>
            <a:ext cx="1978212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Поръчка и редове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1" i="0">
                <a:solidFill>
                  <a:srgbClr val="182A21"/>
                </a:solidFill>
                <a:latin typeface="Trebuchet MS"/>
              </a:rPr>
              <a:t>в базата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369563"/>
            <a:ext cx="5212080" cy="15206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369563"/>
            <a:ext cx="50292" cy="1520647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570731"/>
            <a:ext cx="4773168" cy="1191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ЦЯЛОСТ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Данните за поръчката пътуват с плащането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Продуктите, формата за доставка и id на потребителя се прикрепят към metadata на PaymentIntent. Сървърът възстановява поръчката от Stripe, вместо да се доверява на втора заявка от браузъра.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369563"/>
            <a:ext cx="5184648" cy="15206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369563"/>
            <a:ext cx="50292" cy="1520647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3570731"/>
            <a:ext cx="4745736" cy="1191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НАДЕЖДНОСТ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Потвърждението е идемпотентно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Обработчикът първо търси съществуваща поръчка със същия paymentId и я връща, ако я намери, така че презареждане или двойно изпращане не може да създаде дублирана поръчка.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146242"/>
            <a:ext cx="10768888" cy="777238"/>
          </a:xfrm>
          <a:prstGeom prst="roundRect">
            <a:avLst>
              <a:gd name="adj" fmla="val 4000"/>
            </a:avLst>
          </a:prstGeom>
          <a:solidFill>
            <a:srgbClr val="18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283402"/>
            <a:ext cx="10329976" cy="557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const intent = await stripe.paymentIntents.retrieve(paymentIntentId);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if (intent.status !== "succeeded") return res.status(400)...   // без доверие към клиента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ФУНКЦИОНАЛНОСТ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Жизнен цикъл на поръчката и наличности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Потвърдена поръчка намалява наличността по размер, изважда изчерпаните размери и след това преминава през състоянията на доставка.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1934321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A21"/>
                </a:solidFill>
                <a:latin typeface="Trebuchet MS"/>
              </a:rPr>
              <a:t>Processing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47554" y="2592323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1873" y="2345435"/>
            <a:ext cx="1934321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A21"/>
                </a:solidFill>
                <a:latin typeface="Trebuchet MS"/>
              </a:rPr>
              <a:t>Packing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6195" y="2592323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30514" y="2345435"/>
            <a:ext cx="1934321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A21"/>
                </a:solidFill>
                <a:latin typeface="Trebuchet MS"/>
              </a:rPr>
              <a:t>In Transit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64836" y="2592323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9155" y="2345435"/>
            <a:ext cx="1934321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A21"/>
                </a:solidFill>
                <a:latin typeface="Trebuchet MS"/>
              </a:rPr>
              <a:t>Delivering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73477" y="2592323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47796" y="2345435"/>
            <a:ext cx="1934321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A21"/>
                </a:solidFill>
                <a:latin typeface="Trebuchet MS"/>
              </a:rPr>
              <a:t>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095243"/>
            <a:ext cx="10768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E7A72"/>
                </a:solidFill>
                <a:latin typeface="Tahoma"/>
              </a:rPr>
              <a:t>Състоянията в базата се придвижват по таймер, за да може проследяването да бъде демонстрирано изцяло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97579"/>
            <a:ext cx="5212080" cy="15206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497579"/>
            <a:ext cx="50292" cy="1520647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698747"/>
            <a:ext cx="4773168" cy="1191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ПРИ ПОТВЪРЖДЕНИЕ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Наличността намалява по размер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Заявеното количество се изважда от ключа за размера в Product.stock. Когато размер достигне нула, той се премахва и от availableSizes, така че спира да се показва за избор.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3497579"/>
            <a:ext cx="5184648" cy="15206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3497579"/>
            <a:ext cx="50292" cy="1520647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698747"/>
            <a:ext cx="4745736" cy="1191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ОТКРИТ И ОТСТРАНЕН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Дефект, който заслужава внимание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Намаляването в администрацията изтриваше размера от изходния обект вместо от копието, което се записва. Това оставяше стара стойност и последната бройка от размер не можеше да се изчерпи.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274258"/>
            <a:ext cx="107688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1943C"/>
                </a:solidFill>
                <a:latin typeface="Trebuchet MS"/>
              </a:rPr>
              <a:t>Известно ограничение.  </a:t>
            </a:r>
            <a:r>
              <a:rPr sz="1350" b="0" i="0">
                <a:solidFill>
                  <a:srgbClr val="232E27"/>
                </a:solidFill>
                <a:latin typeface="Tahoma"/>
              </a:rPr>
              <a:t>Преходите между състоянията се изпълняват от таймери в процеса, така че рестарт на сървъра губи графика за поръчките в движение. Правилното решение за продукция е устойчива опашка от задачи или Stripe webhook.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ФУНКЦИОНАЛНОСТ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Административен панел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Вътрешна страница за управление на наличности, достъпна само за профил, чиято роля в базата данни е администратор.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5212080" cy="269351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345435"/>
            <a:ext cx="50292" cy="2693517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546603"/>
            <a:ext cx="4773168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ОПЕРАЦИИ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Какво прави страницата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13181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50" b="1" i="0">
                <a:solidFill>
                  <a:srgbClr val="182A21"/>
                </a:solidFill>
                <a:latin typeface="Tahoma"/>
              </a:rPr>
              <a:t>Списък  </a:t>
            </a:r>
            <a:r>
              <a:rPr sz="1150" b="0" i="0">
                <a:solidFill>
                  <a:srgbClr val="232E27"/>
                </a:solidFill>
                <a:latin typeface="Tahoma"/>
              </a:rPr>
              <a:t>на всички продукти с наличности по размер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50" b="1" i="0">
                <a:solidFill>
                  <a:srgbClr val="182A21"/>
                </a:solidFill>
                <a:latin typeface="Tahoma"/>
              </a:rPr>
              <a:t>Увеличаване  </a:t>
            </a:r>
            <a:r>
              <a:rPr sz="1150" b="0" i="0">
                <a:solidFill>
                  <a:srgbClr val="232E27"/>
                </a:solidFill>
                <a:latin typeface="Tahoma"/>
              </a:rPr>
              <a:t>на наличността за размер с валидирано количество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50" b="1" i="0">
                <a:solidFill>
                  <a:srgbClr val="182A21"/>
                </a:solidFill>
                <a:latin typeface="Tahoma"/>
              </a:rPr>
              <a:t>Намаляване  </a:t>
            </a:r>
            <a:r>
              <a:rPr sz="1150" b="0" i="0">
                <a:solidFill>
                  <a:srgbClr val="232E27"/>
                </a:solidFill>
                <a:latin typeface="Tahoma"/>
              </a:rPr>
              <a:t>на наличността, като ключът се изтрива при нула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50" b="1" i="0">
                <a:solidFill>
                  <a:srgbClr val="182A21"/>
                </a:solidFill>
                <a:latin typeface="Tahoma"/>
              </a:rPr>
              <a:t>Премахване  </a:t>
            </a:r>
            <a:r>
              <a:rPr sz="1150" b="0" i="0">
                <a:solidFill>
                  <a:srgbClr val="232E27"/>
                </a:solidFill>
                <a:latin typeface="Tahoma"/>
              </a:rPr>
              <a:t>на размер от продукта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345435"/>
            <a:ext cx="5184648" cy="1531615"/>
          </a:xfrm>
          <a:prstGeom prst="roundRect">
            <a:avLst>
              <a:gd name="adj" fmla="val 4000"/>
            </a:avLst>
          </a:prstGeom>
          <a:solidFill>
            <a:srgbClr val="18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482595"/>
            <a:ext cx="4745736" cy="1312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PUT    /api/admin/add/:productId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PUT    /api/admin/decrease/:productId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DELETE /api/admin/remove/:productId/:size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CE8E1"/>
                </a:solidFill>
                <a:latin typeface="Courier New"/>
              </a:rPr>
              <a:t>router.use(verifyJWT, requireAdmin);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4096506"/>
            <a:ext cx="5184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requireAdmin чете role и emailVerified от базата данни при всяка заявка, така че отнемането на администраторски права влиза в сила веднага, а не при изтичане на токена.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313272"/>
            <a:ext cx="1076888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Валидация на сървъра.  </a:t>
            </a:r>
            <a:r>
              <a:rPr sz="1350" b="0" i="0">
                <a:solidFill>
                  <a:srgbClr val="232E27"/>
                </a:solidFill>
                <a:latin typeface="Tahoma"/>
              </a:rPr>
              <a:t>Количеството се преобразува в положително цяло число преди употреба, продуктът се търси преди промяна, а липсващ продукт връща 404, вместо да се записва наличност за несъществуващо 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ФУНКЦИОНАЛНОСТ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Откриване на маршрути и устойчивост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Въведено име на място се превръща в маршрут с дължина, трудност, снимки и прогноза чрез пет свързани услуги.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77973"/>
            <a:ext cx="2029968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77973"/>
            <a:ext cx="50292" cy="109728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79141"/>
            <a:ext cx="1591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Nominatim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A72"/>
                </a:solidFill>
                <a:latin typeface="Tahoma"/>
              </a:rPr>
              <a:t>име на място към</a:t>
            </a:r>
            <a:br/>
            <a:r>
              <a:rPr sz="1000" b="0" i="0">
                <a:solidFill>
                  <a:srgbClr val="6E7A72"/>
                </a:solidFill>
                <a:latin typeface="Tahoma"/>
              </a:rPr>
              <a:t>географски координати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4932" y="2077973"/>
            <a:ext cx="2029968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4932" y="2077973"/>
            <a:ext cx="50292" cy="109728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0964" y="2279141"/>
            <a:ext cx="1591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Overpass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A72"/>
                </a:solidFill>
                <a:latin typeface="Tahoma"/>
              </a:rPr>
              <a:t>туристически маршрути</a:t>
            </a:r>
            <a:br/>
            <a:r>
              <a:rPr sz="1000" b="0" i="0">
                <a:solidFill>
                  <a:srgbClr val="6E7A72"/>
                </a:solidFill>
                <a:latin typeface="Tahoma"/>
              </a:rPr>
              <a:t>в радиус 100 км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6632" y="2077973"/>
            <a:ext cx="2029968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56632" y="2077973"/>
            <a:ext cx="50292" cy="109728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2279141"/>
            <a:ext cx="1591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OpenRouteService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A72"/>
                </a:solidFill>
                <a:latin typeface="Tahoma"/>
              </a:rPr>
              <a:t>разстояние между</a:t>
            </a:r>
            <a:br/>
            <a:r>
              <a:rPr sz="1000" b="0" i="0">
                <a:solidFill>
                  <a:srgbClr val="6E7A72"/>
                </a:solidFill>
                <a:latin typeface="Tahoma"/>
              </a:rPr>
              <a:t>крайните точки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8332" y="2077973"/>
            <a:ext cx="2029968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8332" y="2077973"/>
            <a:ext cx="50292" cy="109728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4364" y="2279141"/>
            <a:ext cx="1591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Open-Meteo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A72"/>
                </a:solidFill>
                <a:latin typeface="Tahoma"/>
              </a:rPr>
              <a:t>прогноза за</a:t>
            </a:r>
            <a:br/>
            <a:r>
              <a:rPr sz="1000" b="0" i="0">
                <a:solidFill>
                  <a:srgbClr val="6E7A72"/>
                </a:solidFill>
                <a:latin typeface="Tahoma"/>
              </a:rPr>
              <a:t>избраната дата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2077973"/>
            <a:ext cx="2029968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00032" y="2077973"/>
            <a:ext cx="50292" cy="109728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279141"/>
            <a:ext cx="1591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Pexels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A72"/>
                </a:solidFill>
                <a:latin typeface="Tahoma"/>
              </a:rPr>
              <a:t>представителни</a:t>
            </a:r>
            <a:br/>
            <a:r>
              <a:rPr sz="1000" b="0" i="0">
                <a:solidFill>
                  <a:srgbClr val="6E7A72"/>
                </a:solidFill>
                <a:latin typeface="Tahoma"/>
              </a:rPr>
              <a:t>снимки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54200" y="2558033"/>
            <a:ext cx="118872" cy="137160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925900" y="2558033"/>
            <a:ext cx="118872" cy="137160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097600" y="2558033"/>
            <a:ext cx="118872" cy="137160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9269300" y="2558033"/>
            <a:ext cx="118872" cy="137160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3412997"/>
            <a:ext cx="2587752" cy="1911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412997"/>
            <a:ext cx="50292" cy="191140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3614165"/>
            <a:ext cx="2148840" cy="1549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КАРТА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Визуализация с Leaflet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72"/>
                </a:solidFill>
                <a:latin typeface="Tahoma"/>
              </a:rPr>
              <a:t>Геометрията от Overpass се чертае като линия върху OpenStreetMap, заедно с име, изкачване и трудност по скалата SAC.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412997"/>
            <a:ext cx="2587752" cy="1911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47288" y="3412997"/>
            <a:ext cx="50292" cy="191140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3614165"/>
            <a:ext cx="2148840" cy="158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ПОВТОРНИ ОПИТИ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Експоненциално изчакване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72"/>
                </a:solidFill>
                <a:latin typeface="Tahoma"/>
              </a:rPr>
              <a:t>Overpass отказва заявки при натоварване. Неуспешните извиквания се повтарят след 2, 5 и 10 секунди.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412997"/>
            <a:ext cx="2587752" cy="1911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1344" y="3412997"/>
            <a:ext cx="50292" cy="191140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3614165"/>
            <a:ext cx="2148840" cy="1145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ЧАСТИЧЕН ОТКАЗ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Promise.allSettled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72"/>
                </a:solidFill>
                <a:latin typeface="Tahoma"/>
              </a:rPr>
              <a:t>Неуспешна снимка или разстояние не отхвърля целия резултат от търсенето.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3412997"/>
            <a:ext cx="2587752" cy="1911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15400" y="3412997"/>
            <a:ext cx="50292" cy="191140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432" y="3614165"/>
            <a:ext cx="2148840" cy="1549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ПРОИЗВОДИТЕЛНОСТ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82A21"/>
                </a:solidFill>
                <a:latin typeface="Trebuchet MS"/>
              </a:rPr>
              <a:t>Кеш по координати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A72"/>
                </a:solidFill>
                <a:latin typeface="Tahoma"/>
              </a:rPr>
              <a:t>Разстоянията се запомнят по ключ, закръглен до четири знака, което обединява повтарящите се заявки за едно и също начало.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543853"/>
            <a:ext cx="107688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7A72"/>
                </a:solidFill>
                <a:latin typeface="Tahoma"/>
              </a:rPr>
              <a:t>Етикетите в Overpass се различават според сътрудника, затова трудността преминава към sac_scale, а маршрутите без име се пропускат.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ФУНКЦИОНАЛНОСТ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AI съветник за екипировка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Моделът получава наличния каталог и условията по маршрута и е ограничен да отговаря само с продукти, които съществуват.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1642414" cy="74980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A21"/>
                </a:solidFill>
                <a:latin typeface="Trebuchet MS"/>
              </a:rPr>
              <a:t>Маршрут и трудност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09927" y="2647187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38526" y="2345435"/>
            <a:ext cx="1642414" cy="74980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A21"/>
                </a:solidFill>
                <a:latin typeface="Trebuchet MS"/>
              </a:rPr>
              <a:t>Прогноза за датата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5221" y="2647187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3820" y="2345435"/>
            <a:ext cx="1642414" cy="74980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A21"/>
                </a:solidFill>
                <a:latin typeface="Trebuchet MS"/>
              </a:rPr>
              <a:t>Каталог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00" b="1" i="0">
                <a:solidFill>
                  <a:srgbClr val="182A21"/>
                </a:solidFill>
                <a:latin typeface="Trebuchet MS"/>
              </a:rPr>
              <a:t>от базата данни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0515" y="2647187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9114" y="2345435"/>
            <a:ext cx="1642414" cy="74980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A21"/>
                </a:solidFill>
                <a:latin typeface="Trebuchet MS"/>
              </a:rPr>
              <a:t>Claude Haiku 4.5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85809" y="2647187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14408" y="2345435"/>
            <a:ext cx="1642414" cy="74980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A21"/>
                </a:solidFill>
                <a:latin typeface="Trebuchet MS"/>
              </a:rPr>
              <a:t>Валидиран JSON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11103" y="2647187"/>
            <a:ext cx="274320" cy="146304"/>
          </a:xfrm>
          <a:prstGeom prst="rightArrow">
            <a:avLst/>
          </a:prstGeom>
          <a:solidFill>
            <a:srgbClr val="8CB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39702" y="2345435"/>
            <a:ext cx="1642414" cy="74980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2A21"/>
                </a:solidFill>
                <a:latin typeface="Trebuchet MS"/>
              </a:rPr>
              <a:t>Връзки към продукти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332987"/>
            <a:ext cx="3429000" cy="194309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332987"/>
            <a:ext cx="50292" cy="1943099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534155"/>
            <a:ext cx="29900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ОГРАНИЧЕНИЕ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Обвързан с каталога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Заглавия, категории, пол и id на продуктите се четат от базата и се вписват в промпта, така че препоръката винаги е нещо, което може да бъде добавено в кошницата.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3332987"/>
            <a:ext cx="3429000" cy="194309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9976" y="3332987"/>
            <a:ext cx="50292" cy="1943099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534155"/>
            <a:ext cx="2990088" cy="1613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ФОРМАТ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Строг изходен формат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Системният промпт изисква чист JSON обект с горна и долна част за всеки пол плюс едно изречение обосновка според времето. Markdown ограждания се премахват преди разбор.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332987"/>
            <a:ext cx="3429000" cy="194309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332987"/>
            <a:ext cx="50292" cy="1943099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534155"/>
            <a:ext cx="2990088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ВАЛИДАЦИЯ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Отхвърля се при грешка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Обектът се проверява за всичките четири задължителни полета и заявката връща 500, вместо да се покаже частична или измислена препоръка.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532118"/>
            <a:ext cx="1076888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Защо малък модел.  </a:t>
            </a:r>
            <a:r>
              <a:rPr sz="1350" b="0" i="0">
                <a:solidFill>
                  <a:srgbClr val="232E27"/>
                </a:solidFill>
                <a:latin typeface="Tahoma"/>
              </a:rPr>
              <a:t>Задачата е избор от подаден списък при две числови условия, а не свободно разсъждение. Haiku задържа отговора в рамките на времето, което потребителят чака на страницата, при значително по-ниска цена.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ПРОЦЕС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Проектът в числа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Разработен като самостоятелен проект в продължение на дванадесет месеца, от първия commit по началната страница до бранча с укрепване на достъпа.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45435"/>
            <a:ext cx="2121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F8A63"/>
                </a:solidFill>
                <a:latin typeface="Trebuchet MS"/>
              </a:rPr>
              <a:t>159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commit-а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345435"/>
            <a:ext cx="2121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1943C"/>
                </a:solidFill>
                <a:latin typeface="Trebuchet MS"/>
              </a:rPr>
              <a:t>12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месеца работа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2345435"/>
            <a:ext cx="2121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F8A63"/>
                </a:solidFill>
                <a:latin typeface="Trebuchet MS"/>
              </a:rPr>
              <a:t>8 909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реда код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7456" y="2345435"/>
            <a:ext cx="2121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1943C"/>
                </a:solidFill>
                <a:latin typeface="Trebuchet MS"/>
              </a:rPr>
              <a:t>91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модула в клиента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8864" y="2345435"/>
            <a:ext cx="2121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4F8A63"/>
                </a:solidFill>
                <a:latin typeface="Trebuchet MS"/>
              </a:rPr>
              <a:t>34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E7A72"/>
                </a:solidFill>
                <a:latin typeface="Tahoma"/>
              </a:rPr>
              <a:t>модула на сървъра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399027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3636771"/>
            <a:ext cx="3429000" cy="15374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636771"/>
            <a:ext cx="50292" cy="1537411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837939"/>
            <a:ext cx="299008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НАЧАЛО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82A21"/>
                </a:solidFill>
                <a:latin typeface="Trebuchet MS"/>
              </a:rPr>
              <a:t>29 авг. 2025 г.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Първи commit: началната страница и секциите с категории.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3636771"/>
            <a:ext cx="3429000" cy="15374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9976" y="3636771"/>
            <a:ext cx="50292" cy="1537411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3837939"/>
            <a:ext cx="2990088" cy="12082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СРЕДА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82A21"/>
                </a:solidFill>
                <a:latin typeface="Trebuchet MS"/>
              </a:rPr>
              <a:t>Работа на етапи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Вход, каталог, кошница, плащане, поръчки, маршрути, AI съветник и административен панел бяха завършвани един по един.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636771"/>
            <a:ext cx="3429000" cy="153741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636771"/>
            <a:ext cx="50292" cy="1537411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837939"/>
            <a:ext cx="2990088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ПОСЛЕДНО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82A21"/>
                </a:solidFill>
                <a:latin typeface="Trebuchet MS"/>
              </a:rPr>
              <a:t>28 авг. 2026 г.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Преглед и укрепване на контрола на достъпа, в бранч 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430214"/>
            <a:ext cx="107688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E7A72"/>
                </a:solidFill>
                <a:latin typeface="Tahoma"/>
              </a:rPr>
              <a:t>Фронтендът и API-то са внедрени и публично достъпни, зад тях стои управлявана serverless PostgreSQL база с 60 записани продукта.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ОЦЕНКА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Валидация и ограничения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Посочени открито, защото това са границите на текущата система.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77973"/>
            <a:ext cx="5212080" cy="2937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77973"/>
            <a:ext cx="50292" cy="293756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79141"/>
            <a:ext cx="4773168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ТЕСТВАНЕ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Как е проверявана системата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827781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Ръчни цялостни преминавания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през регистрация, покупка и проследяване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Stripe в тестов режим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за целия процес на плащане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ESLint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върху кода при всяка промяна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TypeScript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на клиента за проверка на типовете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1" i="0">
                <a:solidFill>
                  <a:srgbClr val="4F8A63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Няма автоматизирани тестове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скриптът npm test все още е заглушка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077973"/>
            <a:ext cx="5184648" cy="2937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2077973"/>
            <a:ext cx="50292" cy="293756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279141"/>
            <a:ext cx="4745736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ГРАНИЦИ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A21"/>
                </a:solidFill>
                <a:latin typeface="Trebuchet MS"/>
              </a:rPr>
              <a:t>Известни ограничения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827781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7452" indent="-187452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Таймери в процеса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графикът на поръчките не издържа рестарт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Няма Stripe webhook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потвърждението се задейства от клиента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Няма резервиране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добавянето в кошницата не задържа бройка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Изпращач в тестов режим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за свободна регистрация е нужен домейн</a:t>
            </a:r>
          </a:p>
          <a:p>
            <a:pPr algn="l" marL="187452" indent="-187452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ahoma"/>
              </a:rPr>
              <a:t>▪   </a:t>
            </a:r>
            <a:r>
              <a:rPr sz="1100" b="1" i="0">
                <a:solidFill>
                  <a:srgbClr val="182A21"/>
                </a:solidFill>
                <a:latin typeface="Tahoma"/>
              </a:rPr>
              <a:t>Лимити на безплатните API  </a:t>
            </a:r>
            <a:r>
              <a:rPr sz="1100" b="0" i="0">
                <a:solidFill>
                  <a:srgbClr val="232E27"/>
                </a:solidFill>
                <a:latin typeface="Tahoma"/>
              </a:rPr>
              <a:t>ограничаването от Overpass се вижда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253277"/>
            <a:ext cx="10768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A21"/>
                </a:solidFill>
                <a:latin typeface="Trebuchet MS"/>
              </a:rPr>
              <a:t>За липсващите тестове.  </a:t>
            </a:r>
            <a:r>
              <a:rPr sz="1350" b="0" i="0">
                <a:solidFill>
                  <a:srgbClr val="232E27"/>
                </a:solidFill>
                <a:latin typeface="Tahoma"/>
              </a:rPr>
              <a:t>Отсъствието на автоматизирани тестове е най-ясният пропуск в проекта. Описаните по-горе пропуски в контрола на достъпа са точно този вид дефекти, които интеграционен тест около middleware за автентикация би открил много по-рано.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8A63"/>
                </a:solidFill>
                <a:latin typeface="Trebuchet MS"/>
              </a:rPr>
              <a:t>СЛЕДВАЩИ СТЪПКИ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7688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82A21"/>
                </a:solidFill>
                <a:latin typeface="Trebuchet MS"/>
              </a:rPr>
              <a:t>Бъдещо развитие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389888"/>
            <a:ext cx="566928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E7A72"/>
                </a:solidFill>
                <a:latin typeface="Tahoma"/>
              </a:rPr>
              <a:t>Подредено според това какво най-много би подобрило коректността и поддръжката, а не според видимата функционалност.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45435"/>
            <a:ext cx="3429000" cy="175534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345435"/>
            <a:ext cx="50292" cy="1755343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546603"/>
            <a:ext cx="2990088" cy="1183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НАЙ-ВАЖНО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82A21"/>
                </a:solidFill>
                <a:latin typeface="Trebuchet MS"/>
              </a:rPr>
              <a:t>Автоматизирани тестове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Интеграционни тестове около автентикацията, правата и процеса на поръчка, изпълнявани автоматично при всяка промяна.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345435"/>
            <a:ext cx="3429000" cy="175534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345435"/>
            <a:ext cx="50292" cy="1755343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546603"/>
            <a:ext cx="2990088" cy="142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КОРЕКТНОСТ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82A21"/>
                </a:solidFill>
                <a:latin typeface="Trebuchet MS"/>
              </a:rPr>
              <a:t>Stripe webhook и опашка от задачи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Създаването на поръчка да мине през webhook, а преходите между състоянията към устойчива опашка.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45435"/>
            <a:ext cx="3429000" cy="175534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345435"/>
            <a:ext cx="50292" cy="1755343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46603"/>
            <a:ext cx="2990088" cy="1183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4F8A63"/>
                </a:solidFill>
                <a:latin typeface="Trebuchet MS"/>
              </a:rPr>
              <a:t>КОРЕКТНОСТ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82A21"/>
                </a:solidFill>
                <a:latin typeface="Trebuchet MS"/>
              </a:rPr>
              <a:t>Транзакционни наличности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Намаляване на наличността в транзакция и кратко резервиране в кошницата срещу продажба над наличното.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301946"/>
            <a:ext cx="3429000" cy="151226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4301946"/>
            <a:ext cx="50292" cy="1512265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503114"/>
            <a:ext cx="2990088" cy="1183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ФУНКЦИИ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82A21"/>
                </a:solidFill>
                <a:latin typeface="Trebuchet MS"/>
              </a:rPr>
              <a:t>По-богати данни за маршрути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Профил на височината, кеширани резултати от Overpass и запазени любими маршрути за всеки потребител.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4301946"/>
            <a:ext cx="3429000" cy="151226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9976" y="4301946"/>
            <a:ext cx="50292" cy="1512265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4503114"/>
            <a:ext cx="2990088" cy="1183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ФУНКЦИИ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82A21"/>
                </a:solidFill>
                <a:latin typeface="Trebuchet MS"/>
              </a:rPr>
              <a:t>Качество на препоръките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Включване на наличните размери и предишни покупки в промпта и отчитане дали препоръките са приети.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301946"/>
            <a:ext cx="3429000" cy="151226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B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301946"/>
            <a:ext cx="50292" cy="1512265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503114"/>
            <a:ext cx="2990088" cy="9718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1943C"/>
                </a:solidFill>
                <a:latin typeface="Trebuchet MS"/>
              </a:rPr>
              <a:t>ОПЕРАЦИИ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182A21"/>
                </a:solidFill>
                <a:latin typeface="Trebuchet MS"/>
              </a:rPr>
              <a:t>Наблюдаемост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A72"/>
                </a:solidFill>
                <a:latin typeface="Tahoma"/>
              </a:rPr>
              <a:t>Структурирано журналиране, отчитане на грешки и базови показатели за API-то.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6272784"/>
            <a:ext cx="10768888" cy="9525"/>
          </a:xfrm>
          <a:prstGeom prst="rect">
            <a:avLst/>
          </a:prstGeom>
          <a:solidFill>
            <a:srgbClr val="DBD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TrailBlaze</a:t>
            </a:r>
            <a:r>
              <a:rPr sz="950" b="0" i="0">
                <a:solidFill>
                  <a:srgbClr val="6E7A72"/>
                </a:solidFill>
                <a:latin typeface="Trebuchet MS"/>
              </a:rPr>
              <a:t>   |   Електронна търговия и туристически маршрути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382512"/>
            <a:ext cx="9646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A72"/>
                </a:solidFill>
                <a:latin typeface="Trebuchet M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863840" y="3566160"/>
            <a:ext cx="5486400" cy="3291840"/>
          </a:xfrm>
          <a:prstGeom prst="triangle">
            <a:avLst/>
          </a:prstGeom>
          <a:solidFill>
            <a:srgbClr val="18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9966960" y="4023360"/>
            <a:ext cx="3840480" cy="2834640"/>
          </a:xfrm>
          <a:prstGeom prst="triangle">
            <a:avLst/>
          </a:prstGeom>
          <a:solidFill>
            <a:srgbClr val="1D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1943C"/>
                </a:solidFill>
                <a:latin typeface="Trebuchet MS"/>
              </a:rPr>
              <a:t>ЗАКЛЮЧЕНИЕ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43584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Една система, а не две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231136"/>
            <a:ext cx="822960" cy="41148"/>
          </a:xfrm>
          <a:prstGeom prst="rect">
            <a:avLst/>
          </a:prstGeom>
          <a:solidFill>
            <a:srgbClr val="C1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542032"/>
            <a:ext cx="75895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8CBB99"/>
                </a:solidFill>
                <a:latin typeface="Tahoma"/>
              </a:rPr>
              <a:t>TrailBlaze предоставя цялостен търговски процес, от каталога през реално плащане с карта до проследяване на поръчката, върху живи геопространствени данни и прогноза за времето. Тъй като каталогът и контекстът на маршрута са в една система, препоръката за екипировка е обвързана с наличности, които реално съществуват.</a:t>
            </a:r>
          </a:p>
          <a:p>
            <a:pPr algn="l">
              <a:lnSpc>
                <a:spcPct val="142000"/>
              </a:lnSpc>
              <a:spcBef>
                <a:spcPts val="1200"/>
              </a:spcBef>
              <a:spcAft>
                <a:spcPts val="0"/>
              </a:spcAft>
            </a:pPr>
            <a:r>
              <a:rPr sz="1450" b="0" i="0">
                <a:solidFill>
                  <a:srgbClr val="ECE8E1"/>
                </a:solidFill>
                <a:latin typeface="Tahoma"/>
              </a:rPr>
              <a:t>Прегледът на контрола на достъпа в края на работата беше най-поучителната част: една функционалност може да изглежда завършена и въпреки това да е грешна по начини, които се откриват само при недоверчиво четене.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193792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Благодаря за вниманието. Готов съм за въпроси.</a:t>
            </a:r>
          </a:p>
          <a:p>
            <a:pPr algn="l">
              <a:lnSpc>
                <a:spcPct val="122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0" i="0">
                <a:solidFill>
                  <a:srgbClr val="6E7A72"/>
                </a:solidFill>
                <a:latin typeface="Tahoma"/>
              </a:rPr>
              <a:t>Денис Хержик   |   Русенски университет   |   hiking-ecommerce.vercel.app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