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F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4160520"/>
            <a:ext cx="12191695" cy="2697480"/>
          </a:xfrm>
          <a:prstGeom prst="rect">
            <a:avLst/>
          </a:prstGeom>
          <a:solidFill>
            <a:srgbClr val="1628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Isosceles Triangle 3"/>
          <p:cNvSpPr/>
          <p:nvPr/>
        </p:nvSpPr>
        <p:spPr>
          <a:xfrm>
            <a:off x="-548640" y="3840480"/>
            <a:ext cx="4937760" cy="3017520"/>
          </a:xfrm>
          <a:prstGeom prst="triangle">
            <a:avLst/>
          </a:prstGeom>
          <a:solidFill>
            <a:srgbClr val="1B30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Isosceles Triangle 4"/>
          <p:cNvSpPr/>
          <p:nvPr/>
        </p:nvSpPr>
        <p:spPr>
          <a:xfrm>
            <a:off x="3108960" y="3429000"/>
            <a:ext cx="5669280" cy="3429000"/>
          </a:xfrm>
          <a:prstGeom prst="triangle">
            <a:avLst/>
          </a:prstGeom>
          <a:solidFill>
            <a:srgbClr val="203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Isosceles Triangle 5"/>
          <p:cNvSpPr/>
          <p:nvPr/>
        </p:nvSpPr>
        <p:spPr>
          <a:xfrm>
            <a:off x="7498079" y="3977639"/>
            <a:ext cx="5486400" cy="2880360"/>
          </a:xfrm>
          <a:prstGeom prst="triangle">
            <a:avLst/>
          </a:prstGeom>
          <a:solidFill>
            <a:srgbClr val="182B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0" y="0"/>
            <a:ext cx="128016" cy="6858000"/>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13232" y="1207008"/>
            <a:ext cx="8229600" cy="274320"/>
          </a:xfrm>
          <a:prstGeom prst="rect">
            <a:avLst/>
          </a:prstGeom>
          <a:noFill/>
        </p:spPr>
        <p:txBody>
          <a:bodyPr wrap="square" lIns="0" rIns="0" tIns="0" bIns="0" anchor="t">
            <a:spAutoFit/>
          </a:bodyPr>
          <a:lstStyle/>
          <a:p>
            <a:pPr algn="l">
              <a:lnSpc>
                <a:spcPct val="122000"/>
              </a:lnSpc>
              <a:spcBef>
                <a:spcPts val="0"/>
              </a:spcBef>
              <a:spcAft>
                <a:spcPts val="0"/>
              </a:spcAft>
            </a:pPr>
            <a:r>
              <a:rPr sz="1100" b="1" i="0">
                <a:solidFill>
                  <a:srgbClr val="C1943C"/>
                </a:solidFill>
                <a:latin typeface="Trebuchet MS"/>
              </a:rPr>
              <a:t>BACHELOR THESIS PRESENTATION</a:t>
            </a:r>
          </a:p>
        </p:txBody>
      </p:sp>
      <p:sp>
        <p:nvSpPr>
          <p:cNvPr id="9" name="TextBox 8"/>
          <p:cNvSpPr txBox="1"/>
          <p:nvPr/>
        </p:nvSpPr>
        <p:spPr>
          <a:xfrm>
            <a:off x="713232" y="1627632"/>
            <a:ext cx="9692640" cy="1371600"/>
          </a:xfrm>
          <a:prstGeom prst="rect">
            <a:avLst/>
          </a:prstGeom>
          <a:noFill/>
        </p:spPr>
        <p:txBody>
          <a:bodyPr wrap="square" lIns="0" rIns="0" tIns="0" bIns="0" anchor="t">
            <a:spAutoFit/>
          </a:bodyPr>
          <a:lstStyle/>
          <a:p>
            <a:pPr algn="l">
              <a:lnSpc>
                <a:spcPct val="100000"/>
              </a:lnSpc>
              <a:spcBef>
                <a:spcPts val="0"/>
              </a:spcBef>
              <a:spcAft>
                <a:spcPts val="0"/>
              </a:spcAft>
            </a:pPr>
            <a:r>
              <a:rPr sz="6800" b="1" i="0">
                <a:solidFill>
                  <a:srgbClr val="FFFFFF"/>
                </a:solidFill>
                <a:latin typeface="Trebuchet MS"/>
              </a:rPr>
              <a:t>TrailBlaze</a:t>
            </a:r>
          </a:p>
        </p:txBody>
      </p:sp>
      <p:sp>
        <p:nvSpPr>
          <p:cNvPr id="10" name="TextBox 9"/>
          <p:cNvSpPr txBox="1"/>
          <p:nvPr/>
        </p:nvSpPr>
        <p:spPr>
          <a:xfrm>
            <a:off x="713232" y="2761488"/>
            <a:ext cx="9235440" cy="914400"/>
          </a:xfrm>
          <a:prstGeom prst="rect">
            <a:avLst/>
          </a:prstGeom>
          <a:noFill/>
        </p:spPr>
        <p:txBody>
          <a:bodyPr wrap="square" lIns="0" rIns="0" tIns="0" bIns="0" anchor="t">
            <a:spAutoFit/>
          </a:bodyPr>
          <a:lstStyle/>
          <a:p>
            <a:pPr algn="l">
              <a:lnSpc>
                <a:spcPct val="132000"/>
              </a:lnSpc>
              <a:spcBef>
                <a:spcPts val="0"/>
              </a:spcBef>
              <a:spcAft>
                <a:spcPts val="0"/>
              </a:spcAft>
            </a:pPr>
            <a:r>
              <a:rPr sz="1900" b="0" i="0">
                <a:solidFill>
                  <a:srgbClr val="8CBB99"/>
                </a:solidFill>
                <a:latin typeface="Tahoma"/>
              </a:rPr>
              <a:t>A full-stack hiking e-commerce platform with trail discovery and AI-assisted gear recommendation</a:t>
            </a:r>
          </a:p>
        </p:txBody>
      </p:sp>
      <p:sp>
        <p:nvSpPr>
          <p:cNvPr id="11" name="Rectangle 10"/>
          <p:cNvSpPr/>
          <p:nvPr/>
        </p:nvSpPr>
        <p:spPr>
          <a:xfrm>
            <a:off x="713232" y="3858768"/>
            <a:ext cx="822960"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13232" y="4151376"/>
            <a:ext cx="8229600" cy="1097280"/>
          </a:xfrm>
          <a:prstGeom prst="rect">
            <a:avLst/>
          </a:prstGeom>
          <a:noFill/>
        </p:spPr>
        <p:txBody>
          <a:bodyPr wrap="square" lIns="0" rIns="0" tIns="0" bIns="0" anchor="t">
            <a:spAutoFit/>
          </a:bodyPr>
          <a:lstStyle/>
          <a:p>
            <a:pPr algn="l">
              <a:lnSpc>
                <a:spcPct val="122000"/>
              </a:lnSpc>
              <a:spcBef>
                <a:spcPts val="0"/>
              </a:spcBef>
              <a:spcAft>
                <a:spcPts val="0"/>
              </a:spcAft>
            </a:pPr>
            <a:r>
              <a:rPr sz="1800" b="1" i="0">
                <a:solidFill>
                  <a:srgbClr val="FFFFFF"/>
                </a:solidFill>
                <a:latin typeface="Trebuchet MS"/>
              </a:rPr>
              <a:t>Denys Herzhyk</a:t>
            </a:r>
          </a:p>
          <a:p>
            <a:pPr algn="l">
              <a:lnSpc>
                <a:spcPct val="122000"/>
              </a:lnSpc>
              <a:spcBef>
                <a:spcPts val="600"/>
              </a:spcBef>
              <a:spcAft>
                <a:spcPts val="0"/>
              </a:spcAft>
            </a:pPr>
            <a:r>
              <a:rPr sz="1350" b="0" i="0">
                <a:solidFill>
                  <a:srgbClr val="8CBB99"/>
                </a:solidFill>
                <a:latin typeface="Tahoma"/>
              </a:rPr>
              <a:t>Ruse University, Ruse, Bulgaria</a:t>
            </a:r>
          </a:p>
          <a:p>
            <a:pPr algn="l">
              <a:lnSpc>
                <a:spcPct val="122000"/>
              </a:lnSpc>
              <a:spcBef>
                <a:spcPts val="300"/>
              </a:spcBef>
              <a:spcAft>
                <a:spcPts val="0"/>
              </a:spcAft>
            </a:pPr>
            <a:r>
              <a:rPr sz="1350" b="0" i="0">
                <a:solidFill>
                  <a:srgbClr val="6E7A72"/>
                </a:solidFill>
                <a:latin typeface="Tahoma"/>
              </a:rPr>
              <a:t>Sep 2, 2026</a:t>
            </a:r>
          </a:p>
        </p:txBody>
      </p:sp>
      <p:sp>
        <p:nvSpPr>
          <p:cNvPr id="13" name="Rounded Rectangle 12"/>
          <p:cNvSpPr/>
          <p:nvPr/>
        </p:nvSpPr>
        <p:spPr>
          <a:xfrm>
            <a:off x="7818120" y="4151376"/>
            <a:ext cx="1170432" cy="384048"/>
          </a:xfrm>
          <a:prstGeom prst="roundRect">
            <a:avLst>
              <a:gd name="adj" fmla="val 22000"/>
            </a:avLst>
          </a:prstGeom>
          <a:solidFill>
            <a:srgbClr val="1D3327"/>
          </a:solidFill>
          <a:ln w="9525">
            <a:solidFill>
              <a:srgbClr val="2C46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050" b="1" i="0">
                <a:solidFill>
                  <a:srgbClr val="8CBB99"/>
                </a:solidFill>
                <a:latin typeface="Trebuchet MS"/>
              </a:rPr>
              <a:t>React 19</a:t>
            </a:r>
          </a:p>
        </p:txBody>
      </p:sp>
      <p:sp>
        <p:nvSpPr>
          <p:cNvPr id="14" name="Rounded Rectangle 13"/>
          <p:cNvSpPr/>
          <p:nvPr/>
        </p:nvSpPr>
        <p:spPr>
          <a:xfrm>
            <a:off x="9098280" y="4151376"/>
            <a:ext cx="1170432" cy="384048"/>
          </a:xfrm>
          <a:prstGeom prst="roundRect">
            <a:avLst>
              <a:gd name="adj" fmla="val 22000"/>
            </a:avLst>
          </a:prstGeom>
          <a:solidFill>
            <a:srgbClr val="1D3327"/>
          </a:solidFill>
          <a:ln w="9525">
            <a:solidFill>
              <a:srgbClr val="2C46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050" b="1" i="0">
                <a:solidFill>
                  <a:srgbClr val="8CBB99"/>
                </a:solidFill>
                <a:latin typeface="Trebuchet MS"/>
              </a:rPr>
              <a:t>Express 5</a:t>
            </a:r>
          </a:p>
        </p:txBody>
      </p:sp>
      <p:sp>
        <p:nvSpPr>
          <p:cNvPr id="15" name="Rounded Rectangle 14"/>
          <p:cNvSpPr/>
          <p:nvPr/>
        </p:nvSpPr>
        <p:spPr>
          <a:xfrm>
            <a:off x="10378440" y="4151376"/>
            <a:ext cx="1170432" cy="384048"/>
          </a:xfrm>
          <a:prstGeom prst="roundRect">
            <a:avLst>
              <a:gd name="adj" fmla="val 22000"/>
            </a:avLst>
          </a:prstGeom>
          <a:solidFill>
            <a:srgbClr val="1D3327"/>
          </a:solidFill>
          <a:ln w="9525">
            <a:solidFill>
              <a:srgbClr val="2C46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050" b="1" i="0">
                <a:solidFill>
                  <a:srgbClr val="8CBB99"/>
                </a:solidFill>
                <a:latin typeface="Trebuchet MS"/>
              </a:rPr>
              <a:t>Prisma 7</a:t>
            </a:r>
          </a:p>
        </p:txBody>
      </p:sp>
      <p:sp>
        <p:nvSpPr>
          <p:cNvPr id="16" name="Rounded Rectangle 15"/>
          <p:cNvSpPr/>
          <p:nvPr/>
        </p:nvSpPr>
        <p:spPr>
          <a:xfrm>
            <a:off x="7818120" y="4626864"/>
            <a:ext cx="1170432" cy="384048"/>
          </a:xfrm>
          <a:prstGeom prst="roundRect">
            <a:avLst>
              <a:gd name="adj" fmla="val 22000"/>
            </a:avLst>
          </a:prstGeom>
          <a:solidFill>
            <a:srgbClr val="1D3327"/>
          </a:solidFill>
          <a:ln w="9525">
            <a:solidFill>
              <a:srgbClr val="2C46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050" b="1" i="0">
                <a:solidFill>
                  <a:srgbClr val="8CBB99"/>
                </a:solidFill>
                <a:latin typeface="Trebuchet MS"/>
              </a:rPr>
              <a:t>PostgreSQL</a:t>
            </a:r>
          </a:p>
        </p:txBody>
      </p:sp>
      <p:sp>
        <p:nvSpPr>
          <p:cNvPr id="17" name="Rounded Rectangle 16"/>
          <p:cNvSpPr/>
          <p:nvPr/>
        </p:nvSpPr>
        <p:spPr>
          <a:xfrm>
            <a:off x="9098280" y="4626864"/>
            <a:ext cx="1170432" cy="384048"/>
          </a:xfrm>
          <a:prstGeom prst="roundRect">
            <a:avLst>
              <a:gd name="adj" fmla="val 22000"/>
            </a:avLst>
          </a:prstGeom>
          <a:solidFill>
            <a:srgbClr val="1D3327"/>
          </a:solidFill>
          <a:ln w="9525">
            <a:solidFill>
              <a:srgbClr val="2C46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050" b="1" i="0">
                <a:solidFill>
                  <a:srgbClr val="8CBB99"/>
                </a:solidFill>
                <a:latin typeface="Trebuchet MS"/>
              </a:rPr>
              <a:t>Stripe</a:t>
            </a:r>
          </a:p>
        </p:txBody>
      </p:sp>
      <p:sp>
        <p:nvSpPr>
          <p:cNvPr id="18" name="Rounded Rectangle 17"/>
          <p:cNvSpPr/>
          <p:nvPr/>
        </p:nvSpPr>
        <p:spPr>
          <a:xfrm>
            <a:off x="10378440" y="4626864"/>
            <a:ext cx="1170432" cy="384048"/>
          </a:xfrm>
          <a:prstGeom prst="roundRect">
            <a:avLst>
              <a:gd name="adj" fmla="val 22000"/>
            </a:avLst>
          </a:prstGeom>
          <a:solidFill>
            <a:srgbClr val="1D3327"/>
          </a:solidFill>
          <a:ln w="9525">
            <a:solidFill>
              <a:srgbClr val="2C463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050" b="1" i="0">
                <a:solidFill>
                  <a:srgbClr val="8CBB99"/>
                </a:solidFill>
                <a:latin typeface="Trebuchet MS"/>
              </a:rPr>
              <a:t>Claude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8888" cy="237744"/>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4F8A63"/>
                </a:solidFill>
                <a:latin typeface="Trebuchet MS"/>
              </a:rPr>
              <a:t>MOTIVATION</a:t>
            </a:r>
          </a:p>
        </p:txBody>
      </p:sp>
      <p:sp>
        <p:nvSpPr>
          <p:cNvPr id="4" name="TextBox 3"/>
          <p:cNvSpPr txBox="1"/>
          <p:nvPr/>
        </p:nvSpPr>
        <p:spPr>
          <a:xfrm>
            <a:off x="713232" y="749808"/>
            <a:ext cx="10768888"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82A21"/>
                </a:solidFill>
                <a:latin typeface="Trebuchet MS"/>
              </a:rPr>
              <a:t>Two problems, one trip</a:t>
            </a:r>
          </a:p>
        </p:txBody>
      </p:sp>
      <p:sp>
        <p:nvSpPr>
          <p:cNvPr id="5" name="Rectangle 4"/>
          <p:cNvSpPr/>
          <p:nvPr/>
        </p:nvSpPr>
        <p:spPr>
          <a:xfrm>
            <a:off x="713232" y="1389888"/>
            <a:ext cx="566928"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572768"/>
            <a:ext cx="9509760" cy="36576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6E7A72"/>
                </a:solidFill>
                <a:latin typeface="Tahoma"/>
              </a:rPr>
              <a:t>Buying outdoor gear and planning where to use it happen in completely separate places, and neither side knows about the other.</a:t>
            </a:r>
          </a:p>
        </p:txBody>
      </p:sp>
      <p:sp>
        <p:nvSpPr>
          <p:cNvPr id="7" name="Rounded Rectangle 6"/>
          <p:cNvSpPr/>
          <p:nvPr/>
        </p:nvSpPr>
        <p:spPr>
          <a:xfrm>
            <a:off x="713232" y="2345435"/>
            <a:ext cx="3429000" cy="1938528"/>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13232" y="2345435"/>
            <a:ext cx="50292" cy="193852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9264" y="2546603"/>
            <a:ext cx="2990088" cy="1609344"/>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PROBLEM 1</a:t>
            </a:r>
          </a:p>
          <a:p>
            <a:pPr algn="l">
              <a:lnSpc>
                <a:spcPct val="110000"/>
              </a:lnSpc>
              <a:spcBef>
                <a:spcPts val="0"/>
              </a:spcBef>
              <a:spcAft>
                <a:spcPts val="500"/>
              </a:spcAft>
            </a:pPr>
            <a:r>
              <a:rPr sz="1500" b="1" i="0">
                <a:solidFill>
                  <a:srgbClr val="182A21"/>
                </a:solidFill>
                <a:latin typeface="Trebuchet MS"/>
              </a:rPr>
              <a:t>Gear without context</a:t>
            </a:r>
          </a:p>
          <a:p>
            <a:pPr algn="l">
              <a:lnSpc>
                <a:spcPct val="126000"/>
              </a:lnSpc>
              <a:spcBef>
                <a:spcPts val="0"/>
              </a:spcBef>
              <a:spcAft>
                <a:spcPts val="0"/>
              </a:spcAft>
            </a:pPr>
            <a:r>
              <a:rPr sz="1250" b="0" i="0">
                <a:solidFill>
                  <a:srgbClr val="6E7A72"/>
                </a:solidFill>
                <a:latin typeface="Tahoma"/>
              </a:rPr>
              <a:t>An online store shows a jacket rating and a size chart. It cannot tell you whether that jacket suits a specific trail on a specific day.</a:t>
            </a:r>
          </a:p>
        </p:txBody>
      </p:sp>
      <p:sp>
        <p:nvSpPr>
          <p:cNvPr id="10" name="Rounded Rectangle 9"/>
          <p:cNvSpPr/>
          <p:nvPr/>
        </p:nvSpPr>
        <p:spPr>
          <a:xfrm>
            <a:off x="4379976" y="2345435"/>
            <a:ext cx="3429000" cy="1938528"/>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379976" y="2345435"/>
            <a:ext cx="50292" cy="193852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636008" y="2546603"/>
            <a:ext cx="2990088" cy="1609344"/>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PROBLEM 2</a:t>
            </a:r>
          </a:p>
          <a:p>
            <a:pPr algn="l">
              <a:lnSpc>
                <a:spcPct val="110000"/>
              </a:lnSpc>
              <a:spcBef>
                <a:spcPts val="0"/>
              </a:spcBef>
              <a:spcAft>
                <a:spcPts val="500"/>
              </a:spcAft>
            </a:pPr>
            <a:r>
              <a:rPr sz="1500" b="1" i="0">
                <a:solidFill>
                  <a:srgbClr val="182A21"/>
                </a:solidFill>
                <a:latin typeface="Trebuchet MS"/>
              </a:rPr>
              <a:t>Planning without gear</a:t>
            </a:r>
          </a:p>
          <a:p>
            <a:pPr algn="l">
              <a:lnSpc>
                <a:spcPct val="126000"/>
              </a:lnSpc>
              <a:spcBef>
                <a:spcPts val="0"/>
              </a:spcBef>
              <a:spcAft>
                <a:spcPts val="0"/>
              </a:spcAft>
            </a:pPr>
            <a:r>
              <a:rPr sz="1250" b="0" i="0">
                <a:solidFill>
                  <a:srgbClr val="6E7A72"/>
                </a:solidFill>
                <a:latin typeface="Tahoma"/>
              </a:rPr>
              <a:t>Trail databases and weather services describe the route and the forecast, then leave the equipment decision entirely to the hiker.</a:t>
            </a:r>
          </a:p>
        </p:txBody>
      </p:sp>
      <p:sp>
        <p:nvSpPr>
          <p:cNvPr id="13" name="Rounded Rectangle 12"/>
          <p:cNvSpPr/>
          <p:nvPr/>
        </p:nvSpPr>
        <p:spPr>
          <a:xfrm>
            <a:off x="8046720" y="2345435"/>
            <a:ext cx="3429000" cy="1938528"/>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8046720" y="2345435"/>
            <a:ext cx="50292" cy="193852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302752" y="2546603"/>
            <a:ext cx="2990088" cy="1609344"/>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CONSEQUENCE</a:t>
            </a:r>
          </a:p>
          <a:p>
            <a:pPr algn="l">
              <a:lnSpc>
                <a:spcPct val="110000"/>
              </a:lnSpc>
              <a:spcBef>
                <a:spcPts val="0"/>
              </a:spcBef>
              <a:spcAft>
                <a:spcPts val="500"/>
              </a:spcAft>
            </a:pPr>
            <a:r>
              <a:rPr sz="1500" b="1" i="0">
                <a:solidFill>
                  <a:srgbClr val="182A21"/>
                </a:solidFill>
                <a:latin typeface="Trebuchet MS"/>
              </a:rPr>
              <a:t>Guesswork in the middle</a:t>
            </a:r>
          </a:p>
          <a:p>
            <a:pPr algn="l">
              <a:lnSpc>
                <a:spcPct val="126000"/>
              </a:lnSpc>
              <a:spcBef>
                <a:spcPts val="0"/>
              </a:spcBef>
              <a:spcAft>
                <a:spcPts val="0"/>
              </a:spcAft>
            </a:pPr>
            <a:r>
              <a:rPr sz="1250" b="0" i="0">
                <a:solidFill>
                  <a:srgbClr val="6E7A72"/>
                </a:solidFill>
                <a:latin typeface="Tahoma"/>
              </a:rPr>
              <a:t>The hiker manually reconciles difficulty, forecast and inventory. Beginners have the least information and the most to lose.</a:t>
            </a:r>
          </a:p>
        </p:txBody>
      </p:sp>
      <p:sp>
        <p:nvSpPr>
          <p:cNvPr id="16" name="TextBox 15"/>
          <p:cNvSpPr txBox="1"/>
          <p:nvPr/>
        </p:nvSpPr>
        <p:spPr>
          <a:xfrm>
            <a:off x="713232" y="4480560"/>
            <a:ext cx="10768888" cy="1280160"/>
          </a:xfrm>
          <a:prstGeom prst="rect">
            <a:avLst/>
          </a:prstGeom>
          <a:noFill/>
        </p:spPr>
        <p:txBody>
          <a:bodyPr wrap="square" lIns="0" rIns="0" tIns="0" bIns="0" anchor="t">
            <a:spAutoFit/>
          </a:bodyPr>
          <a:lstStyle/>
          <a:p>
            <a:pPr algn="l">
              <a:lnSpc>
                <a:spcPct val="135000"/>
              </a:lnSpc>
              <a:spcBef>
                <a:spcPts val="0"/>
              </a:spcBef>
              <a:spcAft>
                <a:spcPts val="0"/>
              </a:spcAft>
            </a:pPr>
            <a:r>
              <a:rPr sz="1500" b="1" i="0">
                <a:solidFill>
                  <a:srgbClr val="182A21"/>
                </a:solidFill>
                <a:latin typeface="Trebuchet MS"/>
              </a:rPr>
              <a:t>Thesis premise.  </a:t>
            </a:r>
            <a:r>
              <a:rPr sz="1500" b="0" i="0">
                <a:solidFill>
                  <a:srgbClr val="232E27"/>
                </a:solidFill>
                <a:latin typeface="Tahoma"/>
              </a:rPr>
              <a:t>If the catalogue, the trail data and the weather forecast live in one system, the gear recommendation stops being guesswork and becomes a query over data the platform already holds.</a:t>
            </a:r>
          </a:p>
        </p:txBody>
      </p:sp>
      <p:sp>
        <p:nvSpPr>
          <p:cNvPr id="17" name="Rectangle 16"/>
          <p:cNvSpPr/>
          <p:nvPr/>
        </p:nvSpPr>
        <p:spPr>
          <a:xfrm>
            <a:off x="713232" y="6272784"/>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13232" y="6382512"/>
            <a:ext cx="54864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6E7A72"/>
                </a:solidFill>
                <a:latin typeface="Trebuchet MS"/>
              </a:rPr>
              <a:t>TrailBlaze</a:t>
            </a:r>
            <a:r>
              <a:rPr sz="950" b="0" i="0">
                <a:solidFill>
                  <a:srgbClr val="6E7A72"/>
                </a:solidFill>
                <a:latin typeface="Trebuchet MS"/>
              </a:rPr>
              <a:t>   |   Hiking E-Commerce and Trail Discovery</a:t>
            </a:r>
          </a:p>
        </p:txBody>
      </p:sp>
      <p:sp>
        <p:nvSpPr>
          <p:cNvPr id="19" name="TextBox 18"/>
          <p:cNvSpPr txBox="1"/>
          <p:nvPr/>
        </p:nvSpPr>
        <p:spPr>
          <a:xfrm>
            <a:off x="10515600" y="6382512"/>
            <a:ext cx="964692" cy="274320"/>
          </a:xfrm>
          <a:prstGeom prst="rect">
            <a:avLst/>
          </a:prstGeom>
          <a:noFill/>
        </p:spPr>
        <p:txBody>
          <a:bodyPr wrap="square" lIns="0" rIns="0" tIns="0" bIns="0" anchor="t">
            <a:spAutoFit/>
          </a:bodyPr>
          <a:lstStyle/>
          <a:p>
            <a:pPr algn="r">
              <a:lnSpc>
                <a:spcPct val="122000"/>
              </a:lnSpc>
              <a:spcBef>
                <a:spcPts val="0"/>
              </a:spcBef>
              <a:spcAft>
                <a:spcPts val="0"/>
              </a:spcAft>
            </a:pPr>
            <a:r>
              <a:rPr sz="950" b="1" i="0">
                <a:solidFill>
                  <a:srgbClr val="6E7A72"/>
                </a:solidFill>
                <a:latin typeface="Trebuchet M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8888" cy="237744"/>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4F8A63"/>
                </a:solidFill>
                <a:latin typeface="Trebuchet MS"/>
              </a:rPr>
              <a:t>SCOPE</a:t>
            </a:r>
          </a:p>
        </p:txBody>
      </p:sp>
      <p:sp>
        <p:nvSpPr>
          <p:cNvPr id="4" name="TextBox 3"/>
          <p:cNvSpPr txBox="1"/>
          <p:nvPr/>
        </p:nvSpPr>
        <p:spPr>
          <a:xfrm>
            <a:off x="713232" y="749808"/>
            <a:ext cx="10768888"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82A21"/>
                </a:solidFill>
                <a:latin typeface="Trebuchet MS"/>
              </a:rPr>
              <a:t>Objectives</a:t>
            </a:r>
          </a:p>
        </p:txBody>
      </p:sp>
      <p:sp>
        <p:nvSpPr>
          <p:cNvPr id="5" name="Rectangle 4"/>
          <p:cNvSpPr/>
          <p:nvPr/>
        </p:nvSpPr>
        <p:spPr>
          <a:xfrm>
            <a:off x="713232" y="1389888"/>
            <a:ext cx="566928"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572768"/>
            <a:ext cx="9509760" cy="36576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6E7A72"/>
                </a:solidFill>
                <a:latin typeface="Tahoma"/>
              </a:rPr>
              <a:t>Six goals defined at the start of the project, each mapped to a deliverable in the final system.</a:t>
            </a:r>
          </a:p>
        </p:txBody>
      </p:sp>
      <p:sp>
        <p:nvSpPr>
          <p:cNvPr id="7" name="TextBox 6"/>
          <p:cNvSpPr txBox="1"/>
          <p:nvPr/>
        </p:nvSpPr>
        <p:spPr>
          <a:xfrm>
            <a:off x="713232" y="2077973"/>
            <a:ext cx="502920" cy="457200"/>
          </a:xfrm>
          <a:prstGeom prst="rect">
            <a:avLst/>
          </a:prstGeom>
          <a:noFill/>
        </p:spPr>
        <p:txBody>
          <a:bodyPr wrap="square" lIns="0" rIns="0" tIns="0" bIns="0" anchor="t">
            <a:spAutoFit/>
          </a:bodyPr>
          <a:lstStyle/>
          <a:p>
            <a:pPr algn="l">
              <a:lnSpc>
                <a:spcPct val="122000"/>
              </a:lnSpc>
              <a:spcBef>
                <a:spcPts val="0"/>
              </a:spcBef>
              <a:spcAft>
                <a:spcPts val="0"/>
              </a:spcAft>
            </a:pPr>
            <a:r>
              <a:rPr sz="2200" b="1" i="0">
                <a:solidFill>
                  <a:srgbClr val="8CBB99"/>
                </a:solidFill>
                <a:latin typeface="Trebuchet MS"/>
              </a:rPr>
              <a:t>01</a:t>
            </a:r>
          </a:p>
        </p:txBody>
      </p:sp>
      <p:sp>
        <p:nvSpPr>
          <p:cNvPr id="8" name="TextBox 7"/>
          <p:cNvSpPr txBox="1"/>
          <p:nvPr/>
        </p:nvSpPr>
        <p:spPr>
          <a:xfrm>
            <a:off x="1280160" y="2077973"/>
            <a:ext cx="4663440" cy="914400"/>
          </a:xfrm>
          <a:prstGeom prst="rect">
            <a:avLst/>
          </a:prstGeom>
          <a:noFill/>
        </p:spPr>
        <p:txBody>
          <a:bodyPr wrap="square" lIns="0" rIns="0" tIns="0" bIns="0" anchor="t">
            <a:spAutoFit/>
          </a:bodyPr>
          <a:lstStyle/>
          <a:p>
            <a:pPr algn="l">
              <a:lnSpc>
                <a:spcPct val="115000"/>
              </a:lnSpc>
              <a:spcBef>
                <a:spcPts val="0"/>
              </a:spcBef>
              <a:spcAft>
                <a:spcPts val="0"/>
              </a:spcAft>
            </a:pPr>
            <a:r>
              <a:rPr sz="1450" b="1" i="0">
                <a:solidFill>
                  <a:srgbClr val="182A21"/>
                </a:solidFill>
                <a:latin typeface="Trebuchet MS"/>
              </a:rPr>
              <a:t>Build a complete e-commerce flow</a:t>
            </a:r>
          </a:p>
          <a:p>
            <a:pPr algn="l">
              <a:lnSpc>
                <a:spcPct val="124000"/>
              </a:lnSpc>
              <a:spcBef>
                <a:spcPts val="400"/>
              </a:spcBef>
              <a:spcAft>
                <a:spcPts val="0"/>
              </a:spcAft>
            </a:pPr>
            <a:r>
              <a:rPr sz="1150" b="0" i="0">
                <a:solidFill>
                  <a:srgbClr val="6E7A72"/>
                </a:solidFill>
                <a:latin typeface="Tahoma"/>
              </a:rPr>
              <a:t>Catalogue, filtering, product detail, cart, wishlist, real payment, order history.</a:t>
            </a:r>
          </a:p>
        </p:txBody>
      </p:sp>
      <p:sp>
        <p:nvSpPr>
          <p:cNvPr id="9" name="TextBox 8"/>
          <p:cNvSpPr txBox="1"/>
          <p:nvPr/>
        </p:nvSpPr>
        <p:spPr>
          <a:xfrm>
            <a:off x="6217920" y="2077973"/>
            <a:ext cx="502920" cy="457200"/>
          </a:xfrm>
          <a:prstGeom prst="rect">
            <a:avLst/>
          </a:prstGeom>
          <a:noFill/>
        </p:spPr>
        <p:txBody>
          <a:bodyPr wrap="square" lIns="0" rIns="0" tIns="0" bIns="0" anchor="t">
            <a:spAutoFit/>
          </a:bodyPr>
          <a:lstStyle/>
          <a:p>
            <a:pPr algn="l">
              <a:lnSpc>
                <a:spcPct val="122000"/>
              </a:lnSpc>
              <a:spcBef>
                <a:spcPts val="0"/>
              </a:spcBef>
              <a:spcAft>
                <a:spcPts val="0"/>
              </a:spcAft>
            </a:pPr>
            <a:r>
              <a:rPr sz="2200" b="1" i="0">
                <a:solidFill>
                  <a:srgbClr val="8CBB99"/>
                </a:solidFill>
                <a:latin typeface="Trebuchet MS"/>
              </a:rPr>
              <a:t>02</a:t>
            </a:r>
          </a:p>
        </p:txBody>
      </p:sp>
      <p:sp>
        <p:nvSpPr>
          <p:cNvPr id="10" name="TextBox 9"/>
          <p:cNvSpPr txBox="1"/>
          <p:nvPr/>
        </p:nvSpPr>
        <p:spPr>
          <a:xfrm>
            <a:off x="6784848" y="2077973"/>
            <a:ext cx="4663440" cy="914400"/>
          </a:xfrm>
          <a:prstGeom prst="rect">
            <a:avLst/>
          </a:prstGeom>
          <a:noFill/>
        </p:spPr>
        <p:txBody>
          <a:bodyPr wrap="square" lIns="0" rIns="0" tIns="0" bIns="0" anchor="t">
            <a:spAutoFit/>
          </a:bodyPr>
          <a:lstStyle/>
          <a:p>
            <a:pPr algn="l">
              <a:lnSpc>
                <a:spcPct val="115000"/>
              </a:lnSpc>
              <a:spcBef>
                <a:spcPts val="0"/>
              </a:spcBef>
              <a:spcAft>
                <a:spcPts val="0"/>
              </a:spcAft>
            </a:pPr>
            <a:r>
              <a:rPr sz="1450" b="1" i="0">
                <a:solidFill>
                  <a:srgbClr val="182A21"/>
                </a:solidFill>
                <a:latin typeface="Trebuchet MS"/>
              </a:rPr>
              <a:t>Integrate live geospatial trail data</a:t>
            </a:r>
          </a:p>
          <a:p>
            <a:pPr algn="l">
              <a:lnSpc>
                <a:spcPct val="124000"/>
              </a:lnSpc>
              <a:spcBef>
                <a:spcPts val="400"/>
              </a:spcBef>
              <a:spcAft>
                <a:spcPts val="0"/>
              </a:spcAft>
            </a:pPr>
            <a:r>
              <a:rPr sz="1150" b="0" i="0">
                <a:solidFill>
                  <a:srgbClr val="6E7A72"/>
                </a:solidFill>
                <a:latin typeface="Tahoma"/>
              </a:rPr>
              <a:t>Search real hiking routes from OpenStreetMap and render them on an interactive map.</a:t>
            </a:r>
          </a:p>
        </p:txBody>
      </p:sp>
      <p:sp>
        <p:nvSpPr>
          <p:cNvPr id="11" name="TextBox 10"/>
          <p:cNvSpPr txBox="1"/>
          <p:nvPr/>
        </p:nvSpPr>
        <p:spPr>
          <a:xfrm>
            <a:off x="713232" y="3248405"/>
            <a:ext cx="502920" cy="457200"/>
          </a:xfrm>
          <a:prstGeom prst="rect">
            <a:avLst/>
          </a:prstGeom>
          <a:noFill/>
        </p:spPr>
        <p:txBody>
          <a:bodyPr wrap="square" lIns="0" rIns="0" tIns="0" bIns="0" anchor="t">
            <a:spAutoFit/>
          </a:bodyPr>
          <a:lstStyle/>
          <a:p>
            <a:pPr algn="l">
              <a:lnSpc>
                <a:spcPct val="122000"/>
              </a:lnSpc>
              <a:spcBef>
                <a:spcPts val="0"/>
              </a:spcBef>
              <a:spcAft>
                <a:spcPts val="0"/>
              </a:spcAft>
            </a:pPr>
            <a:r>
              <a:rPr sz="2200" b="1" i="0">
                <a:solidFill>
                  <a:srgbClr val="8CBB99"/>
                </a:solidFill>
                <a:latin typeface="Trebuchet MS"/>
              </a:rPr>
              <a:t>03</a:t>
            </a:r>
          </a:p>
        </p:txBody>
      </p:sp>
      <p:sp>
        <p:nvSpPr>
          <p:cNvPr id="12" name="TextBox 11"/>
          <p:cNvSpPr txBox="1"/>
          <p:nvPr/>
        </p:nvSpPr>
        <p:spPr>
          <a:xfrm>
            <a:off x="1280160" y="3248405"/>
            <a:ext cx="4663440" cy="914400"/>
          </a:xfrm>
          <a:prstGeom prst="rect">
            <a:avLst/>
          </a:prstGeom>
          <a:noFill/>
        </p:spPr>
        <p:txBody>
          <a:bodyPr wrap="square" lIns="0" rIns="0" tIns="0" bIns="0" anchor="t">
            <a:spAutoFit/>
          </a:bodyPr>
          <a:lstStyle/>
          <a:p>
            <a:pPr algn="l">
              <a:lnSpc>
                <a:spcPct val="115000"/>
              </a:lnSpc>
              <a:spcBef>
                <a:spcPts val="0"/>
              </a:spcBef>
              <a:spcAft>
                <a:spcPts val="0"/>
              </a:spcAft>
            </a:pPr>
            <a:r>
              <a:rPr sz="1450" b="1" i="0">
                <a:solidFill>
                  <a:srgbClr val="182A21"/>
                </a:solidFill>
                <a:latin typeface="Trebuchet MS"/>
              </a:rPr>
              <a:t>Combine trail and weather context</a:t>
            </a:r>
          </a:p>
          <a:p>
            <a:pPr algn="l">
              <a:lnSpc>
                <a:spcPct val="124000"/>
              </a:lnSpc>
              <a:spcBef>
                <a:spcPts val="400"/>
              </a:spcBef>
              <a:spcAft>
                <a:spcPts val="0"/>
              </a:spcAft>
            </a:pPr>
            <a:r>
              <a:rPr sz="1150" b="0" i="0">
                <a:solidFill>
                  <a:srgbClr val="6E7A72"/>
                </a:solidFill>
                <a:latin typeface="Tahoma"/>
              </a:rPr>
              <a:t>Pull a per-date forecast for the resolved trail location and surface it in the UI.</a:t>
            </a:r>
          </a:p>
        </p:txBody>
      </p:sp>
      <p:sp>
        <p:nvSpPr>
          <p:cNvPr id="13" name="TextBox 12"/>
          <p:cNvSpPr txBox="1"/>
          <p:nvPr/>
        </p:nvSpPr>
        <p:spPr>
          <a:xfrm>
            <a:off x="6217920" y="3248405"/>
            <a:ext cx="502920" cy="457200"/>
          </a:xfrm>
          <a:prstGeom prst="rect">
            <a:avLst/>
          </a:prstGeom>
          <a:noFill/>
        </p:spPr>
        <p:txBody>
          <a:bodyPr wrap="square" lIns="0" rIns="0" tIns="0" bIns="0" anchor="t">
            <a:spAutoFit/>
          </a:bodyPr>
          <a:lstStyle/>
          <a:p>
            <a:pPr algn="l">
              <a:lnSpc>
                <a:spcPct val="122000"/>
              </a:lnSpc>
              <a:spcBef>
                <a:spcPts val="0"/>
              </a:spcBef>
              <a:spcAft>
                <a:spcPts val="0"/>
              </a:spcAft>
            </a:pPr>
            <a:r>
              <a:rPr sz="2200" b="1" i="0">
                <a:solidFill>
                  <a:srgbClr val="8CBB99"/>
                </a:solidFill>
                <a:latin typeface="Trebuchet MS"/>
              </a:rPr>
              <a:t>04</a:t>
            </a:r>
          </a:p>
        </p:txBody>
      </p:sp>
      <p:sp>
        <p:nvSpPr>
          <p:cNvPr id="14" name="TextBox 13"/>
          <p:cNvSpPr txBox="1"/>
          <p:nvPr/>
        </p:nvSpPr>
        <p:spPr>
          <a:xfrm>
            <a:off x="6784848" y="3248405"/>
            <a:ext cx="4663440" cy="914400"/>
          </a:xfrm>
          <a:prstGeom prst="rect">
            <a:avLst/>
          </a:prstGeom>
          <a:noFill/>
        </p:spPr>
        <p:txBody>
          <a:bodyPr wrap="square" lIns="0" rIns="0" tIns="0" bIns="0" anchor="t">
            <a:spAutoFit/>
          </a:bodyPr>
          <a:lstStyle/>
          <a:p>
            <a:pPr algn="l">
              <a:lnSpc>
                <a:spcPct val="115000"/>
              </a:lnSpc>
              <a:spcBef>
                <a:spcPts val="0"/>
              </a:spcBef>
              <a:spcAft>
                <a:spcPts val="0"/>
              </a:spcAft>
            </a:pPr>
            <a:r>
              <a:rPr sz="1450" b="1" i="0">
                <a:solidFill>
                  <a:srgbClr val="182A21"/>
                </a:solidFill>
                <a:latin typeface="Trebuchet MS"/>
              </a:rPr>
              <a:t>Recommend gear from real inventory</a:t>
            </a:r>
          </a:p>
          <a:p>
            <a:pPr algn="l">
              <a:lnSpc>
                <a:spcPct val="124000"/>
              </a:lnSpc>
              <a:spcBef>
                <a:spcPts val="400"/>
              </a:spcBef>
              <a:spcAft>
                <a:spcPts val="0"/>
              </a:spcAft>
            </a:pPr>
            <a:r>
              <a:rPr sz="1150" b="0" i="0">
                <a:solidFill>
                  <a:srgbClr val="6E7A72"/>
                </a:solidFill>
                <a:latin typeface="Tahoma"/>
              </a:rPr>
              <a:t>Constrain a language model to the store catalogue so every suggestion is purchasable.</a:t>
            </a:r>
          </a:p>
        </p:txBody>
      </p:sp>
      <p:sp>
        <p:nvSpPr>
          <p:cNvPr id="15" name="TextBox 14"/>
          <p:cNvSpPr txBox="1"/>
          <p:nvPr/>
        </p:nvSpPr>
        <p:spPr>
          <a:xfrm>
            <a:off x="713232" y="4418837"/>
            <a:ext cx="502920" cy="457200"/>
          </a:xfrm>
          <a:prstGeom prst="rect">
            <a:avLst/>
          </a:prstGeom>
          <a:noFill/>
        </p:spPr>
        <p:txBody>
          <a:bodyPr wrap="square" lIns="0" rIns="0" tIns="0" bIns="0" anchor="t">
            <a:spAutoFit/>
          </a:bodyPr>
          <a:lstStyle/>
          <a:p>
            <a:pPr algn="l">
              <a:lnSpc>
                <a:spcPct val="122000"/>
              </a:lnSpc>
              <a:spcBef>
                <a:spcPts val="0"/>
              </a:spcBef>
              <a:spcAft>
                <a:spcPts val="0"/>
              </a:spcAft>
            </a:pPr>
            <a:r>
              <a:rPr sz="2200" b="1" i="0">
                <a:solidFill>
                  <a:srgbClr val="8CBB99"/>
                </a:solidFill>
                <a:latin typeface="Trebuchet MS"/>
              </a:rPr>
              <a:t>05</a:t>
            </a:r>
          </a:p>
        </p:txBody>
      </p:sp>
      <p:sp>
        <p:nvSpPr>
          <p:cNvPr id="16" name="TextBox 15"/>
          <p:cNvSpPr txBox="1"/>
          <p:nvPr/>
        </p:nvSpPr>
        <p:spPr>
          <a:xfrm>
            <a:off x="1280160" y="4418837"/>
            <a:ext cx="4663440" cy="914400"/>
          </a:xfrm>
          <a:prstGeom prst="rect">
            <a:avLst/>
          </a:prstGeom>
          <a:noFill/>
        </p:spPr>
        <p:txBody>
          <a:bodyPr wrap="square" lIns="0" rIns="0" tIns="0" bIns="0" anchor="t">
            <a:spAutoFit/>
          </a:bodyPr>
          <a:lstStyle/>
          <a:p>
            <a:pPr algn="l">
              <a:lnSpc>
                <a:spcPct val="115000"/>
              </a:lnSpc>
              <a:spcBef>
                <a:spcPts val="0"/>
              </a:spcBef>
              <a:spcAft>
                <a:spcPts val="0"/>
              </a:spcAft>
            </a:pPr>
            <a:r>
              <a:rPr sz="1450" b="1" i="0">
                <a:solidFill>
                  <a:srgbClr val="182A21"/>
                </a:solidFill>
                <a:latin typeface="Trebuchet MS"/>
              </a:rPr>
              <a:t>Secure the application properly</a:t>
            </a:r>
          </a:p>
          <a:p>
            <a:pPr algn="l">
              <a:lnSpc>
                <a:spcPct val="124000"/>
              </a:lnSpc>
              <a:spcBef>
                <a:spcPts val="400"/>
              </a:spcBef>
              <a:spcAft>
                <a:spcPts val="0"/>
              </a:spcAft>
            </a:pPr>
            <a:r>
              <a:rPr sz="1150" b="0" i="0">
                <a:solidFill>
                  <a:srgbClr val="6E7A72"/>
                </a:solidFill>
                <a:latin typeface="Tahoma"/>
              </a:rPr>
              <a:t>Session handling, email verification, role-based access control, server-side validation.</a:t>
            </a:r>
          </a:p>
        </p:txBody>
      </p:sp>
      <p:sp>
        <p:nvSpPr>
          <p:cNvPr id="17" name="TextBox 16"/>
          <p:cNvSpPr txBox="1"/>
          <p:nvPr/>
        </p:nvSpPr>
        <p:spPr>
          <a:xfrm>
            <a:off x="6217920" y="4418837"/>
            <a:ext cx="502920" cy="457200"/>
          </a:xfrm>
          <a:prstGeom prst="rect">
            <a:avLst/>
          </a:prstGeom>
          <a:noFill/>
        </p:spPr>
        <p:txBody>
          <a:bodyPr wrap="square" lIns="0" rIns="0" tIns="0" bIns="0" anchor="t">
            <a:spAutoFit/>
          </a:bodyPr>
          <a:lstStyle/>
          <a:p>
            <a:pPr algn="l">
              <a:lnSpc>
                <a:spcPct val="122000"/>
              </a:lnSpc>
              <a:spcBef>
                <a:spcPts val="0"/>
              </a:spcBef>
              <a:spcAft>
                <a:spcPts val="0"/>
              </a:spcAft>
            </a:pPr>
            <a:r>
              <a:rPr sz="2200" b="1" i="0">
                <a:solidFill>
                  <a:srgbClr val="8CBB99"/>
                </a:solidFill>
                <a:latin typeface="Trebuchet MS"/>
              </a:rPr>
              <a:t>06</a:t>
            </a:r>
          </a:p>
        </p:txBody>
      </p:sp>
      <p:sp>
        <p:nvSpPr>
          <p:cNvPr id="18" name="TextBox 17"/>
          <p:cNvSpPr txBox="1"/>
          <p:nvPr/>
        </p:nvSpPr>
        <p:spPr>
          <a:xfrm>
            <a:off x="6784848" y="4418837"/>
            <a:ext cx="4663440" cy="914400"/>
          </a:xfrm>
          <a:prstGeom prst="rect">
            <a:avLst/>
          </a:prstGeom>
          <a:noFill/>
        </p:spPr>
        <p:txBody>
          <a:bodyPr wrap="square" lIns="0" rIns="0" tIns="0" bIns="0" anchor="t">
            <a:spAutoFit/>
          </a:bodyPr>
          <a:lstStyle/>
          <a:p>
            <a:pPr algn="l">
              <a:lnSpc>
                <a:spcPct val="115000"/>
              </a:lnSpc>
              <a:spcBef>
                <a:spcPts val="0"/>
              </a:spcBef>
              <a:spcAft>
                <a:spcPts val="0"/>
              </a:spcAft>
            </a:pPr>
            <a:r>
              <a:rPr sz="1450" b="1" i="0">
                <a:solidFill>
                  <a:srgbClr val="182A21"/>
                </a:solidFill>
                <a:latin typeface="Trebuchet MS"/>
              </a:rPr>
              <a:t>Deploy the system publicly</a:t>
            </a:r>
          </a:p>
          <a:p>
            <a:pPr algn="l">
              <a:lnSpc>
                <a:spcPct val="124000"/>
              </a:lnSpc>
              <a:spcBef>
                <a:spcPts val="400"/>
              </a:spcBef>
              <a:spcAft>
                <a:spcPts val="0"/>
              </a:spcAft>
            </a:pPr>
            <a:r>
              <a:rPr sz="1150" b="0" i="0">
                <a:solidFill>
                  <a:srgbClr val="6E7A72"/>
                </a:solidFill>
                <a:latin typeface="Tahoma"/>
              </a:rPr>
              <a:t>A running frontend, API and managed database, not a localhost demo.</a:t>
            </a:r>
          </a:p>
        </p:txBody>
      </p:sp>
      <p:sp>
        <p:nvSpPr>
          <p:cNvPr id="19" name="Rectangle 18"/>
          <p:cNvSpPr/>
          <p:nvPr/>
        </p:nvSpPr>
        <p:spPr>
          <a:xfrm>
            <a:off x="713232" y="6272784"/>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13232" y="6382512"/>
            <a:ext cx="54864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6E7A72"/>
                </a:solidFill>
                <a:latin typeface="Trebuchet MS"/>
              </a:rPr>
              <a:t>TrailBlaze</a:t>
            </a:r>
            <a:r>
              <a:rPr sz="950" b="0" i="0">
                <a:solidFill>
                  <a:srgbClr val="6E7A72"/>
                </a:solidFill>
                <a:latin typeface="Trebuchet MS"/>
              </a:rPr>
              <a:t>   |   Hiking E-Commerce and Trail Discovery</a:t>
            </a:r>
          </a:p>
        </p:txBody>
      </p:sp>
      <p:sp>
        <p:nvSpPr>
          <p:cNvPr id="21" name="TextBox 20"/>
          <p:cNvSpPr txBox="1"/>
          <p:nvPr/>
        </p:nvSpPr>
        <p:spPr>
          <a:xfrm>
            <a:off x="10515600" y="6382512"/>
            <a:ext cx="964692" cy="274320"/>
          </a:xfrm>
          <a:prstGeom prst="rect">
            <a:avLst/>
          </a:prstGeom>
          <a:noFill/>
        </p:spPr>
        <p:txBody>
          <a:bodyPr wrap="square" lIns="0" rIns="0" tIns="0" bIns="0" anchor="t">
            <a:spAutoFit/>
          </a:bodyPr>
          <a:lstStyle/>
          <a:p>
            <a:pPr algn="r">
              <a:lnSpc>
                <a:spcPct val="122000"/>
              </a:lnSpc>
              <a:spcBef>
                <a:spcPts val="0"/>
              </a:spcBef>
              <a:spcAft>
                <a:spcPts val="0"/>
              </a:spcAft>
            </a:pPr>
            <a:r>
              <a:rPr sz="950" b="1" i="0">
                <a:solidFill>
                  <a:srgbClr val="6E7A72"/>
                </a:solidFill>
                <a:latin typeface="Trebuchet M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8888" cy="237744"/>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4F8A63"/>
                </a:solidFill>
                <a:latin typeface="Trebuchet MS"/>
              </a:rPr>
              <a:t>OVERVIEW</a:t>
            </a:r>
          </a:p>
        </p:txBody>
      </p:sp>
      <p:sp>
        <p:nvSpPr>
          <p:cNvPr id="4" name="TextBox 3"/>
          <p:cNvSpPr txBox="1"/>
          <p:nvPr/>
        </p:nvSpPr>
        <p:spPr>
          <a:xfrm>
            <a:off x="713232" y="749808"/>
            <a:ext cx="10768888"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82A21"/>
                </a:solidFill>
                <a:latin typeface="Trebuchet MS"/>
              </a:rPr>
              <a:t>What was built</a:t>
            </a:r>
          </a:p>
        </p:txBody>
      </p:sp>
      <p:sp>
        <p:nvSpPr>
          <p:cNvPr id="5" name="Rectangle 4"/>
          <p:cNvSpPr/>
          <p:nvPr/>
        </p:nvSpPr>
        <p:spPr>
          <a:xfrm>
            <a:off x="713232" y="1389888"/>
            <a:ext cx="566928"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572768"/>
            <a:ext cx="9509760" cy="36576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6E7A72"/>
                </a:solidFill>
                <a:latin typeface="Tahoma"/>
              </a:rPr>
              <a:t>Four functional areas share one React application, one Express API and one PostgreSQL database.</a:t>
            </a:r>
          </a:p>
        </p:txBody>
      </p:sp>
      <p:sp>
        <p:nvSpPr>
          <p:cNvPr id="7" name="Rounded Rectangle 6"/>
          <p:cNvSpPr/>
          <p:nvPr/>
        </p:nvSpPr>
        <p:spPr>
          <a:xfrm>
            <a:off x="713232" y="2077973"/>
            <a:ext cx="2587752" cy="3177489"/>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13232" y="2077973"/>
            <a:ext cx="50292" cy="3177489"/>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9264" y="2279141"/>
            <a:ext cx="2148840" cy="2798064"/>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STOREFRONT</a:t>
            </a:r>
          </a:p>
          <a:p>
            <a:pPr algn="l">
              <a:lnSpc>
                <a:spcPct val="110000"/>
              </a:lnSpc>
              <a:spcBef>
                <a:spcPts val="0"/>
              </a:spcBef>
              <a:spcAft>
                <a:spcPts val="0"/>
              </a:spcAft>
            </a:pPr>
            <a:r>
              <a:rPr sz="1600" b="1" i="0">
                <a:solidFill>
                  <a:srgbClr val="182A21"/>
                </a:solidFill>
                <a:latin typeface="Trebuchet MS"/>
              </a:rPr>
              <a:t>E-Commerce</a:t>
            </a:r>
          </a:p>
        </p:txBody>
      </p:sp>
      <p:sp>
        <p:nvSpPr>
          <p:cNvPr id="10" name="TextBox 9"/>
          <p:cNvSpPr txBox="1"/>
          <p:nvPr/>
        </p:nvSpPr>
        <p:spPr>
          <a:xfrm>
            <a:off x="969264" y="3102101"/>
            <a:ext cx="2130552" cy="365760"/>
          </a:xfrm>
          <a:prstGeom prst="rect">
            <a:avLst/>
          </a:prstGeom>
          <a:noFill/>
        </p:spPr>
        <p:txBody>
          <a:bodyPr wrap="square" lIns="0" rIns="0" tIns="0" bIns="0" anchor="t">
            <a:spAutoFit/>
          </a:bodyPr>
          <a:lstStyle/>
          <a:p>
            <a:pPr algn="l" marL="187452" indent="-187452">
              <a:lnSpc>
                <a:spcPct val="126000"/>
              </a:lnSpc>
              <a:spcBef>
                <a:spcPts val="0"/>
              </a:spcBef>
              <a:spcAft>
                <a:spcPts val="0"/>
              </a:spcAft>
            </a:pPr>
            <a:r>
              <a:rPr sz="1150" b="1" i="0">
                <a:solidFill>
                  <a:srgbClr val="4F8A63"/>
                </a:solidFill>
                <a:latin typeface="Tahoma"/>
              </a:rPr>
              <a:t>•   </a:t>
            </a:r>
            <a:r>
              <a:rPr sz="1150" b="0" i="0">
                <a:solidFill>
                  <a:srgbClr val="232E27"/>
                </a:solidFill>
                <a:latin typeface="Tahoma"/>
              </a:rPr>
              <a:t>60 products, 5 categories</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Size, price, gender filters</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Cart and wishlist</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Stripe checkout</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Live order tracking</a:t>
            </a:r>
          </a:p>
        </p:txBody>
      </p:sp>
      <p:sp>
        <p:nvSpPr>
          <p:cNvPr id="11" name="Rounded Rectangle 10"/>
          <p:cNvSpPr/>
          <p:nvPr/>
        </p:nvSpPr>
        <p:spPr>
          <a:xfrm>
            <a:off x="3447288" y="2077973"/>
            <a:ext cx="2587752" cy="3177489"/>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447288" y="2077973"/>
            <a:ext cx="50292" cy="3177489"/>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703320" y="2279141"/>
            <a:ext cx="2148840" cy="2798064"/>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GEOSPATIAL</a:t>
            </a:r>
          </a:p>
          <a:p>
            <a:pPr algn="l">
              <a:lnSpc>
                <a:spcPct val="110000"/>
              </a:lnSpc>
              <a:spcBef>
                <a:spcPts val="0"/>
              </a:spcBef>
              <a:spcAft>
                <a:spcPts val="0"/>
              </a:spcAft>
            </a:pPr>
            <a:r>
              <a:rPr sz="1600" b="1" i="0">
                <a:solidFill>
                  <a:srgbClr val="182A21"/>
                </a:solidFill>
                <a:latin typeface="Trebuchet MS"/>
              </a:rPr>
              <a:t>Trail Discovery</a:t>
            </a:r>
          </a:p>
        </p:txBody>
      </p:sp>
      <p:sp>
        <p:nvSpPr>
          <p:cNvPr id="14" name="TextBox 13"/>
          <p:cNvSpPr txBox="1"/>
          <p:nvPr/>
        </p:nvSpPr>
        <p:spPr>
          <a:xfrm>
            <a:off x="3703320" y="3102101"/>
            <a:ext cx="2130552" cy="365760"/>
          </a:xfrm>
          <a:prstGeom prst="rect">
            <a:avLst/>
          </a:prstGeom>
          <a:noFill/>
        </p:spPr>
        <p:txBody>
          <a:bodyPr wrap="square" lIns="0" rIns="0" tIns="0" bIns="0" anchor="t">
            <a:spAutoFit/>
          </a:bodyPr>
          <a:lstStyle/>
          <a:p>
            <a:pPr algn="l" marL="187452" indent="-187452">
              <a:lnSpc>
                <a:spcPct val="126000"/>
              </a:lnSpc>
              <a:spcBef>
                <a:spcPts val="0"/>
              </a:spcBef>
              <a:spcAft>
                <a:spcPts val="0"/>
              </a:spcAft>
            </a:pPr>
            <a:r>
              <a:rPr sz="1150" b="1" i="0">
                <a:solidFill>
                  <a:srgbClr val="C1943C"/>
                </a:solidFill>
                <a:latin typeface="Tahoma"/>
              </a:rPr>
              <a:t>•   </a:t>
            </a:r>
            <a:r>
              <a:rPr sz="1150" b="0" i="0">
                <a:solidFill>
                  <a:srgbClr val="232E27"/>
                </a:solidFill>
                <a:latin typeface="Tahoma"/>
              </a:rPr>
              <a:t>Search by city, park or region</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OpenStreetMap route relations</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Leaflet map with route line</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Distance, ascent, difficulty</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Four quick-search presets</a:t>
            </a:r>
          </a:p>
        </p:txBody>
      </p:sp>
      <p:sp>
        <p:nvSpPr>
          <p:cNvPr id="15" name="Rounded Rectangle 14"/>
          <p:cNvSpPr/>
          <p:nvPr/>
        </p:nvSpPr>
        <p:spPr>
          <a:xfrm>
            <a:off x="6181344" y="2077973"/>
            <a:ext cx="2587752" cy="3177489"/>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181344" y="2077973"/>
            <a:ext cx="50292" cy="3177489"/>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37376" y="2279141"/>
            <a:ext cx="2148840" cy="2798064"/>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RECOMMENDATION</a:t>
            </a:r>
          </a:p>
          <a:p>
            <a:pPr algn="l">
              <a:lnSpc>
                <a:spcPct val="110000"/>
              </a:lnSpc>
              <a:spcBef>
                <a:spcPts val="0"/>
              </a:spcBef>
              <a:spcAft>
                <a:spcPts val="0"/>
              </a:spcAft>
            </a:pPr>
            <a:r>
              <a:rPr sz="1600" b="1" i="0">
                <a:solidFill>
                  <a:srgbClr val="182A21"/>
                </a:solidFill>
                <a:latin typeface="Trebuchet MS"/>
              </a:rPr>
              <a:t>AI Gear Advisor</a:t>
            </a:r>
          </a:p>
        </p:txBody>
      </p:sp>
      <p:sp>
        <p:nvSpPr>
          <p:cNvPr id="18" name="TextBox 17"/>
          <p:cNvSpPr txBox="1"/>
          <p:nvPr/>
        </p:nvSpPr>
        <p:spPr>
          <a:xfrm>
            <a:off x="6437376" y="3102101"/>
            <a:ext cx="2130552" cy="365760"/>
          </a:xfrm>
          <a:prstGeom prst="rect">
            <a:avLst/>
          </a:prstGeom>
          <a:noFill/>
        </p:spPr>
        <p:txBody>
          <a:bodyPr wrap="square" lIns="0" rIns="0" tIns="0" bIns="0" anchor="t">
            <a:spAutoFit/>
          </a:bodyPr>
          <a:lstStyle/>
          <a:p>
            <a:pPr algn="l" marL="187452" indent="-187452">
              <a:lnSpc>
                <a:spcPct val="126000"/>
              </a:lnSpc>
              <a:spcBef>
                <a:spcPts val="0"/>
              </a:spcBef>
              <a:spcAft>
                <a:spcPts val="0"/>
              </a:spcAft>
            </a:pPr>
            <a:r>
              <a:rPr sz="1150" b="1" i="0">
                <a:solidFill>
                  <a:srgbClr val="4F8A63"/>
                </a:solidFill>
                <a:latin typeface="Tahoma"/>
              </a:rPr>
              <a:t>•   </a:t>
            </a:r>
            <a:r>
              <a:rPr sz="1150" b="0" i="0">
                <a:solidFill>
                  <a:srgbClr val="232E27"/>
                </a:solidFill>
                <a:latin typeface="Tahoma"/>
              </a:rPr>
              <a:t>Claude Haiku 4.5</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Inventory-constrained prompt</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Trail difficulty as input</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Forecast as input</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Strict JSON contract</a:t>
            </a:r>
          </a:p>
        </p:txBody>
      </p:sp>
      <p:sp>
        <p:nvSpPr>
          <p:cNvPr id="19" name="Rounded Rectangle 18"/>
          <p:cNvSpPr/>
          <p:nvPr/>
        </p:nvSpPr>
        <p:spPr>
          <a:xfrm>
            <a:off x="8915400" y="2077973"/>
            <a:ext cx="2587752" cy="3177489"/>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915400" y="2077973"/>
            <a:ext cx="50292" cy="3177489"/>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171432" y="2279141"/>
            <a:ext cx="2148840" cy="2798064"/>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OPERATIONS</a:t>
            </a:r>
          </a:p>
          <a:p>
            <a:pPr algn="l">
              <a:lnSpc>
                <a:spcPct val="110000"/>
              </a:lnSpc>
              <a:spcBef>
                <a:spcPts val="0"/>
              </a:spcBef>
              <a:spcAft>
                <a:spcPts val="0"/>
              </a:spcAft>
            </a:pPr>
            <a:r>
              <a:rPr sz="1600" b="1" i="0">
                <a:solidFill>
                  <a:srgbClr val="182A21"/>
                </a:solidFill>
                <a:latin typeface="Trebuchet MS"/>
              </a:rPr>
              <a:t>Admin Console</a:t>
            </a:r>
          </a:p>
        </p:txBody>
      </p:sp>
      <p:sp>
        <p:nvSpPr>
          <p:cNvPr id="22" name="TextBox 21"/>
          <p:cNvSpPr txBox="1"/>
          <p:nvPr/>
        </p:nvSpPr>
        <p:spPr>
          <a:xfrm>
            <a:off x="9171432" y="3102101"/>
            <a:ext cx="2130552" cy="365760"/>
          </a:xfrm>
          <a:prstGeom prst="rect">
            <a:avLst/>
          </a:prstGeom>
          <a:noFill/>
        </p:spPr>
        <p:txBody>
          <a:bodyPr wrap="square" lIns="0" rIns="0" tIns="0" bIns="0" anchor="t">
            <a:spAutoFit/>
          </a:bodyPr>
          <a:lstStyle/>
          <a:p>
            <a:pPr algn="l" marL="187452" indent="-187452">
              <a:lnSpc>
                <a:spcPct val="126000"/>
              </a:lnSpc>
              <a:spcBef>
                <a:spcPts val="0"/>
              </a:spcBef>
              <a:spcAft>
                <a:spcPts val="0"/>
              </a:spcAft>
            </a:pPr>
            <a:r>
              <a:rPr sz="1150" b="1" i="0">
                <a:solidFill>
                  <a:srgbClr val="C1943C"/>
                </a:solidFill>
                <a:latin typeface="Tahoma"/>
              </a:rPr>
              <a:t>•   </a:t>
            </a:r>
            <a:r>
              <a:rPr sz="1150" b="0" i="0">
                <a:solidFill>
                  <a:srgbClr val="232E27"/>
                </a:solidFill>
                <a:latin typeface="Tahoma"/>
              </a:rPr>
              <a:t>Per-size stock levels</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Increase or decrease stock</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Retire a size entirely</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Role checked in database</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Protected route</a:t>
            </a:r>
          </a:p>
        </p:txBody>
      </p:sp>
      <p:sp>
        <p:nvSpPr>
          <p:cNvPr id="23" name="Rectangle 22"/>
          <p:cNvSpPr/>
          <p:nvPr/>
        </p:nvSpPr>
        <p:spPr>
          <a:xfrm>
            <a:off x="713232" y="6272784"/>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13232" y="6382512"/>
            <a:ext cx="54864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6E7A72"/>
                </a:solidFill>
                <a:latin typeface="Trebuchet MS"/>
              </a:rPr>
              <a:t>TrailBlaze</a:t>
            </a:r>
            <a:r>
              <a:rPr sz="950" b="0" i="0">
                <a:solidFill>
                  <a:srgbClr val="6E7A72"/>
                </a:solidFill>
                <a:latin typeface="Trebuchet MS"/>
              </a:rPr>
              <a:t>   |   Hiking E-Commerce and Trail Discovery</a:t>
            </a:r>
          </a:p>
        </p:txBody>
      </p:sp>
      <p:sp>
        <p:nvSpPr>
          <p:cNvPr id="25" name="TextBox 24"/>
          <p:cNvSpPr txBox="1"/>
          <p:nvPr/>
        </p:nvSpPr>
        <p:spPr>
          <a:xfrm>
            <a:off x="10515600" y="6382512"/>
            <a:ext cx="964692" cy="274320"/>
          </a:xfrm>
          <a:prstGeom prst="rect">
            <a:avLst/>
          </a:prstGeom>
          <a:noFill/>
        </p:spPr>
        <p:txBody>
          <a:bodyPr wrap="square" lIns="0" rIns="0" tIns="0" bIns="0" anchor="t">
            <a:spAutoFit/>
          </a:bodyPr>
          <a:lstStyle/>
          <a:p>
            <a:pPr algn="r">
              <a:lnSpc>
                <a:spcPct val="122000"/>
              </a:lnSpc>
              <a:spcBef>
                <a:spcPts val="0"/>
              </a:spcBef>
              <a:spcAft>
                <a:spcPts val="0"/>
              </a:spcAft>
            </a:pPr>
            <a:r>
              <a:rPr sz="950" b="1" i="0">
                <a:solidFill>
                  <a:srgbClr val="6E7A72"/>
                </a:solidFill>
                <a:latin typeface="Trebuchet M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8888" cy="237744"/>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4F8A63"/>
                </a:solidFill>
                <a:latin typeface="Trebuchet MS"/>
              </a:rPr>
              <a:t>TECHNOLOGY</a:t>
            </a:r>
          </a:p>
        </p:txBody>
      </p:sp>
      <p:sp>
        <p:nvSpPr>
          <p:cNvPr id="4" name="TextBox 3"/>
          <p:cNvSpPr txBox="1"/>
          <p:nvPr/>
        </p:nvSpPr>
        <p:spPr>
          <a:xfrm>
            <a:off x="713232" y="749808"/>
            <a:ext cx="10768888"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82A21"/>
                </a:solidFill>
                <a:latin typeface="Trebuchet MS"/>
              </a:rPr>
              <a:t>Stack</a:t>
            </a:r>
          </a:p>
        </p:txBody>
      </p:sp>
      <p:sp>
        <p:nvSpPr>
          <p:cNvPr id="5" name="Rectangle 4"/>
          <p:cNvSpPr/>
          <p:nvPr/>
        </p:nvSpPr>
        <p:spPr>
          <a:xfrm>
            <a:off x="713232" y="1389888"/>
            <a:ext cx="566928"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572768"/>
            <a:ext cx="9509760" cy="36576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6E7A72"/>
                </a:solidFill>
                <a:latin typeface="Tahoma"/>
              </a:rPr>
              <a:t>Chosen for type safety across the boundary, a managed Postgres with a typed client, and free-tier external data sources.</a:t>
            </a:r>
          </a:p>
        </p:txBody>
      </p:sp>
      <p:sp>
        <p:nvSpPr>
          <p:cNvPr id="7" name="Rounded Rectangle 6"/>
          <p:cNvSpPr/>
          <p:nvPr/>
        </p:nvSpPr>
        <p:spPr>
          <a:xfrm>
            <a:off x="713232" y="2077973"/>
            <a:ext cx="2587752" cy="3127248"/>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13232" y="2077973"/>
            <a:ext cx="50292" cy="3127248"/>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9264" y="2279141"/>
            <a:ext cx="2148840" cy="2798064"/>
          </a:xfrm>
          <a:prstGeom prst="rect">
            <a:avLst/>
          </a:prstGeom>
          <a:noFill/>
        </p:spPr>
        <p:txBody>
          <a:bodyPr wrap="square" lIns="0" rIns="0" tIns="0" bIns="0" anchor="t">
            <a:spAutoFit/>
          </a:bodyPr>
          <a:lstStyle/>
          <a:p>
            <a:pPr algn="l">
              <a:lnSpc>
                <a:spcPct val="110000"/>
              </a:lnSpc>
              <a:spcBef>
                <a:spcPts val="0"/>
              </a:spcBef>
              <a:spcAft>
                <a:spcPts val="0"/>
              </a:spcAft>
            </a:pPr>
            <a:r>
              <a:rPr sz="1600" b="1" i="0">
                <a:solidFill>
                  <a:srgbClr val="182A21"/>
                </a:solidFill>
                <a:latin typeface="Trebuchet MS"/>
              </a:rPr>
              <a:t>Frontend</a:t>
            </a:r>
          </a:p>
        </p:txBody>
      </p:sp>
      <p:sp>
        <p:nvSpPr>
          <p:cNvPr id="10" name="TextBox 9"/>
          <p:cNvSpPr txBox="1"/>
          <p:nvPr/>
        </p:nvSpPr>
        <p:spPr>
          <a:xfrm>
            <a:off x="969264" y="2827781"/>
            <a:ext cx="2130552" cy="365760"/>
          </a:xfrm>
          <a:prstGeom prst="rect">
            <a:avLst/>
          </a:prstGeom>
          <a:noFill/>
        </p:spPr>
        <p:txBody>
          <a:bodyPr wrap="square" lIns="0" rIns="0" tIns="0" bIns="0" anchor="t">
            <a:spAutoFit/>
          </a:bodyPr>
          <a:lstStyle/>
          <a:p>
            <a:pPr algn="l" marL="187452" indent="-187452">
              <a:lnSpc>
                <a:spcPct val="126000"/>
              </a:lnSpc>
              <a:spcBef>
                <a:spcPts val="0"/>
              </a:spcBef>
              <a:spcAft>
                <a:spcPts val="0"/>
              </a:spcAft>
            </a:pPr>
            <a:r>
              <a:rPr sz="1150" b="1" i="0">
                <a:solidFill>
                  <a:srgbClr val="4F8A63"/>
                </a:solidFill>
                <a:latin typeface="Tahoma"/>
              </a:rPr>
              <a:t>•   </a:t>
            </a:r>
            <a:r>
              <a:rPr sz="1150" b="0" i="0">
                <a:solidFill>
                  <a:srgbClr val="232E27"/>
                </a:solidFill>
                <a:latin typeface="Tahoma"/>
              </a:rPr>
              <a:t>React 19</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TypeScript 5.9</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Vite 7</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React Router 7</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Tailwind CSS + DaisyUI</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Leaflet / react-leaflet</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react-hot-toast</a:t>
            </a:r>
          </a:p>
        </p:txBody>
      </p:sp>
      <p:sp>
        <p:nvSpPr>
          <p:cNvPr id="11" name="Rounded Rectangle 10"/>
          <p:cNvSpPr/>
          <p:nvPr/>
        </p:nvSpPr>
        <p:spPr>
          <a:xfrm>
            <a:off x="3447288" y="2077973"/>
            <a:ext cx="2587752" cy="3127248"/>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447288" y="2077973"/>
            <a:ext cx="50292" cy="31272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703320" y="2279141"/>
            <a:ext cx="2148840" cy="2798064"/>
          </a:xfrm>
          <a:prstGeom prst="rect">
            <a:avLst/>
          </a:prstGeom>
          <a:noFill/>
        </p:spPr>
        <p:txBody>
          <a:bodyPr wrap="square" lIns="0" rIns="0" tIns="0" bIns="0" anchor="t">
            <a:spAutoFit/>
          </a:bodyPr>
          <a:lstStyle/>
          <a:p>
            <a:pPr algn="l">
              <a:lnSpc>
                <a:spcPct val="110000"/>
              </a:lnSpc>
              <a:spcBef>
                <a:spcPts val="0"/>
              </a:spcBef>
              <a:spcAft>
                <a:spcPts val="0"/>
              </a:spcAft>
            </a:pPr>
            <a:r>
              <a:rPr sz="1600" b="1" i="0">
                <a:solidFill>
                  <a:srgbClr val="182A21"/>
                </a:solidFill>
                <a:latin typeface="Trebuchet MS"/>
              </a:rPr>
              <a:t>Backend</a:t>
            </a:r>
          </a:p>
        </p:txBody>
      </p:sp>
      <p:sp>
        <p:nvSpPr>
          <p:cNvPr id="14" name="TextBox 13"/>
          <p:cNvSpPr txBox="1"/>
          <p:nvPr/>
        </p:nvSpPr>
        <p:spPr>
          <a:xfrm>
            <a:off x="3703320" y="2827781"/>
            <a:ext cx="2130552" cy="365760"/>
          </a:xfrm>
          <a:prstGeom prst="rect">
            <a:avLst/>
          </a:prstGeom>
          <a:noFill/>
        </p:spPr>
        <p:txBody>
          <a:bodyPr wrap="square" lIns="0" rIns="0" tIns="0" bIns="0" anchor="t">
            <a:spAutoFit/>
          </a:bodyPr>
          <a:lstStyle/>
          <a:p>
            <a:pPr algn="l" marL="187452" indent="-187452">
              <a:lnSpc>
                <a:spcPct val="126000"/>
              </a:lnSpc>
              <a:spcBef>
                <a:spcPts val="0"/>
              </a:spcBef>
              <a:spcAft>
                <a:spcPts val="0"/>
              </a:spcAft>
            </a:pPr>
            <a:r>
              <a:rPr sz="1150" b="1" i="0">
                <a:solidFill>
                  <a:srgbClr val="C1943C"/>
                </a:solidFill>
                <a:latin typeface="Tahoma"/>
              </a:rPr>
              <a:t>•   </a:t>
            </a:r>
            <a:r>
              <a:rPr sz="1150" b="0" i="0">
                <a:solidFill>
                  <a:srgbClr val="232E27"/>
                </a:solidFill>
                <a:latin typeface="Tahoma"/>
              </a:rPr>
              <a:t>Node.js</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Express 5</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Prisma 7 ORM</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JWT + bcrypt</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Stripe SDK</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Anthropic SDK</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Resend (email)</a:t>
            </a:r>
          </a:p>
        </p:txBody>
      </p:sp>
      <p:sp>
        <p:nvSpPr>
          <p:cNvPr id="15" name="Rounded Rectangle 14"/>
          <p:cNvSpPr/>
          <p:nvPr/>
        </p:nvSpPr>
        <p:spPr>
          <a:xfrm>
            <a:off x="6181344" y="2077973"/>
            <a:ext cx="2587752" cy="3127248"/>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181344" y="2077973"/>
            <a:ext cx="50292" cy="3127248"/>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37376" y="2279141"/>
            <a:ext cx="2148840" cy="2798064"/>
          </a:xfrm>
          <a:prstGeom prst="rect">
            <a:avLst/>
          </a:prstGeom>
          <a:noFill/>
        </p:spPr>
        <p:txBody>
          <a:bodyPr wrap="square" lIns="0" rIns="0" tIns="0" bIns="0" anchor="t">
            <a:spAutoFit/>
          </a:bodyPr>
          <a:lstStyle/>
          <a:p>
            <a:pPr algn="l">
              <a:lnSpc>
                <a:spcPct val="110000"/>
              </a:lnSpc>
              <a:spcBef>
                <a:spcPts val="0"/>
              </a:spcBef>
              <a:spcAft>
                <a:spcPts val="0"/>
              </a:spcAft>
            </a:pPr>
            <a:r>
              <a:rPr sz="1600" b="1" i="0">
                <a:solidFill>
                  <a:srgbClr val="182A21"/>
                </a:solidFill>
                <a:latin typeface="Trebuchet MS"/>
              </a:rPr>
              <a:t>External data</a:t>
            </a:r>
          </a:p>
        </p:txBody>
      </p:sp>
      <p:sp>
        <p:nvSpPr>
          <p:cNvPr id="18" name="TextBox 17"/>
          <p:cNvSpPr txBox="1"/>
          <p:nvPr/>
        </p:nvSpPr>
        <p:spPr>
          <a:xfrm>
            <a:off x="6437376" y="2827781"/>
            <a:ext cx="2130552" cy="365760"/>
          </a:xfrm>
          <a:prstGeom prst="rect">
            <a:avLst/>
          </a:prstGeom>
          <a:noFill/>
        </p:spPr>
        <p:txBody>
          <a:bodyPr wrap="square" lIns="0" rIns="0" tIns="0" bIns="0" anchor="t">
            <a:spAutoFit/>
          </a:bodyPr>
          <a:lstStyle/>
          <a:p>
            <a:pPr algn="l" marL="187452" indent="-187452">
              <a:lnSpc>
                <a:spcPct val="126000"/>
              </a:lnSpc>
              <a:spcBef>
                <a:spcPts val="0"/>
              </a:spcBef>
              <a:spcAft>
                <a:spcPts val="0"/>
              </a:spcAft>
            </a:pPr>
            <a:r>
              <a:rPr sz="1150" b="1" i="0">
                <a:solidFill>
                  <a:srgbClr val="4F8A63"/>
                </a:solidFill>
                <a:latin typeface="Tahoma"/>
              </a:rPr>
              <a:t>•   </a:t>
            </a:r>
            <a:r>
              <a:rPr sz="1150" b="0" i="0">
                <a:solidFill>
                  <a:srgbClr val="232E27"/>
                </a:solidFill>
                <a:latin typeface="Tahoma"/>
              </a:rPr>
              <a:t>Overpass API (trails)</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Nominatim (geocoding)</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OpenRouteService</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Open-Meteo (weather)</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Pexels (photography)</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Cloudinary (media)</a:t>
            </a:r>
          </a:p>
        </p:txBody>
      </p:sp>
      <p:sp>
        <p:nvSpPr>
          <p:cNvPr id="19" name="Rounded Rectangle 18"/>
          <p:cNvSpPr/>
          <p:nvPr/>
        </p:nvSpPr>
        <p:spPr>
          <a:xfrm>
            <a:off x="8915400" y="2077973"/>
            <a:ext cx="2587752" cy="3127248"/>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915400" y="2077973"/>
            <a:ext cx="50292" cy="31272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171432" y="2279141"/>
            <a:ext cx="2148840" cy="2798064"/>
          </a:xfrm>
          <a:prstGeom prst="rect">
            <a:avLst/>
          </a:prstGeom>
          <a:noFill/>
        </p:spPr>
        <p:txBody>
          <a:bodyPr wrap="square" lIns="0" rIns="0" tIns="0" bIns="0" anchor="t">
            <a:spAutoFit/>
          </a:bodyPr>
          <a:lstStyle/>
          <a:p>
            <a:pPr algn="l">
              <a:lnSpc>
                <a:spcPct val="110000"/>
              </a:lnSpc>
              <a:spcBef>
                <a:spcPts val="0"/>
              </a:spcBef>
              <a:spcAft>
                <a:spcPts val="0"/>
              </a:spcAft>
            </a:pPr>
            <a:r>
              <a:rPr sz="1600" b="1" i="0">
                <a:solidFill>
                  <a:srgbClr val="182A21"/>
                </a:solidFill>
                <a:latin typeface="Trebuchet MS"/>
              </a:rPr>
              <a:t>Infrastructure</a:t>
            </a:r>
          </a:p>
        </p:txBody>
      </p:sp>
      <p:sp>
        <p:nvSpPr>
          <p:cNvPr id="22" name="TextBox 21"/>
          <p:cNvSpPr txBox="1"/>
          <p:nvPr/>
        </p:nvSpPr>
        <p:spPr>
          <a:xfrm>
            <a:off x="9171432" y="2827781"/>
            <a:ext cx="2130552" cy="365760"/>
          </a:xfrm>
          <a:prstGeom prst="rect">
            <a:avLst/>
          </a:prstGeom>
          <a:noFill/>
        </p:spPr>
        <p:txBody>
          <a:bodyPr wrap="square" lIns="0" rIns="0" tIns="0" bIns="0" anchor="t">
            <a:spAutoFit/>
          </a:bodyPr>
          <a:lstStyle/>
          <a:p>
            <a:pPr algn="l" marL="187452" indent="-187452">
              <a:lnSpc>
                <a:spcPct val="126000"/>
              </a:lnSpc>
              <a:spcBef>
                <a:spcPts val="0"/>
              </a:spcBef>
              <a:spcAft>
                <a:spcPts val="0"/>
              </a:spcAft>
            </a:pPr>
            <a:r>
              <a:rPr sz="1150" b="1" i="0">
                <a:solidFill>
                  <a:srgbClr val="C1943C"/>
                </a:solidFill>
                <a:latin typeface="Tahoma"/>
              </a:rPr>
              <a:t>•   </a:t>
            </a:r>
            <a:r>
              <a:rPr sz="1150" b="0" i="0">
                <a:solidFill>
                  <a:srgbClr val="232E27"/>
                </a:solidFill>
                <a:latin typeface="Tahoma"/>
              </a:rPr>
              <a:t>Vercel (frontend)</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Render (API)</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Neon PostgreSQL</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pnpm workspace</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Concurrently (dev)</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ESLint</a:t>
            </a:r>
          </a:p>
        </p:txBody>
      </p:sp>
      <p:sp>
        <p:nvSpPr>
          <p:cNvPr id="23" name="Rectangle 22"/>
          <p:cNvSpPr/>
          <p:nvPr/>
        </p:nvSpPr>
        <p:spPr>
          <a:xfrm>
            <a:off x="713232" y="6272784"/>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13232" y="6382512"/>
            <a:ext cx="54864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6E7A72"/>
                </a:solidFill>
                <a:latin typeface="Trebuchet MS"/>
              </a:rPr>
              <a:t>TrailBlaze</a:t>
            </a:r>
            <a:r>
              <a:rPr sz="950" b="0" i="0">
                <a:solidFill>
                  <a:srgbClr val="6E7A72"/>
                </a:solidFill>
                <a:latin typeface="Trebuchet MS"/>
              </a:rPr>
              <a:t>   |   Hiking E-Commerce and Trail Discovery</a:t>
            </a:r>
          </a:p>
        </p:txBody>
      </p:sp>
      <p:sp>
        <p:nvSpPr>
          <p:cNvPr id="25" name="TextBox 24"/>
          <p:cNvSpPr txBox="1"/>
          <p:nvPr/>
        </p:nvSpPr>
        <p:spPr>
          <a:xfrm>
            <a:off x="10515600" y="6382512"/>
            <a:ext cx="964692" cy="274320"/>
          </a:xfrm>
          <a:prstGeom prst="rect">
            <a:avLst/>
          </a:prstGeom>
          <a:noFill/>
        </p:spPr>
        <p:txBody>
          <a:bodyPr wrap="square" lIns="0" rIns="0" tIns="0" bIns="0" anchor="t">
            <a:spAutoFit/>
          </a:bodyPr>
          <a:lstStyle/>
          <a:p>
            <a:pPr algn="r">
              <a:lnSpc>
                <a:spcPct val="122000"/>
              </a:lnSpc>
              <a:spcBef>
                <a:spcPts val="0"/>
              </a:spcBef>
              <a:spcAft>
                <a:spcPts val="0"/>
              </a:spcAft>
            </a:pPr>
            <a:r>
              <a:rPr sz="950" b="1" i="0">
                <a:solidFill>
                  <a:srgbClr val="6E7A72"/>
                </a:solidFill>
                <a:latin typeface="Trebuchet M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8888" cy="237744"/>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4F8A63"/>
                </a:solidFill>
                <a:latin typeface="Trebuchet MS"/>
              </a:rPr>
              <a:t>DESIGN</a:t>
            </a:r>
          </a:p>
        </p:txBody>
      </p:sp>
      <p:sp>
        <p:nvSpPr>
          <p:cNvPr id="4" name="TextBox 3"/>
          <p:cNvSpPr txBox="1"/>
          <p:nvPr/>
        </p:nvSpPr>
        <p:spPr>
          <a:xfrm>
            <a:off x="713232" y="749808"/>
            <a:ext cx="10768888"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82A21"/>
                </a:solidFill>
                <a:latin typeface="Trebuchet MS"/>
              </a:rPr>
              <a:t>System architecture</a:t>
            </a:r>
          </a:p>
        </p:txBody>
      </p:sp>
      <p:sp>
        <p:nvSpPr>
          <p:cNvPr id="5" name="Rectangle 4"/>
          <p:cNvSpPr/>
          <p:nvPr/>
        </p:nvSpPr>
        <p:spPr>
          <a:xfrm>
            <a:off x="713232" y="1389888"/>
            <a:ext cx="566928"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572768"/>
            <a:ext cx="9509760" cy="36576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6E7A72"/>
                </a:solidFill>
                <a:latin typeface="Tahoma"/>
              </a:rPr>
              <a:t>A three-tier deployment. The API is the only component holding secrets and the only one that talks to the database or to third parties.</a:t>
            </a:r>
          </a:p>
        </p:txBody>
      </p:sp>
      <p:sp>
        <p:nvSpPr>
          <p:cNvPr id="7" name="Rounded Rectangle 6"/>
          <p:cNvSpPr/>
          <p:nvPr/>
        </p:nvSpPr>
        <p:spPr>
          <a:xfrm>
            <a:off x="713232" y="2139696"/>
            <a:ext cx="2999232" cy="1160526"/>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13232" y="2139696"/>
            <a:ext cx="50292" cy="1160526"/>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9264" y="2340864"/>
            <a:ext cx="2560320" cy="831342"/>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CLIENT</a:t>
            </a:r>
          </a:p>
          <a:p>
            <a:pPr algn="l">
              <a:lnSpc>
                <a:spcPct val="110000"/>
              </a:lnSpc>
              <a:spcBef>
                <a:spcPts val="0"/>
              </a:spcBef>
              <a:spcAft>
                <a:spcPts val="500"/>
              </a:spcAft>
            </a:pPr>
            <a:r>
              <a:rPr sz="1700" b="1" i="0">
                <a:solidFill>
                  <a:srgbClr val="182A21"/>
                </a:solidFill>
                <a:latin typeface="Trebuchet MS"/>
              </a:rPr>
              <a:t>React SPA</a:t>
            </a:r>
          </a:p>
          <a:p>
            <a:pPr algn="l">
              <a:lnSpc>
                <a:spcPct val="126000"/>
              </a:lnSpc>
              <a:spcBef>
                <a:spcPts val="0"/>
              </a:spcBef>
              <a:spcAft>
                <a:spcPts val="0"/>
              </a:spcAft>
            </a:pPr>
            <a:r>
              <a:rPr sz="1250" b="0" i="0">
                <a:solidFill>
                  <a:srgbClr val="6E7A72"/>
                </a:solidFill>
                <a:latin typeface="Tahoma"/>
              </a:rPr>
              <a:t>Vercel</a:t>
            </a:r>
          </a:p>
        </p:txBody>
      </p:sp>
      <p:sp>
        <p:nvSpPr>
          <p:cNvPr id="10" name="Right Arrow 9"/>
          <p:cNvSpPr/>
          <p:nvPr/>
        </p:nvSpPr>
        <p:spPr>
          <a:xfrm>
            <a:off x="3758184" y="2596896"/>
            <a:ext cx="292608" cy="164592"/>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4096512" y="2139696"/>
            <a:ext cx="2999232" cy="1160526"/>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096512" y="2139696"/>
            <a:ext cx="50292" cy="1160526"/>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52544" y="2340864"/>
            <a:ext cx="2560320" cy="831342"/>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API</a:t>
            </a:r>
          </a:p>
          <a:p>
            <a:pPr algn="l">
              <a:lnSpc>
                <a:spcPct val="110000"/>
              </a:lnSpc>
              <a:spcBef>
                <a:spcPts val="0"/>
              </a:spcBef>
              <a:spcAft>
                <a:spcPts val="500"/>
              </a:spcAft>
            </a:pPr>
            <a:r>
              <a:rPr sz="1700" b="1" i="0">
                <a:solidFill>
                  <a:srgbClr val="182A21"/>
                </a:solidFill>
                <a:latin typeface="Trebuchet MS"/>
              </a:rPr>
              <a:t>Express 5 REST</a:t>
            </a:r>
          </a:p>
          <a:p>
            <a:pPr algn="l">
              <a:lnSpc>
                <a:spcPct val="126000"/>
              </a:lnSpc>
              <a:spcBef>
                <a:spcPts val="0"/>
              </a:spcBef>
              <a:spcAft>
                <a:spcPts val="0"/>
              </a:spcAft>
            </a:pPr>
            <a:r>
              <a:rPr sz="1250" b="0" i="0">
                <a:solidFill>
                  <a:srgbClr val="6E7A72"/>
                </a:solidFill>
                <a:latin typeface="Tahoma"/>
              </a:rPr>
              <a:t>Render</a:t>
            </a:r>
          </a:p>
        </p:txBody>
      </p:sp>
      <p:sp>
        <p:nvSpPr>
          <p:cNvPr id="14" name="Right Arrow 13"/>
          <p:cNvSpPr/>
          <p:nvPr/>
        </p:nvSpPr>
        <p:spPr>
          <a:xfrm>
            <a:off x="7141464" y="2596896"/>
            <a:ext cx="292608" cy="164592"/>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7479792" y="2139696"/>
            <a:ext cx="2999232" cy="1160526"/>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7479792" y="2139696"/>
            <a:ext cx="50292" cy="1160526"/>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735824" y="2340864"/>
            <a:ext cx="2560320" cy="831342"/>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DATA</a:t>
            </a:r>
          </a:p>
          <a:p>
            <a:pPr algn="l">
              <a:lnSpc>
                <a:spcPct val="110000"/>
              </a:lnSpc>
              <a:spcBef>
                <a:spcPts val="0"/>
              </a:spcBef>
              <a:spcAft>
                <a:spcPts val="500"/>
              </a:spcAft>
            </a:pPr>
            <a:r>
              <a:rPr sz="1700" b="1" i="0">
                <a:solidFill>
                  <a:srgbClr val="182A21"/>
                </a:solidFill>
                <a:latin typeface="Trebuchet MS"/>
              </a:rPr>
              <a:t>PostgreSQL</a:t>
            </a:r>
          </a:p>
          <a:p>
            <a:pPr algn="l">
              <a:lnSpc>
                <a:spcPct val="126000"/>
              </a:lnSpc>
              <a:spcBef>
                <a:spcPts val="0"/>
              </a:spcBef>
              <a:spcAft>
                <a:spcPts val="0"/>
              </a:spcAft>
            </a:pPr>
            <a:r>
              <a:rPr sz="1250" b="0" i="0">
                <a:solidFill>
                  <a:srgbClr val="6E7A72"/>
                </a:solidFill>
                <a:latin typeface="Tahoma"/>
              </a:rPr>
              <a:t>Neon (serverless)</a:t>
            </a:r>
          </a:p>
        </p:txBody>
      </p:sp>
      <p:sp>
        <p:nvSpPr>
          <p:cNvPr id="18" name="TextBox 17"/>
          <p:cNvSpPr txBox="1"/>
          <p:nvPr/>
        </p:nvSpPr>
        <p:spPr>
          <a:xfrm>
            <a:off x="713232" y="3310128"/>
            <a:ext cx="2999232" cy="457200"/>
          </a:xfrm>
          <a:prstGeom prst="rect">
            <a:avLst/>
          </a:prstGeom>
          <a:noFill/>
        </p:spPr>
        <p:txBody>
          <a:bodyPr wrap="square" lIns="0" rIns="0" tIns="0" bIns="0" anchor="t">
            <a:spAutoFit/>
          </a:bodyPr>
          <a:lstStyle/>
          <a:p>
            <a:pPr algn="ctr">
              <a:lnSpc>
                <a:spcPct val="122000"/>
              </a:lnSpc>
              <a:spcBef>
                <a:spcPts val="0"/>
              </a:spcBef>
              <a:spcAft>
                <a:spcPts val="0"/>
              </a:spcAft>
            </a:pPr>
            <a:r>
              <a:rPr sz="1050" b="0" i="0">
                <a:solidFill>
                  <a:srgbClr val="6E7A72"/>
                </a:solidFill>
                <a:latin typeface="Tahoma"/>
              </a:rPr>
              <a:t>httpOnly JWT cookie, CORS allowlist</a:t>
            </a:r>
          </a:p>
        </p:txBody>
      </p:sp>
      <p:sp>
        <p:nvSpPr>
          <p:cNvPr id="19" name="TextBox 18"/>
          <p:cNvSpPr txBox="1"/>
          <p:nvPr/>
        </p:nvSpPr>
        <p:spPr>
          <a:xfrm>
            <a:off x="4096512" y="3310128"/>
            <a:ext cx="2999232" cy="457200"/>
          </a:xfrm>
          <a:prstGeom prst="rect">
            <a:avLst/>
          </a:prstGeom>
          <a:noFill/>
        </p:spPr>
        <p:txBody>
          <a:bodyPr wrap="square" lIns="0" rIns="0" tIns="0" bIns="0" anchor="t">
            <a:spAutoFit/>
          </a:bodyPr>
          <a:lstStyle/>
          <a:p>
            <a:pPr algn="ctr">
              <a:lnSpc>
                <a:spcPct val="122000"/>
              </a:lnSpc>
              <a:spcBef>
                <a:spcPts val="0"/>
              </a:spcBef>
              <a:spcAft>
                <a:spcPts val="0"/>
              </a:spcAft>
            </a:pPr>
            <a:r>
              <a:rPr sz="1050" b="0" i="0">
                <a:solidFill>
                  <a:srgbClr val="6E7A72"/>
                </a:solidFill>
                <a:latin typeface="Tahoma"/>
              </a:rPr>
              <a:t>Prisma client, Neon adapter</a:t>
            </a:r>
          </a:p>
        </p:txBody>
      </p:sp>
      <p:sp>
        <p:nvSpPr>
          <p:cNvPr id="20" name="Rectangle 19"/>
          <p:cNvSpPr/>
          <p:nvPr/>
        </p:nvSpPr>
        <p:spPr>
          <a:xfrm>
            <a:off x="713232" y="3950208"/>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13232" y="4114800"/>
            <a:ext cx="36576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4F8A63"/>
                </a:solidFill>
                <a:latin typeface="Trebuchet MS"/>
              </a:rPr>
              <a:t>SERVER-SIDE INTEGRATIONS</a:t>
            </a:r>
          </a:p>
        </p:txBody>
      </p:sp>
      <p:sp>
        <p:nvSpPr>
          <p:cNvPr id="22" name="Rounded Rectangle 21"/>
          <p:cNvSpPr/>
          <p:nvPr/>
        </p:nvSpPr>
        <p:spPr>
          <a:xfrm>
            <a:off x="713232" y="4462272"/>
            <a:ext cx="1298448" cy="420624"/>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050" b="1" i="0">
                <a:solidFill>
                  <a:srgbClr val="182A21"/>
                </a:solidFill>
                <a:latin typeface="Trebuchet MS"/>
              </a:rPr>
              <a:t>Stripe</a:t>
            </a:r>
          </a:p>
        </p:txBody>
      </p:sp>
      <p:sp>
        <p:nvSpPr>
          <p:cNvPr id="23" name="Rounded Rectangle 22"/>
          <p:cNvSpPr/>
          <p:nvPr/>
        </p:nvSpPr>
        <p:spPr>
          <a:xfrm>
            <a:off x="2061972" y="4462272"/>
            <a:ext cx="1298448" cy="420624"/>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050" b="1" i="0">
                <a:solidFill>
                  <a:srgbClr val="182A21"/>
                </a:solidFill>
                <a:latin typeface="Trebuchet MS"/>
              </a:rPr>
              <a:t>Anthropic</a:t>
            </a:r>
          </a:p>
        </p:txBody>
      </p:sp>
      <p:sp>
        <p:nvSpPr>
          <p:cNvPr id="24" name="Rounded Rectangle 23"/>
          <p:cNvSpPr/>
          <p:nvPr/>
        </p:nvSpPr>
        <p:spPr>
          <a:xfrm>
            <a:off x="3410712" y="4462272"/>
            <a:ext cx="1298448" cy="420624"/>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050" b="1" i="0">
                <a:solidFill>
                  <a:srgbClr val="182A21"/>
                </a:solidFill>
                <a:latin typeface="Trebuchet MS"/>
              </a:rPr>
              <a:t>Resend</a:t>
            </a:r>
          </a:p>
        </p:txBody>
      </p:sp>
      <p:sp>
        <p:nvSpPr>
          <p:cNvPr id="25" name="Rounded Rectangle 24"/>
          <p:cNvSpPr/>
          <p:nvPr/>
        </p:nvSpPr>
        <p:spPr>
          <a:xfrm>
            <a:off x="4759452" y="4462272"/>
            <a:ext cx="1298448" cy="420624"/>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050" b="1" i="0">
                <a:solidFill>
                  <a:srgbClr val="182A21"/>
                </a:solidFill>
                <a:latin typeface="Trebuchet MS"/>
              </a:rPr>
              <a:t>Overpass</a:t>
            </a:r>
          </a:p>
        </p:txBody>
      </p:sp>
      <p:sp>
        <p:nvSpPr>
          <p:cNvPr id="26" name="Rounded Rectangle 25"/>
          <p:cNvSpPr/>
          <p:nvPr/>
        </p:nvSpPr>
        <p:spPr>
          <a:xfrm>
            <a:off x="6108192" y="4462272"/>
            <a:ext cx="1298448" cy="420624"/>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050" b="1" i="0">
                <a:solidFill>
                  <a:srgbClr val="182A21"/>
                </a:solidFill>
                <a:latin typeface="Trebuchet MS"/>
              </a:rPr>
              <a:t>Nominatim</a:t>
            </a:r>
          </a:p>
        </p:txBody>
      </p:sp>
      <p:sp>
        <p:nvSpPr>
          <p:cNvPr id="27" name="Rounded Rectangle 26"/>
          <p:cNvSpPr/>
          <p:nvPr/>
        </p:nvSpPr>
        <p:spPr>
          <a:xfrm>
            <a:off x="7456932" y="4462272"/>
            <a:ext cx="1298448" cy="420624"/>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050" b="1" i="0">
                <a:solidFill>
                  <a:srgbClr val="182A21"/>
                </a:solidFill>
                <a:latin typeface="Trebuchet MS"/>
              </a:rPr>
              <a:t>OpenRouteService</a:t>
            </a:r>
          </a:p>
        </p:txBody>
      </p:sp>
      <p:sp>
        <p:nvSpPr>
          <p:cNvPr id="28" name="Rounded Rectangle 27"/>
          <p:cNvSpPr/>
          <p:nvPr/>
        </p:nvSpPr>
        <p:spPr>
          <a:xfrm>
            <a:off x="8805672" y="4462272"/>
            <a:ext cx="1298448" cy="420624"/>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050" b="1" i="0">
                <a:solidFill>
                  <a:srgbClr val="182A21"/>
                </a:solidFill>
                <a:latin typeface="Trebuchet MS"/>
              </a:rPr>
              <a:t>Open-Meteo</a:t>
            </a:r>
          </a:p>
        </p:txBody>
      </p:sp>
      <p:sp>
        <p:nvSpPr>
          <p:cNvPr id="29" name="Rounded Rectangle 28"/>
          <p:cNvSpPr/>
          <p:nvPr/>
        </p:nvSpPr>
        <p:spPr>
          <a:xfrm>
            <a:off x="10154412" y="4462272"/>
            <a:ext cx="1298448" cy="420624"/>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050" b="1" i="0">
                <a:solidFill>
                  <a:srgbClr val="182A21"/>
                </a:solidFill>
                <a:latin typeface="Trebuchet MS"/>
              </a:rPr>
              <a:t>Pexels</a:t>
            </a:r>
          </a:p>
        </p:txBody>
      </p:sp>
      <p:sp>
        <p:nvSpPr>
          <p:cNvPr id="30" name="TextBox 29"/>
          <p:cNvSpPr txBox="1"/>
          <p:nvPr/>
        </p:nvSpPr>
        <p:spPr>
          <a:xfrm>
            <a:off x="713232" y="5120640"/>
            <a:ext cx="10768888" cy="914400"/>
          </a:xfrm>
          <a:prstGeom prst="rect">
            <a:avLst/>
          </a:prstGeom>
          <a:noFill/>
        </p:spPr>
        <p:txBody>
          <a:bodyPr wrap="square" lIns="0" rIns="0" tIns="0" bIns="0" anchor="t">
            <a:spAutoFit/>
          </a:bodyPr>
          <a:lstStyle/>
          <a:p>
            <a:pPr algn="l">
              <a:lnSpc>
                <a:spcPct val="135000"/>
              </a:lnSpc>
              <a:spcBef>
                <a:spcPts val="0"/>
              </a:spcBef>
              <a:spcAft>
                <a:spcPts val="0"/>
              </a:spcAft>
            </a:pPr>
            <a:r>
              <a:rPr sz="1400" b="1" i="0">
                <a:solidFill>
                  <a:srgbClr val="182A21"/>
                </a:solidFill>
                <a:latin typeface="Trebuchet MS"/>
              </a:rPr>
              <a:t>Every third-party call is proxied through the API.  </a:t>
            </a:r>
            <a:r>
              <a:rPr sz="1400" b="0" i="0">
                <a:solidFill>
                  <a:srgbClr val="232E27"/>
                </a:solidFill>
                <a:latin typeface="Tahoma"/>
              </a:rPr>
              <a:t>The browser never receives an API key, and rate limiting, retries and response shaping happen in one place rather than being repeated in the client.</a:t>
            </a:r>
          </a:p>
        </p:txBody>
      </p:sp>
      <p:sp>
        <p:nvSpPr>
          <p:cNvPr id="31" name="Rectangle 30"/>
          <p:cNvSpPr/>
          <p:nvPr/>
        </p:nvSpPr>
        <p:spPr>
          <a:xfrm>
            <a:off x="713232" y="6272784"/>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13232" y="6382512"/>
            <a:ext cx="54864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6E7A72"/>
                </a:solidFill>
                <a:latin typeface="Trebuchet MS"/>
              </a:rPr>
              <a:t>TrailBlaze</a:t>
            </a:r>
            <a:r>
              <a:rPr sz="950" b="0" i="0">
                <a:solidFill>
                  <a:srgbClr val="6E7A72"/>
                </a:solidFill>
                <a:latin typeface="Trebuchet MS"/>
              </a:rPr>
              <a:t>   |   Hiking E-Commerce and Trail Discovery</a:t>
            </a:r>
          </a:p>
        </p:txBody>
      </p:sp>
      <p:sp>
        <p:nvSpPr>
          <p:cNvPr id="33" name="TextBox 32"/>
          <p:cNvSpPr txBox="1"/>
          <p:nvPr/>
        </p:nvSpPr>
        <p:spPr>
          <a:xfrm>
            <a:off x="10515600" y="6382512"/>
            <a:ext cx="964692" cy="274320"/>
          </a:xfrm>
          <a:prstGeom prst="rect">
            <a:avLst/>
          </a:prstGeom>
          <a:noFill/>
        </p:spPr>
        <p:txBody>
          <a:bodyPr wrap="square" lIns="0" rIns="0" tIns="0" bIns="0" anchor="t">
            <a:spAutoFit/>
          </a:bodyPr>
          <a:lstStyle/>
          <a:p>
            <a:pPr algn="r">
              <a:lnSpc>
                <a:spcPct val="122000"/>
              </a:lnSpc>
              <a:spcBef>
                <a:spcPts val="0"/>
              </a:spcBef>
              <a:spcAft>
                <a:spcPts val="0"/>
              </a:spcAft>
            </a:pPr>
            <a:r>
              <a:rPr sz="950" b="1" i="0">
                <a:solidFill>
                  <a:srgbClr val="6E7A72"/>
                </a:solidFill>
                <a:latin typeface="Trebuchet M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8888" cy="237744"/>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4F8A63"/>
                </a:solidFill>
                <a:latin typeface="Trebuchet MS"/>
              </a:rPr>
              <a:t>IMPLEMENTATION</a:t>
            </a:r>
          </a:p>
        </p:txBody>
      </p:sp>
      <p:sp>
        <p:nvSpPr>
          <p:cNvPr id="4" name="TextBox 3"/>
          <p:cNvSpPr txBox="1"/>
          <p:nvPr/>
        </p:nvSpPr>
        <p:spPr>
          <a:xfrm>
            <a:off x="713232" y="749808"/>
            <a:ext cx="10768888"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82A21"/>
                </a:solidFill>
                <a:latin typeface="Trebuchet MS"/>
              </a:rPr>
              <a:t>Codebase organization</a:t>
            </a:r>
          </a:p>
        </p:txBody>
      </p:sp>
      <p:sp>
        <p:nvSpPr>
          <p:cNvPr id="5" name="Rectangle 4"/>
          <p:cNvSpPr/>
          <p:nvPr/>
        </p:nvSpPr>
        <p:spPr>
          <a:xfrm>
            <a:off x="713232" y="1389888"/>
            <a:ext cx="566928"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572768"/>
            <a:ext cx="9509760" cy="36576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6E7A72"/>
                </a:solidFill>
                <a:latin typeface="Tahoma"/>
              </a:rPr>
              <a:t>A layered backend and a feature-first frontend. Each page owns its UI, handlers and interfaces.</a:t>
            </a:r>
          </a:p>
        </p:txBody>
      </p:sp>
      <p:sp>
        <p:nvSpPr>
          <p:cNvPr id="7" name="Rounded Rectangle 6"/>
          <p:cNvSpPr/>
          <p:nvPr/>
        </p:nvSpPr>
        <p:spPr>
          <a:xfrm>
            <a:off x="713232" y="2077973"/>
            <a:ext cx="5212080" cy="3429000"/>
          </a:xfrm>
          <a:prstGeom prst="roundRect">
            <a:avLst>
              <a:gd name="adj" fmla="val 4000"/>
            </a:avLst>
          </a:prstGeom>
          <a:solidFill>
            <a:srgbClr val="182A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32688" y="2215133"/>
            <a:ext cx="4773168" cy="3209544"/>
          </a:xfrm>
          <a:prstGeom prst="rect">
            <a:avLst/>
          </a:prstGeom>
          <a:noFill/>
        </p:spPr>
        <p:txBody>
          <a:bodyPr wrap="square" lIns="0" rIns="0" tIns="0" bIns="0" anchor="t">
            <a:spAutoFit/>
          </a:bodyPr>
          <a:lstStyle/>
          <a:p>
            <a:pPr algn="l">
              <a:lnSpc>
                <a:spcPct val="150000"/>
              </a:lnSpc>
              <a:spcBef>
                <a:spcPts val="0"/>
              </a:spcBef>
              <a:spcAft>
                <a:spcPts val="0"/>
              </a:spcAft>
            </a:pPr>
            <a:r>
              <a:rPr sz="1150" b="0" i="0">
                <a:solidFill>
                  <a:srgbClr val="ECE8E1"/>
                </a:solidFill>
                <a:latin typeface="Courier New"/>
              </a:rPr>
              <a:t>trailblaze/</a:t>
            </a:r>
          </a:p>
          <a:p>
            <a:pPr algn="l">
              <a:lnSpc>
                <a:spcPct val="150000"/>
              </a:lnSpc>
              <a:spcBef>
                <a:spcPts val="0"/>
              </a:spcBef>
              <a:spcAft>
                <a:spcPts val="0"/>
              </a:spcAft>
            </a:pPr>
            <a:r>
              <a:rPr sz="1150" b="0" i="0">
                <a:solidFill>
                  <a:srgbClr val="8CBB99"/>
                </a:solidFill>
                <a:latin typeface="Courier New"/>
              </a:rPr>
              <a:t>  client/src/                 </a:t>
            </a:r>
            <a:r>
              <a:rPr sz="1150" b="0" i="0">
                <a:solidFill>
                  <a:srgbClr val="ECE8E1"/>
                </a:solidFill>
                <a:latin typeface="Courier New"/>
              </a:rPr>
              <a:t>React frontend</a:t>
            </a:r>
          </a:p>
          <a:p>
            <a:pPr algn="l">
              <a:lnSpc>
                <a:spcPct val="150000"/>
              </a:lnSpc>
              <a:spcBef>
                <a:spcPts val="0"/>
              </a:spcBef>
              <a:spcAft>
                <a:spcPts val="0"/>
              </a:spcAft>
            </a:pPr>
            <a:r>
              <a:rPr sz="1150" b="0" i="0">
                <a:solidFill>
                  <a:srgbClr val="8CBB99"/>
                </a:solidFill>
                <a:latin typeface="Courier New"/>
              </a:rPr>
              <a:t>    pages/                    </a:t>
            </a:r>
            <a:r>
              <a:rPr sz="1150" b="0" i="0">
                <a:solidFill>
                  <a:srgbClr val="ECE8E1"/>
                </a:solidFill>
                <a:latin typeface="Courier New"/>
              </a:rPr>
              <a:t>11 feature folders</a:t>
            </a:r>
          </a:p>
          <a:p>
            <a:pPr algn="l">
              <a:lnSpc>
                <a:spcPct val="150000"/>
              </a:lnSpc>
              <a:spcBef>
                <a:spcPts val="0"/>
              </a:spcBef>
              <a:spcAft>
                <a:spcPts val="0"/>
              </a:spcAft>
            </a:pPr>
            <a:r>
              <a:rPr sz="1150" b="0" i="0">
                <a:solidFill>
                  <a:srgbClr val="8CBB99"/>
                </a:solidFill>
                <a:latin typeface="Courier New"/>
              </a:rPr>
              <a:t>      UI/ handlers/ interface/</a:t>
            </a:r>
            <a:r>
              <a:rPr sz="1150" b="0" i="0">
                <a:solidFill>
                  <a:srgbClr val="ECE8E1"/>
                </a:solidFill>
                <a:latin typeface="Courier New"/>
              </a:rPr>
              <a:t/>
            </a:r>
          </a:p>
          <a:p>
            <a:pPr algn="l">
              <a:lnSpc>
                <a:spcPct val="150000"/>
              </a:lnSpc>
              <a:spcBef>
                <a:spcPts val="0"/>
              </a:spcBef>
              <a:spcAft>
                <a:spcPts val="0"/>
              </a:spcAft>
            </a:pPr>
            <a:r>
              <a:rPr sz="1150" b="0" i="0">
                <a:solidFill>
                  <a:srgbClr val="8CBB99"/>
                </a:solidFill>
                <a:latin typeface="Courier New"/>
              </a:rPr>
              <a:t>    shared/                   </a:t>
            </a:r>
            <a:r>
              <a:rPr sz="1150" b="0" i="0">
                <a:solidFill>
                  <a:srgbClr val="ECE8E1"/>
                </a:solidFill>
                <a:latin typeface="Courier New"/>
              </a:rPr>
              <a:t>header, checkout, guards</a:t>
            </a:r>
          </a:p>
          <a:p>
            <a:pPr algn="l">
              <a:lnSpc>
                <a:spcPct val="150000"/>
              </a:lnSpc>
              <a:spcBef>
                <a:spcPts val="0"/>
              </a:spcBef>
              <a:spcAft>
                <a:spcPts val="0"/>
              </a:spcAft>
            </a:pPr>
            <a:r>
              <a:rPr sz="1150" b="0" i="0">
                <a:solidFill>
                  <a:srgbClr val="8CBB99"/>
                </a:solidFill>
                <a:latin typeface="Courier New"/>
              </a:rPr>
              <a:t>    services/                 </a:t>
            </a:r>
            <a:r>
              <a:rPr sz="1150" b="0" i="0">
                <a:solidFill>
                  <a:srgbClr val="ECE8E1"/>
                </a:solidFill>
                <a:latin typeface="Courier New"/>
              </a:rPr>
              <a:t>external API clients</a:t>
            </a:r>
          </a:p>
          <a:p>
            <a:pPr algn="l">
              <a:lnSpc>
                <a:spcPct val="150000"/>
              </a:lnSpc>
              <a:spcBef>
                <a:spcPts val="0"/>
              </a:spcBef>
              <a:spcAft>
                <a:spcPts val="0"/>
              </a:spcAft>
            </a:pPr>
            <a:r>
              <a:rPr sz="1150" b="0" i="0">
                <a:solidFill>
                  <a:srgbClr val="8CBB99"/>
                </a:solidFill>
                <a:latin typeface="Courier New"/>
              </a:rPr>
              <a:t>  server/                     </a:t>
            </a:r>
            <a:r>
              <a:rPr sz="1150" b="0" i="0">
                <a:solidFill>
                  <a:srgbClr val="ECE8E1"/>
                </a:solidFill>
                <a:latin typeface="Courier New"/>
              </a:rPr>
              <a:t>Express backend</a:t>
            </a:r>
          </a:p>
          <a:p>
            <a:pPr algn="l">
              <a:lnSpc>
                <a:spcPct val="150000"/>
              </a:lnSpc>
              <a:spcBef>
                <a:spcPts val="0"/>
              </a:spcBef>
              <a:spcAft>
                <a:spcPts val="0"/>
              </a:spcAft>
            </a:pPr>
            <a:r>
              <a:rPr sz="1150" b="0" i="0">
                <a:solidFill>
                  <a:srgbClr val="8CBB99"/>
                </a:solidFill>
                <a:latin typeface="Courier New"/>
              </a:rPr>
              <a:t>    routes/                   </a:t>
            </a:r>
            <a:r>
              <a:rPr sz="1150" b="0" i="0">
                <a:solidFill>
                  <a:srgbClr val="ECE8E1"/>
                </a:solidFill>
                <a:latin typeface="Courier New"/>
              </a:rPr>
              <a:t>17 route modules</a:t>
            </a:r>
          </a:p>
          <a:p>
            <a:pPr algn="l">
              <a:lnSpc>
                <a:spcPct val="150000"/>
              </a:lnSpc>
              <a:spcBef>
                <a:spcPts val="0"/>
              </a:spcBef>
              <a:spcAft>
                <a:spcPts val="0"/>
              </a:spcAft>
            </a:pPr>
            <a:r>
              <a:rPr sz="1150" b="0" i="0">
                <a:solidFill>
                  <a:srgbClr val="8CBB99"/>
                </a:solidFill>
                <a:latin typeface="Courier New"/>
              </a:rPr>
              <a:t>    controllers/              </a:t>
            </a:r>
            <a:r>
              <a:rPr sz="1150" b="0" i="0">
                <a:solidFill>
                  <a:srgbClr val="ECE8E1"/>
                </a:solidFill>
                <a:latin typeface="Courier New"/>
              </a:rPr>
              <a:t>17 controllers</a:t>
            </a:r>
          </a:p>
          <a:p>
            <a:pPr algn="l">
              <a:lnSpc>
                <a:spcPct val="150000"/>
              </a:lnSpc>
              <a:spcBef>
                <a:spcPts val="0"/>
              </a:spcBef>
              <a:spcAft>
                <a:spcPts val="0"/>
              </a:spcAft>
            </a:pPr>
            <a:r>
              <a:rPr sz="1150" b="0" i="0">
                <a:solidFill>
                  <a:srgbClr val="8CBB99"/>
                </a:solidFill>
                <a:latin typeface="Courier New"/>
              </a:rPr>
              <a:t>    services/                 </a:t>
            </a:r>
            <a:r>
              <a:rPr sz="1150" b="0" i="0">
                <a:solidFill>
                  <a:srgbClr val="ECE8E1"/>
                </a:solidFill>
                <a:latin typeface="Courier New"/>
              </a:rPr>
              <a:t>cart, wishlist, orders</a:t>
            </a:r>
          </a:p>
          <a:p>
            <a:pPr algn="l">
              <a:lnSpc>
                <a:spcPct val="150000"/>
              </a:lnSpc>
              <a:spcBef>
                <a:spcPts val="0"/>
              </a:spcBef>
              <a:spcAft>
                <a:spcPts val="0"/>
              </a:spcAft>
            </a:pPr>
            <a:r>
              <a:rPr sz="1150" b="0" i="0">
                <a:solidFill>
                  <a:srgbClr val="8CBB99"/>
                </a:solidFill>
                <a:latin typeface="Courier New"/>
              </a:rPr>
              <a:t>    middlewares/              </a:t>
            </a:r>
            <a:r>
              <a:rPr sz="1150" b="0" i="0">
                <a:solidFill>
                  <a:srgbClr val="ECE8E1"/>
                </a:solidFill>
                <a:latin typeface="Courier New"/>
              </a:rPr>
              <a:t>verifyJWT, requireAdmin</a:t>
            </a:r>
          </a:p>
          <a:p>
            <a:pPr algn="l">
              <a:lnSpc>
                <a:spcPct val="150000"/>
              </a:lnSpc>
              <a:spcBef>
                <a:spcPts val="0"/>
              </a:spcBef>
              <a:spcAft>
                <a:spcPts val="0"/>
              </a:spcAft>
            </a:pPr>
            <a:r>
              <a:rPr sz="1150" b="0" i="0">
                <a:solidFill>
                  <a:srgbClr val="8CBB99"/>
                </a:solidFill>
                <a:latin typeface="Courier New"/>
              </a:rPr>
              <a:t>  prisma/                     </a:t>
            </a:r>
            <a:r>
              <a:rPr sz="1150" b="0" i="0">
                <a:solidFill>
                  <a:srgbClr val="ECE8E1"/>
                </a:solidFill>
                <a:latin typeface="Courier New"/>
              </a:rPr>
              <a:t>schema, seed, migrations</a:t>
            </a:r>
          </a:p>
        </p:txBody>
      </p:sp>
      <p:sp>
        <p:nvSpPr>
          <p:cNvPr id="9" name="Rounded Rectangle 8"/>
          <p:cNvSpPr/>
          <p:nvPr/>
        </p:nvSpPr>
        <p:spPr>
          <a:xfrm>
            <a:off x="6291072" y="2077973"/>
            <a:ext cx="5184648" cy="3483000"/>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91072" y="2077973"/>
            <a:ext cx="50292" cy="3483000"/>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47104" y="2279141"/>
            <a:ext cx="4745736" cy="1133856"/>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ORGANIZATION</a:t>
            </a:r>
          </a:p>
          <a:p>
            <a:pPr algn="l">
              <a:lnSpc>
                <a:spcPct val="110000"/>
              </a:lnSpc>
              <a:spcBef>
                <a:spcPts val="0"/>
              </a:spcBef>
              <a:spcAft>
                <a:spcPts val="0"/>
              </a:spcAft>
            </a:pPr>
            <a:r>
              <a:rPr sz="1600" b="1" i="0">
                <a:solidFill>
                  <a:srgbClr val="182A21"/>
                </a:solidFill>
                <a:latin typeface="Trebuchet MS"/>
              </a:rPr>
              <a:t>How the layers divide</a:t>
            </a:r>
          </a:p>
        </p:txBody>
      </p:sp>
      <p:sp>
        <p:nvSpPr>
          <p:cNvPr id="12" name="TextBox 11"/>
          <p:cNvSpPr txBox="1"/>
          <p:nvPr/>
        </p:nvSpPr>
        <p:spPr>
          <a:xfrm>
            <a:off x="6547104" y="2864357"/>
            <a:ext cx="4709160" cy="365760"/>
          </a:xfrm>
          <a:prstGeom prst="rect">
            <a:avLst/>
          </a:prstGeom>
          <a:noFill/>
        </p:spPr>
        <p:txBody>
          <a:bodyPr wrap="square" lIns="0" rIns="0" tIns="0" bIns="0" anchor="t">
            <a:spAutoFit/>
          </a:bodyPr>
          <a:lstStyle/>
          <a:p>
            <a:pPr algn="l" marL="187452" indent="-187452">
              <a:lnSpc>
                <a:spcPct val="126000"/>
              </a:lnSpc>
              <a:spcBef>
                <a:spcPts val="0"/>
              </a:spcBef>
              <a:spcAft>
                <a:spcPts val="0"/>
              </a:spcAft>
            </a:pPr>
            <a:r>
              <a:rPr sz="1150" b="1" i="0">
                <a:solidFill>
                  <a:srgbClr val="C1943C"/>
                </a:solidFill>
                <a:latin typeface="Tahoma"/>
              </a:rPr>
              <a:t>▪   </a:t>
            </a:r>
            <a:r>
              <a:rPr sz="1150" b="1" i="0">
                <a:solidFill>
                  <a:srgbClr val="182A21"/>
                </a:solidFill>
                <a:latin typeface="Tahoma"/>
              </a:rPr>
              <a:t>Routes  </a:t>
            </a:r>
            <a:r>
              <a:rPr sz="1150" b="0" i="0">
                <a:solidFill>
                  <a:srgbClr val="232E27"/>
                </a:solidFill>
                <a:latin typeface="Tahoma"/>
              </a:rPr>
              <a:t>declare paths and middleware only, nothing else</a:t>
            </a:r>
          </a:p>
          <a:p>
            <a:pPr algn="l" marL="187452" indent="-187452">
              <a:lnSpc>
                <a:spcPct val="126000"/>
              </a:lnSpc>
              <a:spcBef>
                <a:spcPts val="1000"/>
              </a:spcBef>
              <a:spcAft>
                <a:spcPts val="0"/>
              </a:spcAft>
            </a:pPr>
            <a:r>
              <a:rPr sz="1150" b="1" i="0">
                <a:solidFill>
                  <a:srgbClr val="C1943C"/>
                </a:solidFill>
                <a:latin typeface="Tahoma"/>
              </a:rPr>
              <a:t>▪   </a:t>
            </a:r>
            <a:r>
              <a:rPr sz="1150" b="1" i="0">
                <a:solidFill>
                  <a:srgbClr val="182A21"/>
                </a:solidFill>
                <a:latin typeface="Tahoma"/>
              </a:rPr>
              <a:t>Controllers  </a:t>
            </a:r>
            <a:r>
              <a:rPr sz="1150" b="0" i="0">
                <a:solidFill>
                  <a:srgbClr val="232E27"/>
                </a:solidFill>
                <a:latin typeface="Tahoma"/>
              </a:rPr>
              <a:t>handle the request and the response</a:t>
            </a:r>
          </a:p>
          <a:p>
            <a:pPr algn="l" marL="187452" indent="-187452">
              <a:lnSpc>
                <a:spcPct val="126000"/>
              </a:lnSpc>
              <a:spcBef>
                <a:spcPts val="1000"/>
              </a:spcBef>
              <a:spcAft>
                <a:spcPts val="0"/>
              </a:spcAft>
            </a:pPr>
            <a:r>
              <a:rPr sz="1150" b="1" i="0">
                <a:solidFill>
                  <a:srgbClr val="C1943C"/>
                </a:solidFill>
                <a:latin typeface="Tahoma"/>
              </a:rPr>
              <a:t>▪   </a:t>
            </a:r>
            <a:r>
              <a:rPr sz="1150" b="1" i="0">
                <a:solidFill>
                  <a:srgbClr val="182A21"/>
                </a:solidFill>
                <a:latin typeface="Tahoma"/>
              </a:rPr>
              <a:t>Services  </a:t>
            </a:r>
            <a:r>
              <a:rPr sz="1150" b="0" i="0">
                <a:solidFill>
                  <a:srgbClr val="232E27"/>
                </a:solidFill>
                <a:latin typeface="Tahoma"/>
              </a:rPr>
              <a:t>hold reusable database logic, so cart mutation is written once and called from cart, wishlist and checkout</a:t>
            </a:r>
          </a:p>
          <a:p>
            <a:pPr algn="l" marL="187452" indent="-187452">
              <a:lnSpc>
                <a:spcPct val="126000"/>
              </a:lnSpc>
              <a:spcBef>
                <a:spcPts val="1000"/>
              </a:spcBef>
              <a:spcAft>
                <a:spcPts val="0"/>
              </a:spcAft>
            </a:pPr>
            <a:r>
              <a:rPr sz="1150" b="1" i="0">
                <a:solidFill>
                  <a:srgbClr val="C1943C"/>
                </a:solidFill>
                <a:latin typeface="Tahoma"/>
              </a:rPr>
              <a:t>▪   </a:t>
            </a:r>
            <a:r>
              <a:rPr sz="1150" b="1" i="0">
                <a:solidFill>
                  <a:srgbClr val="182A21"/>
                </a:solidFill>
                <a:latin typeface="Tahoma"/>
              </a:rPr>
              <a:t>Pages  </a:t>
            </a:r>
            <a:r>
              <a:rPr sz="1150" b="0" i="0">
                <a:solidFill>
                  <a:srgbClr val="232E27"/>
                </a:solidFill>
                <a:latin typeface="Tahoma"/>
              </a:rPr>
              <a:t>co-locate their UI, handlers and interfaces; shared concerns such as the header, checkout and route guards sit under shared/</a:t>
            </a:r>
          </a:p>
          <a:p>
            <a:pPr algn="l" marL="187452" indent="-187452">
              <a:lnSpc>
                <a:spcPct val="126000"/>
              </a:lnSpc>
              <a:spcBef>
                <a:spcPts val="1000"/>
              </a:spcBef>
              <a:spcAft>
                <a:spcPts val="0"/>
              </a:spcAft>
            </a:pPr>
            <a:r>
              <a:rPr sz="1150" b="1" i="0">
                <a:solidFill>
                  <a:srgbClr val="C1943C"/>
                </a:solidFill>
                <a:latin typeface="Tahoma"/>
              </a:rPr>
              <a:t>▪   </a:t>
            </a:r>
            <a:r>
              <a:rPr sz="1150" b="1" i="0">
                <a:solidFill>
                  <a:srgbClr val="182A21"/>
                </a:solidFill>
                <a:latin typeface="Tahoma"/>
              </a:rPr>
              <a:t>Transport  </a:t>
            </a:r>
            <a:r>
              <a:rPr sz="1150" b="0" i="0">
                <a:solidFill>
                  <a:srgbClr val="232E27"/>
                </a:solidFill>
                <a:latin typeface="Tahoma"/>
              </a:rPr>
              <a:t>one configured axios client per environment, credentials sent on every request</a:t>
            </a:r>
          </a:p>
        </p:txBody>
      </p:sp>
      <p:sp>
        <p:nvSpPr>
          <p:cNvPr id="13" name="Rectangle 12"/>
          <p:cNvSpPr/>
          <p:nvPr/>
        </p:nvSpPr>
        <p:spPr>
          <a:xfrm>
            <a:off x="713232" y="6272784"/>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13232" y="6382512"/>
            <a:ext cx="54864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6E7A72"/>
                </a:solidFill>
                <a:latin typeface="Trebuchet MS"/>
              </a:rPr>
              <a:t>TrailBlaze</a:t>
            </a:r>
            <a:r>
              <a:rPr sz="950" b="0" i="0">
                <a:solidFill>
                  <a:srgbClr val="6E7A72"/>
                </a:solidFill>
                <a:latin typeface="Trebuchet MS"/>
              </a:rPr>
              <a:t>   |   Hiking E-Commerce and Trail Discovery</a:t>
            </a:r>
          </a:p>
        </p:txBody>
      </p:sp>
      <p:sp>
        <p:nvSpPr>
          <p:cNvPr id="15" name="TextBox 14"/>
          <p:cNvSpPr txBox="1"/>
          <p:nvPr/>
        </p:nvSpPr>
        <p:spPr>
          <a:xfrm>
            <a:off x="10515600" y="6382512"/>
            <a:ext cx="964692" cy="274320"/>
          </a:xfrm>
          <a:prstGeom prst="rect">
            <a:avLst/>
          </a:prstGeom>
          <a:noFill/>
        </p:spPr>
        <p:txBody>
          <a:bodyPr wrap="square" lIns="0" rIns="0" tIns="0" bIns="0" anchor="t">
            <a:spAutoFit/>
          </a:bodyPr>
          <a:lstStyle/>
          <a:p>
            <a:pPr algn="r">
              <a:lnSpc>
                <a:spcPct val="122000"/>
              </a:lnSpc>
              <a:spcBef>
                <a:spcPts val="0"/>
              </a:spcBef>
              <a:spcAft>
                <a:spcPts val="0"/>
              </a:spcAft>
            </a:pPr>
            <a:r>
              <a:rPr sz="950" b="1" i="0">
                <a:solidFill>
                  <a:srgbClr val="6E7A72"/>
                </a:solidFill>
                <a:latin typeface="Trebuchet M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8888" cy="237744"/>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4F8A63"/>
                </a:solidFill>
                <a:latin typeface="Trebuchet MS"/>
              </a:rPr>
              <a:t>PERSISTENCE</a:t>
            </a:r>
          </a:p>
        </p:txBody>
      </p:sp>
      <p:sp>
        <p:nvSpPr>
          <p:cNvPr id="4" name="TextBox 3"/>
          <p:cNvSpPr txBox="1"/>
          <p:nvPr/>
        </p:nvSpPr>
        <p:spPr>
          <a:xfrm>
            <a:off x="713232" y="749808"/>
            <a:ext cx="10768888"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82A21"/>
                </a:solidFill>
                <a:latin typeface="Trebuchet MS"/>
              </a:rPr>
              <a:t>Data model</a:t>
            </a:r>
          </a:p>
        </p:txBody>
      </p:sp>
      <p:sp>
        <p:nvSpPr>
          <p:cNvPr id="5" name="Rectangle 4"/>
          <p:cNvSpPr/>
          <p:nvPr/>
        </p:nvSpPr>
        <p:spPr>
          <a:xfrm>
            <a:off x="713232" y="1389888"/>
            <a:ext cx="566928"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572768"/>
            <a:ext cx="9509760" cy="36576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6E7A72"/>
                </a:solidFill>
                <a:latin typeface="Tahoma"/>
              </a:rPr>
              <a:t>Nine Prisma models over PostgreSQL. Cart and Wishlist are one-to-one with User; Order keeps its own line items so history survives catalogue edits.</a:t>
            </a:r>
          </a:p>
        </p:txBody>
      </p:sp>
      <p:sp>
        <p:nvSpPr>
          <p:cNvPr id="7" name="Rounded Rectangle 6"/>
          <p:cNvSpPr/>
          <p:nvPr/>
        </p:nvSpPr>
        <p:spPr>
          <a:xfrm>
            <a:off x="713232" y="2345435"/>
            <a:ext cx="2587752" cy="1905304"/>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13232" y="2345435"/>
            <a:ext cx="50292" cy="1905304"/>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9264" y="2546603"/>
            <a:ext cx="2148840" cy="1408176"/>
          </a:xfrm>
          <a:prstGeom prst="rect">
            <a:avLst/>
          </a:prstGeom>
          <a:noFill/>
        </p:spPr>
        <p:txBody>
          <a:bodyPr wrap="square" lIns="0" rIns="0" tIns="0" bIns="0" anchor="t">
            <a:spAutoFit/>
          </a:bodyPr>
          <a:lstStyle/>
          <a:p>
            <a:pPr algn="l">
              <a:lnSpc>
                <a:spcPct val="110000"/>
              </a:lnSpc>
              <a:spcBef>
                <a:spcPts val="0"/>
              </a:spcBef>
              <a:spcAft>
                <a:spcPts val="0"/>
              </a:spcAft>
            </a:pPr>
            <a:r>
              <a:rPr sz="1500" b="1" i="0">
                <a:solidFill>
                  <a:srgbClr val="182A21"/>
                </a:solidFill>
                <a:latin typeface="Trebuchet MS"/>
              </a:rPr>
              <a:t>Identity</a:t>
            </a:r>
          </a:p>
        </p:txBody>
      </p:sp>
      <p:sp>
        <p:nvSpPr>
          <p:cNvPr id="10" name="TextBox 9"/>
          <p:cNvSpPr txBox="1"/>
          <p:nvPr/>
        </p:nvSpPr>
        <p:spPr>
          <a:xfrm>
            <a:off x="969264" y="3003803"/>
            <a:ext cx="2130552" cy="914400"/>
          </a:xfrm>
          <a:prstGeom prst="rect">
            <a:avLst/>
          </a:prstGeom>
          <a:noFill/>
        </p:spPr>
        <p:txBody>
          <a:bodyPr wrap="square" lIns="0" rIns="0" tIns="0" bIns="0" anchor="t">
            <a:spAutoFit/>
          </a:bodyPr>
          <a:lstStyle/>
          <a:p>
            <a:pPr algn="l">
              <a:lnSpc>
                <a:spcPct val="122000"/>
              </a:lnSpc>
              <a:spcBef>
                <a:spcPts val="0"/>
              </a:spcBef>
              <a:spcAft>
                <a:spcPts val="0"/>
              </a:spcAft>
            </a:pPr>
            <a:r>
              <a:rPr sz="1150" b="0" i="0">
                <a:solidFill>
                  <a:srgbClr val="232E27"/>
                </a:solidFill>
                <a:latin typeface="Courier New"/>
              </a:rPr>
              <a:t>User</a:t>
            </a:r>
          </a:p>
          <a:p>
            <a:pPr algn="l">
              <a:lnSpc>
                <a:spcPct val="122000"/>
              </a:lnSpc>
              <a:spcBef>
                <a:spcPts val="500"/>
              </a:spcBef>
              <a:spcAft>
                <a:spcPts val="0"/>
              </a:spcAft>
            </a:pPr>
            <a:r>
              <a:rPr sz="1150" b="0" i="0">
                <a:solidFill>
                  <a:srgbClr val="232E27"/>
                </a:solidFill>
                <a:latin typeface="Courier New"/>
              </a:rPr>
              <a:t>DeliveryAddress</a:t>
            </a:r>
          </a:p>
        </p:txBody>
      </p:sp>
      <p:sp>
        <p:nvSpPr>
          <p:cNvPr id="11" name="Rounded Rectangle 10"/>
          <p:cNvSpPr/>
          <p:nvPr/>
        </p:nvSpPr>
        <p:spPr>
          <a:xfrm>
            <a:off x="3447288" y="2345435"/>
            <a:ext cx="2587752" cy="1905304"/>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447288" y="2345435"/>
            <a:ext cx="50292" cy="1905304"/>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703320" y="2546603"/>
            <a:ext cx="2148840" cy="1408176"/>
          </a:xfrm>
          <a:prstGeom prst="rect">
            <a:avLst/>
          </a:prstGeom>
          <a:noFill/>
        </p:spPr>
        <p:txBody>
          <a:bodyPr wrap="square" lIns="0" rIns="0" tIns="0" bIns="0" anchor="t">
            <a:spAutoFit/>
          </a:bodyPr>
          <a:lstStyle/>
          <a:p>
            <a:pPr algn="l">
              <a:lnSpc>
                <a:spcPct val="110000"/>
              </a:lnSpc>
              <a:spcBef>
                <a:spcPts val="0"/>
              </a:spcBef>
              <a:spcAft>
                <a:spcPts val="0"/>
              </a:spcAft>
            </a:pPr>
            <a:r>
              <a:rPr sz="1500" b="1" i="0">
                <a:solidFill>
                  <a:srgbClr val="182A21"/>
                </a:solidFill>
                <a:latin typeface="Trebuchet MS"/>
              </a:rPr>
              <a:t>Catalogue</a:t>
            </a:r>
          </a:p>
        </p:txBody>
      </p:sp>
      <p:sp>
        <p:nvSpPr>
          <p:cNvPr id="14" name="TextBox 13"/>
          <p:cNvSpPr txBox="1"/>
          <p:nvPr/>
        </p:nvSpPr>
        <p:spPr>
          <a:xfrm>
            <a:off x="3703320" y="3003803"/>
            <a:ext cx="2130552" cy="914400"/>
          </a:xfrm>
          <a:prstGeom prst="rect">
            <a:avLst/>
          </a:prstGeom>
          <a:noFill/>
        </p:spPr>
        <p:txBody>
          <a:bodyPr wrap="square" lIns="0" rIns="0" tIns="0" bIns="0" anchor="t">
            <a:spAutoFit/>
          </a:bodyPr>
          <a:lstStyle/>
          <a:p>
            <a:pPr algn="l">
              <a:lnSpc>
                <a:spcPct val="122000"/>
              </a:lnSpc>
              <a:spcBef>
                <a:spcPts val="0"/>
              </a:spcBef>
              <a:spcAft>
                <a:spcPts val="0"/>
              </a:spcAft>
            </a:pPr>
            <a:r>
              <a:rPr sz="1150" b="0" i="0">
                <a:solidFill>
                  <a:srgbClr val="232E27"/>
                </a:solidFill>
                <a:latin typeface="Courier New"/>
              </a:rPr>
              <a:t>Product</a:t>
            </a:r>
          </a:p>
        </p:txBody>
      </p:sp>
      <p:sp>
        <p:nvSpPr>
          <p:cNvPr id="15" name="Rounded Rectangle 14"/>
          <p:cNvSpPr/>
          <p:nvPr/>
        </p:nvSpPr>
        <p:spPr>
          <a:xfrm>
            <a:off x="6181344" y="2345435"/>
            <a:ext cx="2587752" cy="1905304"/>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181344" y="2345435"/>
            <a:ext cx="50292" cy="1905304"/>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37376" y="2546603"/>
            <a:ext cx="2148840" cy="1408176"/>
          </a:xfrm>
          <a:prstGeom prst="rect">
            <a:avLst/>
          </a:prstGeom>
          <a:noFill/>
        </p:spPr>
        <p:txBody>
          <a:bodyPr wrap="square" lIns="0" rIns="0" tIns="0" bIns="0" anchor="t">
            <a:spAutoFit/>
          </a:bodyPr>
          <a:lstStyle/>
          <a:p>
            <a:pPr algn="l">
              <a:lnSpc>
                <a:spcPct val="110000"/>
              </a:lnSpc>
              <a:spcBef>
                <a:spcPts val="0"/>
              </a:spcBef>
              <a:spcAft>
                <a:spcPts val="0"/>
              </a:spcAft>
            </a:pPr>
            <a:r>
              <a:rPr sz="1500" b="1" i="0">
                <a:solidFill>
                  <a:srgbClr val="182A21"/>
                </a:solidFill>
                <a:latin typeface="Trebuchet MS"/>
              </a:rPr>
              <a:t>Session state</a:t>
            </a:r>
          </a:p>
        </p:txBody>
      </p:sp>
      <p:sp>
        <p:nvSpPr>
          <p:cNvPr id="18" name="TextBox 17"/>
          <p:cNvSpPr txBox="1"/>
          <p:nvPr/>
        </p:nvSpPr>
        <p:spPr>
          <a:xfrm>
            <a:off x="6437376" y="3003803"/>
            <a:ext cx="2130552" cy="914400"/>
          </a:xfrm>
          <a:prstGeom prst="rect">
            <a:avLst/>
          </a:prstGeom>
          <a:noFill/>
        </p:spPr>
        <p:txBody>
          <a:bodyPr wrap="square" lIns="0" rIns="0" tIns="0" bIns="0" anchor="t">
            <a:spAutoFit/>
          </a:bodyPr>
          <a:lstStyle/>
          <a:p>
            <a:pPr algn="l">
              <a:lnSpc>
                <a:spcPct val="122000"/>
              </a:lnSpc>
              <a:spcBef>
                <a:spcPts val="0"/>
              </a:spcBef>
              <a:spcAft>
                <a:spcPts val="0"/>
              </a:spcAft>
            </a:pPr>
            <a:r>
              <a:rPr sz="1150" b="0" i="0">
                <a:solidFill>
                  <a:srgbClr val="232E27"/>
                </a:solidFill>
                <a:latin typeface="Courier New"/>
              </a:rPr>
              <a:t>Cart</a:t>
            </a:r>
          </a:p>
          <a:p>
            <a:pPr algn="l">
              <a:lnSpc>
                <a:spcPct val="122000"/>
              </a:lnSpc>
              <a:spcBef>
                <a:spcPts val="500"/>
              </a:spcBef>
              <a:spcAft>
                <a:spcPts val="0"/>
              </a:spcAft>
            </a:pPr>
            <a:r>
              <a:rPr sz="1150" b="0" i="0">
                <a:solidFill>
                  <a:srgbClr val="232E27"/>
                </a:solidFill>
                <a:latin typeface="Courier New"/>
              </a:rPr>
              <a:t>CartItem</a:t>
            </a:r>
          </a:p>
          <a:p>
            <a:pPr algn="l">
              <a:lnSpc>
                <a:spcPct val="122000"/>
              </a:lnSpc>
              <a:spcBef>
                <a:spcPts val="500"/>
              </a:spcBef>
              <a:spcAft>
                <a:spcPts val="0"/>
              </a:spcAft>
            </a:pPr>
            <a:r>
              <a:rPr sz="1150" b="0" i="0">
                <a:solidFill>
                  <a:srgbClr val="232E27"/>
                </a:solidFill>
                <a:latin typeface="Courier New"/>
              </a:rPr>
              <a:t>Wishlist</a:t>
            </a:r>
          </a:p>
          <a:p>
            <a:pPr algn="l">
              <a:lnSpc>
                <a:spcPct val="122000"/>
              </a:lnSpc>
              <a:spcBef>
                <a:spcPts val="500"/>
              </a:spcBef>
              <a:spcAft>
                <a:spcPts val="0"/>
              </a:spcAft>
            </a:pPr>
            <a:r>
              <a:rPr sz="1150" b="0" i="0">
                <a:solidFill>
                  <a:srgbClr val="232E27"/>
                </a:solidFill>
                <a:latin typeface="Courier New"/>
              </a:rPr>
              <a:t>WishlistItem</a:t>
            </a:r>
          </a:p>
        </p:txBody>
      </p:sp>
      <p:sp>
        <p:nvSpPr>
          <p:cNvPr id="19" name="Rounded Rectangle 18"/>
          <p:cNvSpPr/>
          <p:nvPr/>
        </p:nvSpPr>
        <p:spPr>
          <a:xfrm>
            <a:off x="8915400" y="2345435"/>
            <a:ext cx="2587752" cy="1905304"/>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915400" y="2345435"/>
            <a:ext cx="50292" cy="1905304"/>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171432" y="2546603"/>
            <a:ext cx="2148840" cy="1408176"/>
          </a:xfrm>
          <a:prstGeom prst="rect">
            <a:avLst/>
          </a:prstGeom>
          <a:noFill/>
        </p:spPr>
        <p:txBody>
          <a:bodyPr wrap="square" lIns="0" rIns="0" tIns="0" bIns="0" anchor="t">
            <a:spAutoFit/>
          </a:bodyPr>
          <a:lstStyle/>
          <a:p>
            <a:pPr algn="l">
              <a:lnSpc>
                <a:spcPct val="110000"/>
              </a:lnSpc>
              <a:spcBef>
                <a:spcPts val="0"/>
              </a:spcBef>
              <a:spcAft>
                <a:spcPts val="0"/>
              </a:spcAft>
            </a:pPr>
            <a:r>
              <a:rPr sz="1500" b="1" i="0">
                <a:solidFill>
                  <a:srgbClr val="182A21"/>
                </a:solidFill>
                <a:latin typeface="Trebuchet MS"/>
              </a:rPr>
              <a:t>Fulfilment</a:t>
            </a:r>
          </a:p>
        </p:txBody>
      </p:sp>
      <p:sp>
        <p:nvSpPr>
          <p:cNvPr id="22" name="TextBox 21"/>
          <p:cNvSpPr txBox="1"/>
          <p:nvPr/>
        </p:nvSpPr>
        <p:spPr>
          <a:xfrm>
            <a:off x="9171432" y="3003803"/>
            <a:ext cx="2130552" cy="914400"/>
          </a:xfrm>
          <a:prstGeom prst="rect">
            <a:avLst/>
          </a:prstGeom>
          <a:noFill/>
        </p:spPr>
        <p:txBody>
          <a:bodyPr wrap="square" lIns="0" rIns="0" tIns="0" bIns="0" anchor="t">
            <a:spAutoFit/>
          </a:bodyPr>
          <a:lstStyle/>
          <a:p>
            <a:pPr algn="l">
              <a:lnSpc>
                <a:spcPct val="122000"/>
              </a:lnSpc>
              <a:spcBef>
                <a:spcPts val="0"/>
              </a:spcBef>
              <a:spcAft>
                <a:spcPts val="0"/>
              </a:spcAft>
            </a:pPr>
            <a:r>
              <a:rPr sz="1150" b="0" i="0">
                <a:solidFill>
                  <a:srgbClr val="232E27"/>
                </a:solidFill>
                <a:latin typeface="Courier New"/>
              </a:rPr>
              <a:t>Order</a:t>
            </a:r>
          </a:p>
          <a:p>
            <a:pPr algn="l">
              <a:lnSpc>
                <a:spcPct val="122000"/>
              </a:lnSpc>
              <a:spcBef>
                <a:spcPts val="500"/>
              </a:spcBef>
              <a:spcAft>
                <a:spcPts val="0"/>
              </a:spcAft>
            </a:pPr>
            <a:r>
              <a:rPr sz="1150" b="0" i="0">
                <a:solidFill>
                  <a:srgbClr val="232E27"/>
                </a:solidFill>
                <a:latin typeface="Courier New"/>
              </a:rPr>
              <a:t>OrderItem</a:t>
            </a:r>
          </a:p>
        </p:txBody>
      </p:sp>
      <p:sp>
        <p:nvSpPr>
          <p:cNvPr id="23" name="TextBox 22"/>
          <p:cNvSpPr txBox="1"/>
          <p:nvPr/>
        </p:nvSpPr>
        <p:spPr>
          <a:xfrm>
            <a:off x="713232" y="4470195"/>
            <a:ext cx="5212080" cy="1645920"/>
          </a:xfrm>
          <a:prstGeom prst="rect">
            <a:avLst/>
          </a:prstGeom>
          <a:noFill/>
        </p:spPr>
        <p:txBody>
          <a:bodyPr wrap="square" lIns="0" rIns="0" tIns="0" bIns="0" anchor="t">
            <a:spAutoFit/>
          </a:bodyPr>
          <a:lstStyle/>
          <a:p>
            <a:pPr algn="l">
              <a:lnSpc>
                <a:spcPct val="122000"/>
              </a:lnSpc>
              <a:spcBef>
                <a:spcPts val="0"/>
              </a:spcBef>
              <a:spcAft>
                <a:spcPts val="800"/>
              </a:spcAft>
            </a:pPr>
            <a:r>
              <a:rPr sz="950" b="1" i="0">
                <a:solidFill>
                  <a:srgbClr val="4F8A63"/>
                </a:solidFill>
                <a:latin typeface="Trebuchet MS"/>
              </a:rPr>
              <a:t>DESIGN DECISIONS</a:t>
            </a:r>
          </a:p>
        </p:txBody>
      </p:sp>
      <p:sp>
        <p:nvSpPr>
          <p:cNvPr id="24" name="TextBox 23"/>
          <p:cNvSpPr txBox="1"/>
          <p:nvPr/>
        </p:nvSpPr>
        <p:spPr>
          <a:xfrm>
            <a:off x="713232" y="4762803"/>
            <a:ext cx="5120640" cy="365760"/>
          </a:xfrm>
          <a:prstGeom prst="rect">
            <a:avLst/>
          </a:prstGeom>
          <a:noFill/>
        </p:spPr>
        <p:txBody>
          <a:bodyPr wrap="square" lIns="0" rIns="0" tIns="0" bIns="0" anchor="t">
            <a:spAutoFit/>
          </a:bodyPr>
          <a:lstStyle/>
          <a:p>
            <a:pPr algn="l" marL="187452" indent="-187452">
              <a:lnSpc>
                <a:spcPct val="126000"/>
              </a:lnSpc>
              <a:spcBef>
                <a:spcPts val="0"/>
              </a:spcBef>
              <a:spcAft>
                <a:spcPts val="0"/>
              </a:spcAft>
            </a:pPr>
            <a:r>
              <a:rPr sz="1150" b="1" i="0">
                <a:solidFill>
                  <a:srgbClr val="4F8A63"/>
                </a:solidFill>
                <a:latin typeface="Tahoma"/>
              </a:rPr>
              <a:t>▪   </a:t>
            </a:r>
            <a:r>
              <a:rPr sz="1150" b="1" i="0">
                <a:solidFill>
                  <a:srgbClr val="182A21"/>
                </a:solidFill>
                <a:latin typeface="Tahoma"/>
              </a:rPr>
              <a:t>stock is Json  </a:t>
            </a:r>
            <a:r>
              <a:rPr sz="1150" b="0" i="0">
                <a:solidFill>
                  <a:srgbClr val="232E27"/>
                </a:solidFill>
                <a:latin typeface="Tahoma"/>
              </a:rPr>
              <a:t>a size-to-quantity map; a new size needs no migration</a:t>
            </a:r>
          </a:p>
          <a:p>
            <a:pPr algn="l" marL="187452" indent="-187452">
              <a:lnSpc>
                <a:spcPct val="126000"/>
              </a:lnSpc>
              <a:spcBef>
                <a:spcPts val="900"/>
              </a:spcBef>
              <a:spcAft>
                <a:spcPts val="0"/>
              </a:spcAft>
            </a:pPr>
            <a:r>
              <a:rPr sz="1150" b="1" i="0">
                <a:solidFill>
                  <a:srgbClr val="4F8A63"/>
                </a:solidFill>
                <a:latin typeface="Tahoma"/>
              </a:rPr>
              <a:t>▪   </a:t>
            </a:r>
            <a:r>
              <a:rPr sz="1150" b="1" i="0">
                <a:solidFill>
                  <a:srgbClr val="182A21"/>
                </a:solidFill>
                <a:latin typeface="Tahoma"/>
              </a:rPr>
              <a:t>availableSizes is String[]  </a:t>
            </a:r>
            <a:r>
              <a:rPr sz="1150" b="0" i="0">
                <a:solidFill>
                  <a:srgbClr val="232E27"/>
                </a:solidFill>
                <a:latin typeface="Tahoma"/>
              </a:rPr>
              <a:t>kept in step with stock, drives filtering</a:t>
            </a:r>
          </a:p>
          <a:p>
            <a:pPr algn="l" marL="187452" indent="-187452">
              <a:lnSpc>
                <a:spcPct val="126000"/>
              </a:lnSpc>
              <a:spcBef>
                <a:spcPts val="900"/>
              </a:spcBef>
              <a:spcAft>
                <a:spcPts val="0"/>
              </a:spcAft>
            </a:pPr>
            <a:r>
              <a:rPr sz="1150" b="1" i="0">
                <a:solidFill>
                  <a:srgbClr val="4F8A63"/>
                </a:solidFill>
                <a:latin typeface="Tahoma"/>
              </a:rPr>
              <a:t>▪   </a:t>
            </a:r>
            <a:r>
              <a:rPr sz="1150" b="1" i="0">
                <a:solidFill>
                  <a:srgbClr val="182A21"/>
                </a:solidFill>
                <a:latin typeface="Tahoma"/>
              </a:rPr>
              <a:t>OrderItem stores price  </a:t>
            </a:r>
            <a:r>
              <a:rPr sz="1150" b="0" i="0">
                <a:solidFill>
                  <a:srgbClr val="232E27"/>
                </a:solidFill>
                <a:latin typeface="Tahoma"/>
              </a:rPr>
              <a:t>the paid price is frozen at purchase time</a:t>
            </a:r>
          </a:p>
          <a:p>
            <a:pPr algn="l" marL="187452" indent="-187452">
              <a:lnSpc>
                <a:spcPct val="126000"/>
              </a:lnSpc>
              <a:spcBef>
                <a:spcPts val="900"/>
              </a:spcBef>
              <a:spcAft>
                <a:spcPts val="0"/>
              </a:spcAft>
            </a:pPr>
            <a:r>
              <a:rPr sz="1150" b="1" i="0">
                <a:solidFill>
                  <a:srgbClr val="4F8A63"/>
                </a:solidFill>
                <a:latin typeface="Tahoma"/>
              </a:rPr>
              <a:t>▪   </a:t>
            </a:r>
            <a:r>
              <a:rPr sz="1150" b="1" i="0">
                <a:solidFill>
                  <a:srgbClr val="182A21"/>
                </a:solidFill>
                <a:latin typeface="Tahoma"/>
              </a:rPr>
              <a:t>role defaults to "user"  </a:t>
            </a:r>
            <a:r>
              <a:rPr sz="1150" b="0" i="0">
                <a:solidFill>
                  <a:srgbClr val="232E27"/>
                </a:solidFill>
                <a:latin typeface="Tahoma"/>
              </a:rPr>
              <a:t>admin rights are granted explicitly</a:t>
            </a:r>
          </a:p>
        </p:txBody>
      </p:sp>
      <p:sp>
        <p:nvSpPr>
          <p:cNvPr id="25" name="Rounded Rectangle 24"/>
          <p:cNvSpPr/>
          <p:nvPr/>
        </p:nvSpPr>
        <p:spPr>
          <a:xfrm>
            <a:off x="6291072" y="4470195"/>
            <a:ext cx="5184648" cy="1531615"/>
          </a:xfrm>
          <a:prstGeom prst="roundRect">
            <a:avLst>
              <a:gd name="adj" fmla="val 4000"/>
            </a:avLst>
          </a:prstGeom>
          <a:solidFill>
            <a:srgbClr val="182A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10528" y="4607355"/>
            <a:ext cx="4745736" cy="1312159"/>
          </a:xfrm>
          <a:prstGeom prst="rect">
            <a:avLst/>
          </a:prstGeom>
          <a:noFill/>
        </p:spPr>
        <p:txBody>
          <a:bodyPr wrap="square" lIns="0" rIns="0" tIns="0" bIns="0" anchor="t">
            <a:spAutoFit/>
          </a:bodyPr>
          <a:lstStyle/>
          <a:p>
            <a:pPr algn="l">
              <a:lnSpc>
                <a:spcPct val="150000"/>
              </a:lnSpc>
              <a:spcBef>
                <a:spcPts val="0"/>
              </a:spcBef>
              <a:spcAft>
                <a:spcPts val="0"/>
              </a:spcAft>
            </a:pPr>
            <a:r>
              <a:rPr sz="1100" b="0" i="0">
                <a:solidFill>
                  <a:srgbClr val="ECE8E1"/>
                </a:solidFill>
                <a:latin typeface="Courier New"/>
              </a:rPr>
              <a:t>model Product {</a:t>
            </a:r>
          </a:p>
          <a:p>
            <a:pPr algn="l">
              <a:lnSpc>
                <a:spcPct val="150000"/>
              </a:lnSpc>
              <a:spcBef>
                <a:spcPts val="0"/>
              </a:spcBef>
              <a:spcAft>
                <a:spcPts val="0"/>
              </a:spcAft>
            </a:pPr>
            <a:r>
              <a:rPr sz="1100" b="0" i="0">
                <a:solidFill>
                  <a:srgbClr val="ECE8E1"/>
                </a:solidFill>
                <a:latin typeface="Courier New"/>
              </a:rPr>
              <a:t>  availableSizes      String[]</a:t>
            </a:r>
          </a:p>
          <a:p>
            <a:pPr algn="l">
              <a:lnSpc>
                <a:spcPct val="150000"/>
              </a:lnSpc>
              <a:spcBef>
                <a:spcPts val="0"/>
              </a:spcBef>
              <a:spcAft>
                <a:spcPts val="0"/>
              </a:spcAft>
            </a:pPr>
            <a:r>
              <a:rPr sz="1100" b="0" i="0">
                <a:solidFill>
                  <a:srgbClr val="ECE8E1"/>
                </a:solidFill>
                <a:latin typeface="Courier New"/>
              </a:rPr>
              <a:t>  stock               Json   // { "M": 4, "L": 0 }</a:t>
            </a:r>
          </a:p>
          <a:p>
            <a:pPr algn="l">
              <a:lnSpc>
                <a:spcPct val="150000"/>
              </a:lnSpc>
              <a:spcBef>
                <a:spcPts val="0"/>
              </a:spcBef>
              <a:spcAft>
                <a:spcPts val="0"/>
              </a:spcAft>
            </a:pPr>
            <a:r>
              <a:rPr sz="1100" b="0" i="0">
                <a:solidFill>
                  <a:srgbClr val="ECE8E1"/>
                </a:solidFill>
                <a:latin typeface="Courier New"/>
              </a:rPr>
              <a:t>  details, sizeGuide  Json</a:t>
            </a:r>
          </a:p>
          <a:p>
            <a:pPr algn="l">
              <a:lnSpc>
                <a:spcPct val="150000"/>
              </a:lnSpc>
              <a:spcBef>
                <a:spcPts val="0"/>
              </a:spcBef>
              <a:spcAft>
                <a:spcPts val="0"/>
              </a:spcAft>
            </a:pPr>
            <a:r>
              <a:rPr sz="1100" b="0" i="0">
                <a:solidFill>
                  <a:srgbClr val="ECE8E1"/>
                </a:solidFill>
                <a:latin typeface="Courier New"/>
              </a:rPr>
              <a:t>}</a:t>
            </a:r>
          </a:p>
        </p:txBody>
      </p:sp>
      <p:sp>
        <p:nvSpPr>
          <p:cNvPr id="27" name="Rectangle 26"/>
          <p:cNvSpPr/>
          <p:nvPr/>
        </p:nvSpPr>
        <p:spPr>
          <a:xfrm>
            <a:off x="713232" y="6272784"/>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13232" y="6382512"/>
            <a:ext cx="54864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6E7A72"/>
                </a:solidFill>
                <a:latin typeface="Trebuchet MS"/>
              </a:rPr>
              <a:t>TrailBlaze</a:t>
            </a:r>
            <a:r>
              <a:rPr sz="950" b="0" i="0">
                <a:solidFill>
                  <a:srgbClr val="6E7A72"/>
                </a:solidFill>
                <a:latin typeface="Trebuchet MS"/>
              </a:rPr>
              <a:t>   |   Hiking E-Commerce and Trail Discovery</a:t>
            </a:r>
          </a:p>
        </p:txBody>
      </p:sp>
      <p:sp>
        <p:nvSpPr>
          <p:cNvPr id="29" name="TextBox 28"/>
          <p:cNvSpPr txBox="1"/>
          <p:nvPr/>
        </p:nvSpPr>
        <p:spPr>
          <a:xfrm>
            <a:off x="10515600" y="6382512"/>
            <a:ext cx="964692" cy="274320"/>
          </a:xfrm>
          <a:prstGeom prst="rect">
            <a:avLst/>
          </a:prstGeom>
          <a:noFill/>
        </p:spPr>
        <p:txBody>
          <a:bodyPr wrap="square" lIns="0" rIns="0" tIns="0" bIns="0" anchor="t">
            <a:spAutoFit/>
          </a:bodyPr>
          <a:lstStyle/>
          <a:p>
            <a:pPr algn="r">
              <a:lnSpc>
                <a:spcPct val="122000"/>
              </a:lnSpc>
              <a:spcBef>
                <a:spcPts val="0"/>
              </a:spcBef>
              <a:spcAft>
                <a:spcPts val="0"/>
              </a:spcAft>
            </a:pPr>
            <a:r>
              <a:rPr sz="950" b="1" i="0">
                <a:solidFill>
                  <a:srgbClr val="6E7A72"/>
                </a:solidFill>
                <a:latin typeface="Trebuchet M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8888" cy="237744"/>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4F8A63"/>
                </a:solidFill>
                <a:latin typeface="Trebuchet MS"/>
              </a:rPr>
              <a:t>SECURITY</a:t>
            </a:r>
          </a:p>
        </p:txBody>
      </p:sp>
      <p:sp>
        <p:nvSpPr>
          <p:cNvPr id="4" name="TextBox 3"/>
          <p:cNvSpPr txBox="1"/>
          <p:nvPr/>
        </p:nvSpPr>
        <p:spPr>
          <a:xfrm>
            <a:off x="713232" y="749808"/>
            <a:ext cx="10768888"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82A21"/>
                </a:solidFill>
                <a:latin typeface="Trebuchet MS"/>
              </a:rPr>
              <a:t>Authentication and email verification</a:t>
            </a:r>
          </a:p>
        </p:txBody>
      </p:sp>
      <p:sp>
        <p:nvSpPr>
          <p:cNvPr id="5" name="Rectangle 4"/>
          <p:cNvSpPr/>
          <p:nvPr/>
        </p:nvSpPr>
        <p:spPr>
          <a:xfrm>
            <a:off x="713232" y="1389888"/>
            <a:ext cx="566928"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572768"/>
            <a:ext cx="9509760" cy="36576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6E7A72"/>
                </a:solidFill>
                <a:latin typeface="Tahoma"/>
              </a:rPr>
              <a:t>Registration deliberately does not create a session. The account stays inactive until the emailed link is used.</a:t>
            </a:r>
          </a:p>
        </p:txBody>
      </p:sp>
      <p:sp>
        <p:nvSpPr>
          <p:cNvPr id="7" name="Rounded Rectangle 6"/>
          <p:cNvSpPr/>
          <p:nvPr/>
        </p:nvSpPr>
        <p:spPr>
          <a:xfrm>
            <a:off x="713232" y="2077973"/>
            <a:ext cx="1627174" cy="786384"/>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100" b="1" i="0">
                <a:solidFill>
                  <a:srgbClr val="182A21"/>
                </a:solidFill>
                <a:latin typeface="Trebuchet MS"/>
              </a:rPr>
              <a:t>POST /register</a:t>
            </a:r>
          </a:p>
        </p:txBody>
      </p:sp>
      <p:sp>
        <p:nvSpPr>
          <p:cNvPr id="8" name="Right Arrow 7"/>
          <p:cNvSpPr/>
          <p:nvPr/>
        </p:nvSpPr>
        <p:spPr>
          <a:xfrm>
            <a:off x="2303831" y="2398013"/>
            <a:ext cx="274320" cy="146304"/>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2541574" y="2077973"/>
            <a:ext cx="1627174" cy="786384"/>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100" b="1" i="0">
                <a:solidFill>
                  <a:srgbClr val="182A21"/>
                </a:solidFill>
                <a:latin typeface="Trebuchet MS"/>
              </a:rPr>
              <a:t>bcrypt hash</a:t>
            </a:r>
          </a:p>
          <a:p>
            <a:pPr algn="ctr">
              <a:lnSpc>
                <a:spcPct val="105000"/>
              </a:lnSpc>
              <a:spcBef>
                <a:spcPts val="100"/>
              </a:spcBef>
              <a:spcAft>
                <a:spcPts val="0"/>
              </a:spcAft>
            </a:pPr>
            <a:r>
              <a:rPr sz="1100" b="1" i="0">
                <a:solidFill>
                  <a:srgbClr val="182A21"/>
                </a:solidFill>
                <a:latin typeface="Trebuchet MS"/>
              </a:rPr>
              <a:t>(10 rounds)</a:t>
            </a:r>
          </a:p>
        </p:txBody>
      </p:sp>
      <p:sp>
        <p:nvSpPr>
          <p:cNvPr id="10" name="Right Arrow 9"/>
          <p:cNvSpPr/>
          <p:nvPr/>
        </p:nvSpPr>
        <p:spPr>
          <a:xfrm>
            <a:off x="4132173" y="2398013"/>
            <a:ext cx="274320" cy="146304"/>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4369916" y="2077973"/>
            <a:ext cx="1627174" cy="786384"/>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100" b="1" i="0">
                <a:solidFill>
                  <a:srgbClr val="182A21"/>
                </a:solidFill>
                <a:latin typeface="Trebuchet MS"/>
              </a:rPr>
              <a:t>32-byte token</a:t>
            </a:r>
          </a:p>
          <a:p>
            <a:pPr algn="ctr">
              <a:lnSpc>
                <a:spcPct val="105000"/>
              </a:lnSpc>
              <a:spcBef>
                <a:spcPts val="100"/>
              </a:spcBef>
              <a:spcAft>
                <a:spcPts val="0"/>
              </a:spcAft>
            </a:pPr>
            <a:r>
              <a:rPr sz="1100" b="1" i="0">
                <a:solidFill>
                  <a:srgbClr val="182A21"/>
                </a:solidFill>
                <a:latin typeface="Trebuchet MS"/>
              </a:rPr>
              <a:t>24h expiry</a:t>
            </a:r>
          </a:p>
        </p:txBody>
      </p:sp>
      <p:sp>
        <p:nvSpPr>
          <p:cNvPr id="12" name="Right Arrow 11"/>
          <p:cNvSpPr/>
          <p:nvPr/>
        </p:nvSpPr>
        <p:spPr>
          <a:xfrm>
            <a:off x="5960515" y="2398013"/>
            <a:ext cx="274320" cy="146304"/>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198258" y="2077973"/>
            <a:ext cx="1627174" cy="786384"/>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100" b="1" i="0">
                <a:solidFill>
                  <a:srgbClr val="182A21"/>
                </a:solidFill>
                <a:latin typeface="Trebuchet MS"/>
              </a:rPr>
              <a:t>Resend email</a:t>
            </a:r>
          </a:p>
        </p:txBody>
      </p:sp>
      <p:sp>
        <p:nvSpPr>
          <p:cNvPr id="14" name="Right Arrow 13"/>
          <p:cNvSpPr/>
          <p:nvPr/>
        </p:nvSpPr>
        <p:spPr>
          <a:xfrm>
            <a:off x="7788857" y="2398013"/>
            <a:ext cx="274320" cy="146304"/>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8026600" y="2077973"/>
            <a:ext cx="1627174" cy="786384"/>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100" b="1" i="0">
                <a:solidFill>
                  <a:srgbClr val="182A21"/>
                </a:solidFill>
                <a:latin typeface="Trebuchet MS"/>
              </a:rPr>
              <a:t>GET /verify-email</a:t>
            </a:r>
          </a:p>
        </p:txBody>
      </p:sp>
      <p:sp>
        <p:nvSpPr>
          <p:cNvPr id="16" name="Right Arrow 15"/>
          <p:cNvSpPr/>
          <p:nvPr/>
        </p:nvSpPr>
        <p:spPr>
          <a:xfrm>
            <a:off x="9617199" y="2398013"/>
            <a:ext cx="274320" cy="146304"/>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9854942" y="2077973"/>
            <a:ext cx="1627174" cy="786384"/>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100" b="1" i="0">
                <a:solidFill>
                  <a:srgbClr val="182A21"/>
                </a:solidFill>
                <a:latin typeface="Trebuchet MS"/>
              </a:rPr>
              <a:t>POST /login</a:t>
            </a:r>
          </a:p>
        </p:txBody>
      </p:sp>
      <p:sp>
        <p:nvSpPr>
          <p:cNvPr id="18" name="Rounded Rectangle 17"/>
          <p:cNvSpPr/>
          <p:nvPr/>
        </p:nvSpPr>
        <p:spPr>
          <a:xfrm>
            <a:off x="713232" y="3102101"/>
            <a:ext cx="3429000" cy="1770278"/>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713232" y="3102101"/>
            <a:ext cx="50292" cy="1770278"/>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69264" y="3303269"/>
            <a:ext cx="2990088" cy="1441094"/>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AFTER LOGIN</a:t>
            </a:r>
          </a:p>
          <a:p>
            <a:pPr algn="l">
              <a:lnSpc>
                <a:spcPct val="110000"/>
              </a:lnSpc>
              <a:spcBef>
                <a:spcPts val="0"/>
              </a:spcBef>
              <a:spcAft>
                <a:spcPts val="500"/>
              </a:spcAft>
            </a:pPr>
            <a:r>
              <a:rPr sz="1500" b="1" i="0">
                <a:solidFill>
                  <a:srgbClr val="182A21"/>
                </a:solidFill>
                <a:latin typeface="Trebuchet MS"/>
              </a:rPr>
              <a:t>Session transport</a:t>
            </a:r>
          </a:p>
          <a:p>
            <a:pPr algn="l">
              <a:lnSpc>
                <a:spcPct val="126000"/>
              </a:lnSpc>
              <a:spcBef>
                <a:spcPts val="0"/>
              </a:spcBef>
              <a:spcAft>
                <a:spcPts val="0"/>
              </a:spcAft>
            </a:pPr>
            <a:r>
              <a:rPr sz="1150" b="0" i="0">
                <a:solidFill>
                  <a:srgbClr val="6E7A72"/>
                </a:solidFill>
                <a:latin typeface="Tahoma"/>
              </a:rPr>
              <a:t>The JWT is set as an httpOnly cookie, so page scripts cannot read it. CORS is restricted to the two known origins with credentials enabled.</a:t>
            </a:r>
          </a:p>
        </p:txBody>
      </p:sp>
      <p:sp>
        <p:nvSpPr>
          <p:cNvPr id="21" name="Rounded Rectangle 20"/>
          <p:cNvSpPr/>
          <p:nvPr/>
        </p:nvSpPr>
        <p:spPr>
          <a:xfrm>
            <a:off x="4379976" y="3102101"/>
            <a:ext cx="3429000" cy="1770278"/>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4379976" y="3102101"/>
            <a:ext cx="50292" cy="177027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636008" y="3303269"/>
            <a:ext cx="2990088" cy="1441094"/>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VERIFICATION</a:t>
            </a:r>
          </a:p>
          <a:p>
            <a:pPr algn="l">
              <a:lnSpc>
                <a:spcPct val="110000"/>
              </a:lnSpc>
              <a:spcBef>
                <a:spcPts val="0"/>
              </a:spcBef>
              <a:spcAft>
                <a:spcPts val="500"/>
              </a:spcAft>
            </a:pPr>
            <a:r>
              <a:rPr sz="1500" b="1" i="0">
                <a:solidFill>
                  <a:srgbClr val="182A21"/>
                </a:solidFill>
                <a:latin typeface="Trebuchet MS"/>
              </a:rPr>
              <a:t>Single-use token</a:t>
            </a:r>
          </a:p>
          <a:p>
            <a:pPr algn="l">
              <a:lnSpc>
                <a:spcPct val="126000"/>
              </a:lnSpc>
              <a:spcBef>
                <a:spcPts val="0"/>
              </a:spcBef>
              <a:spcAft>
                <a:spcPts val="0"/>
              </a:spcAft>
            </a:pPr>
            <a:r>
              <a:rPr sz="1150" b="0" i="0">
                <a:solidFill>
                  <a:srgbClr val="6E7A72"/>
                </a:solidFill>
                <a:latin typeface="Tahoma"/>
              </a:rPr>
              <a:t>The verification token is 32 random bytes, unique in the database, expires after 24 hours, and is cleared on use so the link cannot be replayed.</a:t>
            </a:r>
          </a:p>
        </p:txBody>
      </p:sp>
      <p:sp>
        <p:nvSpPr>
          <p:cNvPr id="24" name="Rounded Rectangle 23"/>
          <p:cNvSpPr/>
          <p:nvPr/>
        </p:nvSpPr>
        <p:spPr>
          <a:xfrm>
            <a:off x="8046720" y="3102101"/>
            <a:ext cx="3429000" cy="1770278"/>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46720" y="3102101"/>
            <a:ext cx="50292" cy="1770278"/>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302752" y="3303269"/>
            <a:ext cx="2990088" cy="1441094"/>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FAILURE HANDLING</a:t>
            </a:r>
          </a:p>
          <a:p>
            <a:pPr algn="l">
              <a:lnSpc>
                <a:spcPct val="110000"/>
              </a:lnSpc>
              <a:spcBef>
                <a:spcPts val="0"/>
              </a:spcBef>
              <a:spcAft>
                <a:spcPts val="500"/>
              </a:spcAft>
            </a:pPr>
            <a:r>
              <a:rPr sz="1500" b="1" i="0">
                <a:solidFill>
                  <a:srgbClr val="182A21"/>
                </a:solidFill>
                <a:latin typeface="Trebuchet MS"/>
              </a:rPr>
              <a:t>Mail is non-fatal</a:t>
            </a:r>
          </a:p>
          <a:p>
            <a:pPr algn="l">
              <a:lnSpc>
                <a:spcPct val="126000"/>
              </a:lnSpc>
              <a:spcBef>
                <a:spcPts val="0"/>
              </a:spcBef>
              <a:spcAft>
                <a:spcPts val="0"/>
              </a:spcAft>
            </a:pPr>
            <a:r>
              <a:rPr sz="1150" b="0" i="0">
                <a:solidFill>
                  <a:srgbClr val="6E7A72"/>
                </a:solidFill>
                <a:latin typeface="Tahoma"/>
              </a:rPr>
              <a:t>A Resend delivery failure is caught and logged rather than rolling back a created account, which would leave the address unusable on retry.</a:t>
            </a:r>
          </a:p>
        </p:txBody>
      </p:sp>
      <p:sp>
        <p:nvSpPr>
          <p:cNvPr id="27" name="TextBox 26"/>
          <p:cNvSpPr txBox="1"/>
          <p:nvPr/>
        </p:nvSpPr>
        <p:spPr>
          <a:xfrm>
            <a:off x="713232" y="5128411"/>
            <a:ext cx="10768888" cy="1097280"/>
          </a:xfrm>
          <a:prstGeom prst="rect">
            <a:avLst/>
          </a:prstGeom>
          <a:noFill/>
        </p:spPr>
        <p:txBody>
          <a:bodyPr wrap="square" lIns="0" rIns="0" tIns="0" bIns="0" anchor="t">
            <a:spAutoFit/>
          </a:bodyPr>
          <a:lstStyle/>
          <a:p>
            <a:pPr algn="l">
              <a:lnSpc>
                <a:spcPct val="135000"/>
              </a:lnSpc>
              <a:spcBef>
                <a:spcPts val="0"/>
              </a:spcBef>
              <a:spcAft>
                <a:spcPts val="0"/>
              </a:spcAft>
            </a:pPr>
            <a:r>
              <a:rPr sz="1400" b="0" i="0">
                <a:solidFill>
                  <a:srgbClr val="232E27"/>
                </a:solidFill>
                <a:latin typeface="Tahoma"/>
              </a:rPr>
              <a:t>Login is refused with 403 while </a:t>
            </a:r>
            <a:r>
              <a:rPr sz="1400" b="0" i="0">
                <a:solidFill>
                  <a:srgbClr val="182A21"/>
                </a:solidFill>
                <a:latin typeface="Courier New"/>
              </a:rPr>
              <a:t>emailVerified</a:t>
            </a:r>
            <a:r>
              <a:rPr sz="1400" b="0" i="0">
                <a:solidFill>
                  <a:srgbClr val="232E27"/>
                </a:solidFill>
                <a:latin typeface="Tahoma"/>
              </a:rPr>
              <a:t> is false, and the cart and wishlist rows are created alongside the user so no later code path has to handle a missing cart.</a:t>
            </a:r>
          </a:p>
        </p:txBody>
      </p:sp>
      <p:sp>
        <p:nvSpPr>
          <p:cNvPr id="28" name="Rectangle 27"/>
          <p:cNvSpPr/>
          <p:nvPr/>
        </p:nvSpPr>
        <p:spPr>
          <a:xfrm>
            <a:off x="713232" y="6272784"/>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13232" y="6382512"/>
            <a:ext cx="54864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6E7A72"/>
                </a:solidFill>
                <a:latin typeface="Trebuchet MS"/>
              </a:rPr>
              <a:t>TrailBlaze</a:t>
            </a:r>
            <a:r>
              <a:rPr sz="950" b="0" i="0">
                <a:solidFill>
                  <a:srgbClr val="6E7A72"/>
                </a:solidFill>
                <a:latin typeface="Trebuchet MS"/>
              </a:rPr>
              <a:t>   |   Hiking E-Commerce and Trail Discovery</a:t>
            </a:r>
          </a:p>
        </p:txBody>
      </p:sp>
      <p:sp>
        <p:nvSpPr>
          <p:cNvPr id="30" name="TextBox 29"/>
          <p:cNvSpPr txBox="1"/>
          <p:nvPr/>
        </p:nvSpPr>
        <p:spPr>
          <a:xfrm>
            <a:off x="10515600" y="6382512"/>
            <a:ext cx="964692" cy="274320"/>
          </a:xfrm>
          <a:prstGeom prst="rect">
            <a:avLst/>
          </a:prstGeom>
          <a:noFill/>
        </p:spPr>
        <p:txBody>
          <a:bodyPr wrap="square" lIns="0" rIns="0" tIns="0" bIns="0" anchor="t">
            <a:spAutoFit/>
          </a:bodyPr>
          <a:lstStyle/>
          <a:p>
            <a:pPr algn="r">
              <a:lnSpc>
                <a:spcPct val="122000"/>
              </a:lnSpc>
              <a:spcBef>
                <a:spcPts val="0"/>
              </a:spcBef>
              <a:spcAft>
                <a:spcPts val="0"/>
              </a:spcAft>
            </a:pPr>
            <a:r>
              <a:rPr sz="950" b="1" i="0">
                <a:solidFill>
                  <a:srgbClr val="6E7A72"/>
                </a:solidFill>
                <a:latin typeface="Trebuchet M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8888" cy="237744"/>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4F8A63"/>
                </a:solidFill>
                <a:latin typeface="Trebuchet MS"/>
              </a:rPr>
              <a:t>SECURITY</a:t>
            </a:r>
          </a:p>
        </p:txBody>
      </p:sp>
      <p:sp>
        <p:nvSpPr>
          <p:cNvPr id="4" name="TextBox 3"/>
          <p:cNvSpPr txBox="1"/>
          <p:nvPr/>
        </p:nvSpPr>
        <p:spPr>
          <a:xfrm>
            <a:off x="713232" y="749808"/>
            <a:ext cx="10768888"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82A21"/>
                </a:solidFill>
                <a:latin typeface="Trebuchet MS"/>
              </a:rPr>
              <a:t>Access control review and hardening</a:t>
            </a:r>
          </a:p>
        </p:txBody>
      </p:sp>
      <p:sp>
        <p:nvSpPr>
          <p:cNvPr id="5" name="Rectangle 4"/>
          <p:cNvSpPr/>
          <p:nvPr/>
        </p:nvSpPr>
        <p:spPr>
          <a:xfrm>
            <a:off x="713232" y="1389888"/>
            <a:ext cx="566928"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572768"/>
            <a:ext cx="9509760" cy="36576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6E7A72"/>
                </a:solidFill>
                <a:latin typeface="Tahoma"/>
              </a:rPr>
              <a:t>A self-review late in the project found three flaws that a working demo would never have surfaced. All three are fixed on the current branch.</a:t>
            </a:r>
          </a:p>
        </p:txBody>
      </p:sp>
      <p:sp>
        <p:nvSpPr>
          <p:cNvPr id="7" name="Rounded Rectangle 6"/>
          <p:cNvSpPr/>
          <p:nvPr/>
        </p:nvSpPr>
        <p:spPr>
          <a:xfrm>
            <a:off x="713232" y="2400299"/>
            <a:ext cx="603504" cy="274320"/>
          </a:xfrm>
          <a:prstGeom prst="roundRect">
            <a:avLst>
              <a:gd name="adj" fmla="val 22000"/>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900" b="1" i="0">
                <a:solidFill>
                  <a:srgbClr val="FFFFFF"/>
                </a:solidFill>
                <a:latin typeface="Trebuchet MS"/>
              </a:rPr>
              <a:t>FIXED</a:t>
            </a:r>
          </a:p>
        </p:txBody>
      </p:sp>
      <p:sp>
        <p:nvSpPr>
          <p:cNvPr id="8" name="TextBox 7"/>
          <p:cNvSpPr txBox="1"/>
          <p:nvPr/>
        </p:nvSpPr>
        <p:spPr>
          <a:xfrm>
            <a:off x="1481328" y="2345435"/>
            <a:ext cx="9966960" cy="1097280"/>
          </a:xfrm>
          <a:prstGeom prst="rect">
            <a:avLst/>
          </a:prstGeom>
          <a:noFill/>
        </p:spPr>
        <p:txBody>
          <a:bodyPr wrap="square" lIns="0" rIns="0" tIns="0" bIns="0" anchor="t">
            <a:spAutoFit/>
          </a:bodyPr>
          <a:lstStyle/>
          <a:p>
            <a:pPr algn="l">
              <a:lnSpc>
                <a:spcPct val="110000"/>
              </a:lnSpc>
              <a:spcBef>
                <a:spcPts val="0"/>
              </a:spcBef>
              <a:spcAft>
                <a:spcPts val="0"/>
              </a:spcAft>
            </a:pPr>
            <a:r>
              <a:rPr sz="1450" b="1" i="0">
                <a:solidFill>
                  <a:srgbClr val="182A21"/>
                </a:solidFill>
                <a:latin typeface="Trebuchet MS"/>
              </a:rPr>
              <a:t>Session issued before verification</a:t>
            </a:r>
          </a:p>
          <a:p>
            <a:pPr algn="l">
              <a:lnSpc>
                <a:spcPct val="124000"/>
              </a:lnSpc>
              <a:spcBef>
                <a:spcPts val="400"/>
              </a:spcBef>
              <a:spcAft>
                <a:spcPts val="0"/>
              </a:spcAft>
            </a:pPr>
            <a:r>
              <a:rPr sz="1150" b="1" i="0">
                <a:solidFill>
                  <a:srgbClr val="C1943C"/>
                </a:solidFill>
                <a:latin typeface="Tahoma"/>
              </a:rPr>
              <a:t>Issue.  </a:t>
            </a:r>
            <a:r>
              <a:rPr sz="1150" b="0" i="0">
                <a:solidFill>
                  <a:srgbClr val="6E7A72"/>
                </a:solidFill>
                <a:latin typeface="Tahoma"/>
              </a:rPr>
              <a:t>Register returned a usable JWT and cookie, so the login-time verification check could be bypassed by reusing that token.</a:t>
            </a:r>
          </a:p>
          <a:p>
            <a:pPr algn="l">
              <a:lnSpc>
                <a:spcPct val="124000"/>
              </a:lnSpc>
              <a:spcBef>
                <a:spcPts val="300"/>
              </a:spcBef>
              <a:spcAft>
                <a:spcPts val="0"/>
              </a:spcAft>
            </a:pPr>
            <a:r>
              <a:rPr sz="1150" b="1" i="0">
                <a:solidFill>
                  <a:srgbClr val="4F8A63"/>
                </a:solidFill>
                <a:latin typeface="Tahoma"/>
              </a:rPr>
              <a:t>Fix.  </a:t>
            </a:r>
            <a:r>
              <a:rPr sz="1150" b="0" i="0">
                <a:solidFill>
                  <a:srgbClr val="232E27"/>
                </a:solidFill>
                <a:latin typeface="Tahoma"/>
              </a:rPr>
              <a:t>Registration no longer issues a token or a cookie.</a:t>
            </a:r>
          </a:p>
        </p:txBody>
      </p:sp>
      <p:sp>
        <p:nvSpPr>
          <p:cNvPr id="9" name="Rounded Rectangle 8"/>
          <p:cNvSpPr/>
          <p:nvPr/>
        </p:nvSpPr>
        <p:spPr>
          <a:xfrm>
            <a:off x="713232" y="3643883"/>
            <a:ext cx="603504" cy="274320"/>
          </a:xfrm>
          <a:prstGeom prst="roundRect">
            <a:avLst>
              <a:gd name="adj" fmla="val 22000"/>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900" b="1" i="0">
                <a:solidFill>
                  <a:srgbClr val="FFFFFF"/>
                </a:solidFill>
                <a:latin typeface="Trebuchet MS"/>
              </a:rPr>
              <a:t>FIXED</a:t>
            </a:r>
          </a:p>
        </p:txBody>
      </p:sp>
      <p:sp>
        <p:nvSpPr>
          <p:cNvPr id="10" name="TextBox 9"/>
          <p:cNvSpPr txBox="1"/>
          <p:nvPr/>
        </p:nvSpPr>
        <p:spPr>
          <a:xfrm>
            <a:off x="1481328" y="3589019"/>
            <a:ext cx="9966960" cy="1097280"/>
          </a:xfrm>
          <a:prstGeom prst="rect">
            <a:avLst/>
          </a:prstGeom>
          <a:noFill/>
        </p:spPr>
        <p:txBody>
          <a:bodyPr wrap="square" lIns="0" rIns="0" tIns="0" bIns="0" anchor="t">
            <a:spAutoFit/>
          </a:bodyPr>
          <a:lstStyle/>
          <a:p>
            <a:pPr algn="l">
              <a:lnSpc>
                <a:spcPct val="110000"/>
              </a:lnSpc>
              <a:spcBef>
                <a:spcPts val="0"/>
              </a:spcBef>
              <a:spcAft>
                <a:spcPts val="0"/>
              </a:spcAft>
            </a:pPr>
            <a:r>
              <a:rPr sz="1450" b="1" i="0">
                <a:solidFill>
                  <a:srgbClr val="182A21"/>
                </a:solidFill>
                <a:latin typeface="Trebuchet MS"/>
              </a:rPr>
              <a:t>Admin routes guarded only by verifyJWT</a:t>
            </a:r>
          </a:p>
          <a:p>
            <a:pPr algn="l">
              <a:lnSpc>
                <a:spcPct val="124000"/>
              </a:lnSpc>
              <a:spcBef>
                <a:spcPts val="400"/>
              </a:spcBef>
              <a:spcAft>
                <a:spcPts val="0"/>
              </a:spcAft>
            </a:pPr>
            <a:r>
              <a:rPr sz="1150" b="1" i="0">
                <a:solidFill>
                  <a:srgbClr val="C1943C"/>
                </a:solidFill>
                <a:latin typeface="Tahoma"/>
              </a:rPr>
              <a:t>Issue.  </a:t>
            </a:r>
            <a:r>
              <a:rPr sz="1150" b="0" i="0">
                <a:solidFill>
                  <a:srgbClr val="6E7A72"/>
                </a:solidFill>
                <a:latin typeface="Tahoma"/>
              </a:rPr>
              <a:t>The stock routes used the same middleware as cart and wishlist, and no role existed on User, so any registered account could edit inventory.</a:t>
            </a:r>
          </a:p>
          <a:p>
            <a:pPr algn="l">
              <a:lnSpc>
                <a:spcPct val="124000"/>
              </a:lnSpc>
              <a:spcBef>
                <a:spcPts val="300"/>
              </a:spcBef>
              <a:spcAft>
                <a:spcPts val="0"/>
              </a:spcAft>
            </a:pPr>
            <a:r>
              <a:rPr sz="1150" b="1" i="0">
                <a:solidFill>
                  <a:srgbClr val="4F8A63"/>
                </a:solidFill>
                <a:latin typeface="Tahoma"/>
              </a:rPr>
              <a:t>Fix.  </a:t>
            </a:r>
            <a:r>
              <a:rPr sz="1150" b="0" i="0">
                <a:solidFill>
                  <a:srgbClr val="232E27"/>
                </a:solidFill>
                <a:latin typeface="Tahoma"/>
              </a:rPr>
              <a:t>Added User.role and a requireAdmin middleware that reads the role from the database, not the token, so revocation takes effect immediately.</a:t>
            </a:r>
          </a:p>
        </p:txBody>
      </p:sp>
      <p:sp>
        <p:nvSpPr>
          <p:cNvPr id="11" name="Rounded Rectangle 10"/>
          <p:cNvSpPr/>
          <p:nvPr/>
        </p:nvSpPr>
        <p:spPr>
          <a:xfrm>
            <a:off x="713232" y="4887467"/>
            <a:ext cx="603504" cy="274320"/>
          </a:xfrm>
          <a:prstGeom prst="roundRect">
            <a:avLst>
              <a:gd name="adj" fmla="val 22000"/>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900" b="1" i="0">
                <a:solidFill>
                  <a:srgbClr val="FFFFFF"/>
                </a:solidFill>
                <a:latin typeface="Trebuchet MS"/>
              </a:rPr>
              <a:t>FIXED</a:t>
            </a:r>
          </a:p>
        </p:txBody>
      </p:sp>
      <p:sp>
        <p:nvSpPr>
          <p:cNvPr id="12" name="TextBox 11"/>
          <p:cNvSpPr txBox="1"/>
          <p:nvPr/>
        </p:nvSpPr>
        <p:spPr>
          <a:xfrm>
            <a:off x="1481328" y="4832603"/>
            <a:ext cx="9966960" cy="1097280"/>
          </a:xfrm>
          <a:prstGeom prst="rect">
            <a:avLst/>
          </a:prstGeom>
          <a:noFill/>
        </p:spPr>
        <p:txBody>
          <a:bodyPr wrap="square" lIns="0" rIns="0" tIns="0" bIns="0" anchor="t">
            <a:spAutoFit/>
          </a:bodyPr>
          <a:lstStyle/>
          <a:p>
            <a:pPr algn="l">
              <a:lnSpc>
                <a:spcPct val="110000"/>
              </a:lnSpc>
              <a:spcBef>
                <a:spcPts val="0"/>
              </a:spcBef>
              <a:spcAft>
                <a:spcPts val="0"/>
              </a:spcAft>
            </a:pPr>
            <a:r>
              <a:rPr sz="1450" b="1" i="0">
                <a:solidFill>
                  <a:srgbClr val="182A21"/>
                </a:solidFill>
                <a:latin typeface="Trebuchet MS"/>
              </a:rPr>
              <a:t>Verification accepted a sequential id</a:t>
            </a:r>
          </a:p>
          <a:p>
            <a:pPr algn="l">
              <a:lnSpc>
                <a:spcPct val="124000"/>
              </a:lnSpc>
              <a:spcBef>
                <a:spcPts val="400"/>
              </a:spcBef>
              <a:spcAft>
                <a:spcPts val="0"/>
              </a:spcAft>
            </a:pPr>
            <a:r>
              <a:rPr sz="1150" b="1" i="0">
                <a:solidFill>
                  <a:srgbClr val="C1943C"/>
                </a:solidFill>
                <a:latin typeface="Tahoma"/>
              </a:rPr>
              <a:t>Issue.  </a:t>
            </a:r>
            <a:r>
              <a:rPr sz="1150" b="0" i="0">
                <a:solidFill>
                  <a:srgbClr val="6E7A72"/>
                </a:solidFill>
                <a:latin typeface="Tahoma"/>
              </a:rPr>
              <a:t>The link carried the user id in the query string, so any account could be verified by guessing its id.</a:t>
            </a:r>
          </a:p>
          <a:p>
            <a:pPr algn="l">
              <a:lnSpc>
                <a:spcPct val="124000"/>
              </a:lnSpc>
              <a:spcBef>
                <a:spcPts val="300"/>
              </a:spcBef>
              <a:spcAft>
                <a:spcPts val="0"/>
              </a:spcAft>
            </a:pPr>
            <a:r>
              <a:rPr sz="1150" b="1" i="0">
                <a:solidFill>
                  <a:srgbClr val="4F8A63"/>
                </a:solidFill>
                <a:latin typeface="Tahoma"/>
              </a:rPr>
              <a:t>Fix.  </a:t>
            </a:r>
            <a:r>
              <a:rPr sz="1150" b="0" i="0">
                <a:solidFill>
                  <a:srgbClr val="232E27"/>
                </a:solidFill>
                <a:latin typeface="Tahoma"/>
              </a:rPr>
              <a:t>Replaced with a single-use, unguessable, expiring token.</a:t>
            </a:r>
          </a:p>
        </p:txBody>
      </p:sp>
      <p:sp>
        <p:nvSpPr>
          <p:cNvPr id="13" name="TextBox 12"/>
          <p:cNvSpPr txBox="1"/>
          <p:nvPr/>
        </p:nvSpPr>
        <p:spPr>
          <a:xfrm>
            <a:off x="713232" y="5632704"/>
            <a:ext cx="10768888" cy="457200"/>
          </a:xfrm>
          <a:prstGeom prst="rect">
            <a:avLst/>
          </a:prstGeom>
          <a:noFill/>
        </p:spPr>
        <p:txBody>
          <a:bodyPr wrap="square" lIns="0" rIns="0" tIns="0" bIns="0" anchor="t">
            <a:spAutoFit/>
          </a:bodyPr>
          <a:lstStyle/>
          <a:p>
            <a:pPr algn="l">
              <a:lnSpc>
                <a:spcPct val="122000"/>
              </a:lnSpc>
              <a:spcBef>
                <a:spcPts val="0"/>
              </a:spcBef>
              <a:spcAft>
                <a:spcPts val="0"/>
              </a:spcAft>
            </a:pPr>
            <a:r>
              <a:rPr sz="1200" b="0" i="1">
                <a:solidFill>
                  <a:srgbClr val="6E7A72"/>
                </a:solidFill>
                <a:latin typeface="Tahoma"/>
              </a:rPr>
              <a:t>Also in the same pass: raw JWTs removed from logs, an empty middleware deleted, and fullName persisted on registration.</a:t>
            </a:r>
          </a:p>
        </p:txBody>
      </p:sp>
      <p:sp>
        <p:nvSpPr>
          <p:cNvPr id="14" name="Rectangle 13"/>
          <p:cNvSpPr/>
          <p:nvPr/>
        </p:nvSpPr>
        <p:spPr>
          <a:xfrm>
            <a:off x="713232" y="6272784"/>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13232" y="6382512"/>
            <a:ext cx="54864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6E7A72"/>
                </a:solidFill>
                <a:latin typeface="Trebuchet MS"/>
              </a:rPr>
              <a:t>TrailBlaze</a:t>
            </a:r>
            <a:r>
              <a:rPr sz="950" b="0" i="0">
                <a:solidFill>
                  <a:srgbClr val="6E7A72"/>
                </a:solidFill>
                <a:latin typeface="Trebuchet MS"/>
              </a:rPr>
              <a:t>   |   Hiking E-Commerce and Trail Discovery</a:t>
            </a:r>
          </a:p>
        </p:txBody>
      </p:sp>
      <p:sp>
        <p:nvSpPr>
          <p:cNvPr id="16" name="TextBox 15"/>
          <p:cNvSpPr txBox="1"/>
          <p:nvPr/>
        </p:nvSpPr>
        <p:spPr>
          <a:xfrm>
            <a:off x="10515600" y="6382512"/>
            <a:ext cx="964692" cy="274320"/>
          </a:xfrm>
          <a:prstGeom prst="rect">
            <a:avLst/>
          </a:prstGeom>
          <a:noFill/>
        </p:spPr>
        <p:txBody>
          <a:bodyPr wrap="square" lIns="0" rIns="0" tIns="0" bIns="0" anchor="t">
            <a:spAutoFit/>
          </a:bodyPr>
          <a:lstStyle/>
          <a:p>
            <a:pPr algn="r">
              <a:lnSpc>
                <a:spcPct val="122000"/>
              </a:lnSpc>
              <a:spcBef>
                <a:spcPts val="0"/>
              </a:spcBef>
              <a:spcAft>
                <a:spcPts val="0"/>
              </a:spcAft>
            </a:pPr>
            <a:r>
              <a:rPr sz="950" b="1" i="0">
                <a:solidFill>
                  <a:srgbClr val="6E7A72"/>
                </a:solidFill>
                <a:latin typeface="Trebuchet M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8888" cy="237744"/>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4F8A63"/>
                </a:solidFill>
                <a:latin typeface="Trebuchet MS"/>
              </a:rPr>
              <a:t>FEATURES</a:t>
            </a:r>
          </a:p>
        </p:txBody>
      </p:sp>
      <p:sp>
        <p:nvSpPr>
          <p:cNvPr id="4" name="TextBox 3"/>
          <p:cNvSpPr txBox="1"/>
          <p:nvPr/>
        </p:nvSpPr>
        <p:spPr>
          <a:xfrm>
            <a:off x="713232" y="749808"/>
            <a:ext cx="10768888"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82A21"/>
                </a:solidFill>
                <a:latin typeface="Trebuchet MS"/>
              </a:rPr>
              <a:t>Catalogue, cart and wishlist</a:t>
            </a:r>
          </a:p>
        </p:txBody>
      </p:sp>
      <p:sp>
        <p:nvSpPr>
          <p:cNvPr id="5" name="Rectangle 4"/>
          <p:cNvSpPr/>
          <p:nvPr/>
        </p:nvSpPr>
        <p:spPr>
          <a:xfrm>
            <a:off x="713232" y="1389888"/>
            <a:ext cx="566928"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572768"/>
            <a:ext cx="9509760" cy="36576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6E7A72"/>
                </a:solidFill>
                <a:latin typeface="Tahoma"/>
              </a:rPr>
              <a:t>The storefront is server-filtered and the cart is a persisted database row, not browser state.</a:t>
            </a:r>
          </a:p>
        </p:txBody>
      </p:sp>
      <p:sp>
        <p:nvSpPr>
          <p:cNvPr id="7" name="Rounded Rectangle 6"/>
          <p:cNvSpPr/>
          <p:nvPr/>
        </p:nvSpPr>
        <p:spPr>
          <a:xfrm>
            <a:off x="713232" y="2077973"/>
            <a:ext cx="3429000" cy="3160572"/>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13232" y="2077973"/>
            <a:ext cx="50292" cy="3160572"/>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9264" y="2279141"/>
            <a:ext cx="2990088" cy="1956816"/>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BROWSING</a:t>
            </a:r>
          </a:p>
          <a:p>
            <a:pPr algn="l">
              <a:lnSpc>
                <a:spcPct val="110000"/>
              </a:lnSpc>
              <a:spcBef>
                <a:spcPts val="0"/>
              </a:spcBef>
              <a:spcAft>
                <a:spcPts val="0"/>
              </a:spcAft>
            </a:pPr>
            <a:r>
              <a:rPr sz="1500" b="1" i="0">
                <a:solidFill>
                  <a:srgbClr val="182A21"/>
                </a:solidFill>
                <a:latin typeface="Trebuchet MS"/>
              </a:rPr>
              <a:t>Catalogue and product page</a:t>
            </a:r>
          </a:p>
        </p:txBody>
      </p:sp>
      <p:sp>
        <p:nvSpPr>
          <p:cNvPr id="10" name="TextBox 9"/>
          <p:cNvSpPr txBox="1"/>
          <p:nvPr/>
        </p:nvSpPr>
        <p:spPr>
          <a:xfrm>
            <a:off x="969264" y="2864357"/>
            <a:ext cx="2962656" cy="365760"/>
          </a:xfrm>
          <a:prstGeom prst="rect">
            <a:avLst/>
          </a:prstGeom>
          <a:noFill/>
        </p:spPr>
        <p:txBody>
          <a:bodyPr wrap="square" lIns="0" rIns="0" tIns="0" bIns="0" anchor="t">
            <a:spAutoFit/>
          </a:bodyPr>
          <a:lstStyle/>
          <a:p>
            <a:pPr algn="l" marL="187452" indent="-187452">
              <a:lnSpc>
                <a:spcPct val="126000"/>
              </a:lnSpc>
              <a:spcBef>
                <a:spcPts val="0"/>
              </a:spcBef>
              <a:spcAft>
                <a:spcPts val="0"/>
              </a:spcAft>
            </a:pPr>
            <a:r>
              <a:rPr sz="1150" b="1" i="0">
                <a:solidFill>
                  <a:srgbClr val="4F8A63"/>
                </a:solidFill>
                <a:latin typeface="Tahoma"/>
              </a:rPr>
              <a:t>•   </a:t>
            </a:r>
            <a:r>
              <a:rPr sz="1150" b="0" i="0">
                <a:solidFill>
                  <a:srgbClr val="232E27"/>
                </a:solidFill>
                <a:latin typeface="Tahoma"/>
              </a:rPr>
              <a:t>Filter by category, size, price, gender</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Size and colour selectors per product</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Per-product size guide from Json</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Discount field rendered when present</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Skeleton placeholders during fetch</a:t>
            </a:r>
          </a:p>
        </p:txBody>
      </p:sp>
      <p:sp>
        <p:nvSpPr>
          <p:cNvPr id="11" name="Rounded Rectangle 10"/>
          <p:cNvSpPr/>
          <p:nvPr/>
        </p:nvSpPr>
        <p:spPr>
          <a:xfrm>
            <a:off x="4379976" y="2077973"/>
            <a:ext cx="3429000" cy="3160572"/>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379976" y="2077973"/>
            <a:ext cx="50292" cy="3160572"/>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636008" y="2279141"/>
            <a:ext cx="2990088" cy="1956816"/>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PERSISTED</a:t>
            </a:r>
          </a:p>
          <a:p>
            <a:pPr algn="l">
              <a:lnSpc>
                <a:spcPct val="110000"/>
              </a:lnSpc>
              <a:spcBef>
                <a:spcPts val="0"/>
              </a:spcBef>
              <a:spcAft>
                <a:spcPts val="0"/>
              </a:spcAft>
            </a:pPr>
            <a:r>
              <a:rPr sz="1500" b="1" i="0">
                <a:solidFill>
                  <a:srgbClr val="182A21"/>
                </a:solidFill>
                <a:latin typeface="Trebuchet MS"/>
              </a:rPr>
              <a:t>Cart</a:t>
            </a:r>
          </a:p>
        </p:txBody>
      </p:sp>
      <p:sp>
        <p:nvSpPr>
          <p:cNvPr id="14" name="TextBox 13"/>
          <p:cNvSpPr txBox="1"/>
          <p:nvPr/>
        </p:nvSpPr>
        <p:spPr>
          <a:xfrm>
            <a:off x="4636008" y="2864357"/>
            <a:ext cx="2962656" cy="365760"/>
          </a:xfrm>
          <a:prstGeom prst="rect">
            <a:avLst/>
          </a:prstGeom>
          <a:noFill/>
        </p:spPr>
        <p:txBody>
          <a:bodyPr wrap="square" lIns="0" rIns="0" tIns="0" bIns="0" anchor="t">
            <a:spAutoFit/>
          </a:bodyPr>
          <a:lstStyle/>
          <a:p>
            <a:pPr algn="l" marL="187452" indent="-187452">
              <a:lnSpc>
                <a:spcPct val="126000"/>
              </a:lnSpc>
              <a:spcBef>
                <a:spcPts val="0"/>
              </a:spcBef>
              <a:spcAft>
                <a:spcPts val="0"/>
              </a:spcAft>
            </a:pPr>
            <a:r>
              <a:rPr sz="1150" b="1" i="0">
                <a:solidFill>
                  <a:srgbClr val="C1943C"/>
                </a:solidFill>
                <a:latin typeface="Tahoma"/>
              </a:rPr>
              <a:t>•   </a:t>
            </a:r>
            <a:r>
              <a:rPr sz="1150" b="0" i="0">
                <a:solidFill>
                  <a:srgbClr val="232E27"/>
                </a:solidFill>
                <a:latin typeface="Tahoma"/>
              </a:rPr>
              <a:t>One cart row per user, created at signup</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Items keyed by product, size and colour</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Quantity updates validated server-side</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Move an item straight to the wishlist</a:t>
            </a:r>
          </a:p>
          <a:p>
            <a:pPr algn="l" marL="187452" indent="-187452">
              <a:lnSpc>
                <a:spcPct val="126000"/>
              </a:lnSpc>
              <a:spcBef>
                <a:spcPts val="800"/>
              </a:spcBef>
              <a:spcAft>
                <a:spcPts val="0"/>
              </a:spcAft>
            </a:pPr>
            <a:r>
              <a:rPr sz="1150" b="1" i="0">
                <a:solidFill>
                  <a:srgbClr val="C1943C"/>
                </a:solidFill>
                <a:latin typeface="Tahoma"/>
              </a:rPr>
              <a:t>•   </a:t>
            </a:r>
            <a:r>
              <a:rPr sz="1150" b="0" i="0">
                <a:solidFill>
                  <a:srgbClr val="232E27"/>
                </a:solidFill>
                <a:latin typeface="Tahoma"/>
              </a:rPr>
              <a:t>Cleared automatically once an order lands</a:t>
            </a:r>
          </a:p>
        </p:txBody>
      </p:sp>
      <p:sp>
        <p:nvSpPr>
          <p:cNvPr id="15" name="Rounded Rectangle 14"/>
          <p:cNvSpPr/>
          <p:nvPr/>
        </p:nvSpPr>
        <p:spPr>
          <a:xfrm>
            <a:off x="8046720" y="2077973"/>
            <a:ext cx="3429000" cy="3160572"/>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046720" y="2077973"/>
            <a:ext cx="50292" cy="3160572"/>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302752" y="2279141"/>
            <a:ext cx="2990088" cy="1956816"/>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PERSISTED</a:t>
            </a:r>
          </a:p>
          <a:p>
            <a:pPr algn="l">
              <a:lnSpc>
                <a:spcPct val="110000"/>
              </a:lnSpc>
              <a:spcBef>
                <a:spcPts val="0"/>
              </a:spcBef>
              <a:spcAft>
                <a:spcPts val="0"/>
              </a:spcAft>
            </a:pPr>
            <a:r>
              <a:rPr sz="1500" b="1" i="0">
                <a:solidFill>
                  <a:srgbClr val="182A21"/>
                </a:solidFill>
                <a:latin typeface="Trebuchet MS"/>
              </a:rPr>
              <a:t>Wishlist</a:t>
            </a:r>
          </a:p>
        </p:txBody>
      </p:sp>
      <p:sp>
        <p:nvSpPr>
          <p:cNvPr id="18" name="TextBox 17"/>
          <p:cNvSpPr txBox="1"/>
          <p:nvPr/>
        </p:nvSpPr>
        <p:spPr>
          <a:xfrm>
            <a:off x="8302752" y="2864357"/>
            <a:ext cx="2962656" cy="365760"/>
          </a:xfrm>
          <a:prstGeom prst="rect">
            <a:avLst/>
          </a:prstGeom>
          <a:noFill/>
        </p:spPr>
        <p:txBody>
          <a:bodyPr wrap="square" lIns="0" rIns="0" tIns="0" bIns="0" anchor="t">
            <a:spAutoFit/>
          </a:bodyPr>
          <a:lstStyle/>
          <a:p>
            <a:pPr algn="l" marL="187452" indent="-187452">
              <a:lnSpc>
                <a:spcPct val="126000"/>
              </a:lnSpc>
              <a:spcBef>
                <a:spcPts val="0"/>
              </a:spcBef>
              <a:spcAft>
                <a:spcPts val="0"/>
              </a:spcAft>
            </a:pPr>
            <a:r>
              <a:rPr sz="1150" b="1" i="0">
                <a:solidFill>
                  <a:srgbClr val="4F8A63"/>
                </a:solidFill>
                <a:latin typeface="Tahoma"/>
              </a:rPr>
              <a:t>•   </a:t>
            </a:r>
            <a:r>
              <a:rPr sz="1150" b="0" i="0">
                <a:solidFill>
                  <a:srgbClr val="232E27"/>
                </a:solidFill>
                <a:latin typeface="Tahoma"/>
              </a:rPr>
              <a:t>One wishlist row per user</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Same item shape as the cart</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Move back to cart in one action</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Shared add and remove services</a:t>
            </a:r>
          </a:p>
          <a:p>
            <a:pPr algn="l" marL="187452" indent="-187452">
              <a:lnSpc>
                <a:spcPct val="126000"/>
              </a:lnSpc>
              <a:spcBef>
                <a:spcPts val="800"/>
              </a:spcBef>
              <a:spcAft>
                <a:spcPts val="0"/>
              </a:spcAft>
            </a:pPr>
            <a:r>
              <a:rPr sz="1150" b="1" i="0">
                <a:solidFill>
                  <a:srgbClr val="4F8A63"/>
                </a:solidFill>
                <a:latin typeface="Tahoma"/>
              </a:rPr>
              <a:t>•   </a:t>
            </a:r>
            <a:r>
              <a:rPr sz="1150" b="0" i="0">
                <a:solidFill>
                  <a:srgbClr val="232E27"/>
                </a:solidFill>
                <a:latin typeface="Tahoma"/>
              </a:rPr>
              <a:t>Survives logout and device change</a:t>
            </a:r>
          </a:p>
        </p:txBody>
      </p:sp>
      <p:sp>
        <p:nvSpPr>
          <p:cNvPr id="19" name="TextBox 18"/>
          <p:cNvSpPr txBox="1"/>
          <p:nvPr/>
        </p:nvSpPr>
        <p:spPr>
          <a:xfrm>
            <a:off x="713232" y="5512865"/>
            <a:ext cx="10768888" cy="1280160"/>
          </a:xfrm>
          <a:prstGeom prst="rect">
            <a:avLst/>
          </a:prstGeom>
          <a:noFill/>
        </p:spPr>
        <p:txBody>
          <a:bodyPr wrap="square" lIns="0" rIns="0" tIns="0" bIns="0" anchor="t">
            <a:spAutoFit/>
          </a:bodyPr>
          <a:lstStyle/>
          <a:p>
            <a:pPr algn="l">
              <a:lnSpc>
                <a:spcPct val="135000"/>
              </a:lnSpc>
              <a:spcBef>
                <a:spcPts val="0"/>
              </a:spcBef>
              <a:spcAft>
                <a:spcPts val="0"/>
              </a:spcAft>
            </a:pPr>
            <a:r>
              <a:rPr sz="1400" b="1" i="0">
                <a:solidFill>
                  <a:srgbClr val="182A21"/>
                </a:solidFill>
                <a:latin typeface="Trebuchet MS"/>
              </a:rPr>
              <a:t>Why the server owns the cart.  </a:t>
            </a:r>
            <a:r>
              <a:rPr sz="1400" b="0" i="0">
                <a:solidFill>
                  <a:srgbClr val="232E27"/>
                </a:solidFill>
                <a:latin typeface="Tahoma"/>
              </a:rPr>
              <a:t>Quantities and stock checks that live in the browser can be edited by the user. Keeping cart mutation in shared services means the same validation runs whether the item arrives from the product page, the wishlist or the checkout step.</a:t>
            </a:r>
          </a:p>
        </p:txBody>
      </p:sp>
      <p:sp>
        <p:nvSpPr>
          <p:cNvPr id="20" name="Rectangle 19"/>
          <p:cNvSpPr/>
          <p:nvPr/>
        </p:nvSpPr>
        <p:spPr>
          <a:xfrm>
            <a:off x="713232" y="6272784"/>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13232" y="6382512"/>
            <a:ext cx="54864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6E7A72"/>
                </a:solidFill>
                <a:latin typeface="Trebuchet MS"/>
              </a:rPr>
              <a:t>TrailBlaze</a:t>
            </a:r>
            <a:r>
              <a:rPr sz="950" b="0" i="0">
                <a:solidFill>
                  <a:srgbClr val="6E7A72"/>
                </a:solidFill>
                <a:latin typeface="Trebuchet MS"/>
              </a:rPr>
              <a:t>   |   Hiking E-Commerce and Trail Discovery</a:t>
            </a:r>
          </a:p>
        </p:txBody>
      </p:sp>
      <p:sp>
        <p:nvSpPr>
          <p:cNvPr id="22" name="TextBox 21"/>
          <p:cNvSpPr txBox="1"/>
          <p:nvPr/>
        </p:nvSpPr>
        <p:spPr>
          <a:xfrm>
            <a:off x="10515600" y="6382512"/>
            <a:ext cx="964692" cy="274320"/>
          </a:xfrm>
          <a:prstGeom prst="rect">
            <a:avLst/>
          </a:prstGeom>
          <a:noFill/>
        </p:spPr>
        <p:txBody>
          <a:bodyPr wrap="square" lIns="0" rIns="0" tIns="0" bIns="0" anchor="t">
            <a:spAutoFit/>
          </a:bodyPr>
          <a:lstStyle/>
          <a:p>
            <a:pPr algn="r">
              <a:lnSpc>
                <a:spcPct val="122000"/>
              </a:lnSpc>
              <a:spcBef>
                <a:spcPts val="0"/>
              </a:spcBef>
              <a:spcAft>
                <a:spcPts val="0"/>
              </a:spcAft>
            </a:pPr>
            <a:r>
              <a:rPr sz="950" b="1" i="0">
                <a:solidFill>
                  <a:srgbClr val="6E7A72"/>
                </a:solidFill>
                <a:latin typeface="Trebuchet M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8888" cy="237744"/>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4F8A63"/>
                </a:solidFill>
                <a:latin typeface="Trebuchet MS"/>
              </a:rPr>
              <a:t>FEATURES</a:t>
            </a:r>
          </a:p>
        </p:txBody>
      </p:sp>
      <p:sp>
        <p:nvSpPr>
          <p:cNvPr id="4" name="TextBox 3"/>
          <p:cNvSpPr txBox="1"/>
          <p:nvPr/>
        </p:nvSpPr>
        <p:spPr>
          <a:xfrm>
            <a:off x="713232" y="749808"/>
            <a:ext cx="10768888"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82A21"/>
                </a:solidFill>
                <a:latin typeface="Trebuchet MS"/>
              </a:rPr>
              <a:t>Checkout with Stripe</a:t>
            </a:r>
          </a:p>
        </p:txBody>
      </p:sp>
      <p:sp>
        <p:nvSpPr>
          <p:cNvPr id="5" name="Rectangle 4"/>
          <p:cNvSpPr/>
          <p:nvPr/>
        </p:nvSpPr>
        <p:spPr>
          <a:xfrm>
            <a:off x="713232" y="1389888"/>
            <a:ext cx="566928"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572768"/>
            <a:ext cx="9509760" cy="36576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6E7A72"/>
                </a:solidFill>
                <a:latin typeface="Tahoma"/>
              </a:rPr>
              <a:t>Payment is confirmed by Stripe before any order row exists, and the confirm endpoint is safe to call twice.</a:t>
            </a:r>
          </a:p>
        </p:txBody>
      </p:sp>
      <p:sp>
        <p:nvSpPr>
          <p:cNvPr id="7" name="Rounded Rectangle 6"/>
          <p:cNvSpPr/>
          <p:nvPr/>
        </p:nvSpPr>
        <p:spPr>
          <a:xfrm>
            <a:off x="713232" y="2077973"/>
            <a:ext cx="1978212" cy="786384"/>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100" b="1" i="0">
                <a:solidFill>
                  <a:srgbClr val="182A21"/>
                </a:solidFill>
                <a:latin typeface="Trebuchet MS"/>
              </a:rPr>
              <a:t>Delivery form</a:t>
            </a:r>
          </a:p>
        </p:txBody>
      </p:sp>
      <p:sp>
        <p:nvSpPr>
          <p:cNvPr id="8" name="Right Arrow 7"/>
          <p:cNvSpPr/>
          <p:nvPr/>
        </p:nvSpPr>
        <p:spPr>
          <a:xfrm>
            <a:off x="2664013" y="2398013"/>
            <a:ext cx="274320" cy="146304"/>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2910900" y="2077973"/>
            <a:ext cx="1978212" cy="786384"/>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100" b="1" i="0">
                <a:solidFill>
                  <a:srgbClr val="182A21"/>
                </a:solidFill>
                <a:latin typeface="Trebuchet MS"/>
              </a:rPr>
              <a:t>POST /checkout</a:t>
            </a:r>
          </a:p>
          <a:p>
            <a:pPr algn="ctr">
              <a:lnSpc>
                <a:spcPct val="105000"/>
              </a:lnSpc>
              <a:spcBef>
                <a:spcPts val="100"/>
              </a:spcBef>
              <a:spcAft>
                <a:spcPts val="0"/>
              </a:spcAft>
            </a:pPr>
            <a:r>
              <a:rPr sz="1100" b="1" i="0">
                <a:solidFill>
                  <a:srgbClr val="182A21"/>
                </a:solidFill>
                <a:latin typeface="Trebuchet MS"/>
              </a:rPr>
              <a:t>create PaymentIntent</a:t>
            </a:r>
          </a:p>
        </p:txBody>
      </p:sp>
      <p:sp>
        <p:nvSpPr>
          <p:cNvPr id="10" name="Right Arrow 9"/>
          <p:cNvSpPr/>
          <p:nvPr/>
        </p:nvSpPr>
        <p:spPr>
          <a:xfrm>
            <a:off x="4861681" y="2398013"/>
            <a:ext cx="274320" cy="146304"/>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5108568" y="2077973"/>
            <a:ext cx="1978212" cy="786384"/>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100" b="1" i="0">
                <a:solidFill>
                  <a:srgbClr val="182A21"/>
                </a:solidFill>
                <a:latin typeface="Trebuchet MS"/>
              </a:rPr>
              <a:t>Stripe Elements</a:t>
            </a:r>
          </a:p>
          <a:p>
            <a:pPr algn="ctr">
              <a:lnSpc>
                <a:spcPct val="105000"/>
              </a:lnSpc>
              <a:spcBef>
                <a:spcPts val="100"/>
              </a:spcBef>
              <a:spcAft>
                <a:spcPts val="0"/>
              </a:spcAft>
            </a:pPr>
            <a:r>
              <a:rPr sz="1100" b="1" i="0">
                <a:solidFill>
                  <a:srgbClr val="182A21"/>
                </a:solidFill>
                <a:latin typeface="Trebuchet MS"/>
              </a:rPr>
              <a:t>card confirmation</a:t>
            </a:r>
          </a:p>
        </p:txBody>
      </p:sp>
      <p:sp>
        <p:nvSpPr>
          <p:cNvPr id="12" name="Right Arrow 11"/>
          <p:cNvSpPr/>
          <p:nvPr/>
        </p:nvSpPr>
        <p:spPr>
          <a:xfrm>
            <a:off x="7059349" y="2398013"/>
            <a:ext cx="274320" cy="146304"/>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7306236" y="2077973"/>
            <a:ext cx="1978212" cy="786384"/>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100" b="1" i="0">
                <a:solidFill>
                  <a:srgbClr val="182A21"/>
                </a:solidFill>
                <a:latin typeface="Trebuchet MS"/>
              </a:rPr>
              <a:t>POST /orders/confirm</a:t>
            </a:r>
          </a:p>
        </p:txBody>
      </p:sp>
      <p:sp>
        <p:nvSpPr>
          <p:cNvPr id="14" name="Right Arrow 13"/>
          <p:cNvSpPr/>
          <p:nvPr/>
        </p:nvSpPr>
        <p:spPr>
          <a:xfrm>
            <a:off x="9257017" y="2398013"/>
            <a:ext cx="274320" cy="146304"/>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9503904" y="2077973"/>
            <a:ext cx="1978212" cy="786384"/>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100" b="1" i="0">
                <a:solidFill>
                  <a:srgbClr val="182A21"/>
                </a:solidFill>
                <a:latin typeface="Trebuchet MS"/>
              </a:rPr>
              <a:t>Order + items</a:t>
            </a:r>
          </a:p>
          <a:p>
            <a:pPr algn="ctr">
              <a:lnSpc>
                <a:spcPct val="105000"/>
              </a:lnSpc>
              <a:spcBef>
                <a:spcPts val="100"/>
              </a:spcBef>
              <a:spcAft>
                <a:spcPts val="0"/>
              </a:spcAft>
            </a:pPr>
            <a:r>
              <a:rPr sz="1100" b="1" i="0">
                <a:solidFill>
                  <a:srgbClr val="182A21"/>
                </a:solidFill>
                <a:latin typeface="Trebuchet MS"/>
              </a:rPr>
              <a:t>written</a:t>
            </a:r>
          </a:p>
        </p:txBody>
      </p:sp>
      <p:sp>
        <p:nvSpPr>
          <p:cNvPr id="16" name="Rounded Rectangle 15"/>
          <p:cNvSpPr/>
          <p:nvPr/>
        </p:nvSpPr>
        <p:spPr>
          <a:xfrm>
            <a:off x="713232" y="3102101"/>
            <a:ext cx="5212080" cy="1549450"/>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713232" y="3102101"/>
            <a:ext cx="50292" cy="1549450"/>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9264" y="3303269"/>
            <a:ext cx="4773168" cy="1220266"/>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INTEGRITY</a:t>
            </a:r>
          </a:p>
          <a:p>
            <a:pPr algn="l">
              <a:lnSpc>
                <a:spcPct val="110000"/>
              </a:lnSpc>
              <a:spcBef>
                <a:spcPts val="0"/>
              </a:spcBef>
              <a:spcAft>
                <a:spcPts val="500"/>
              </a:spcAft>
            </a:pPr>
            <a:r>
              <a:rPr sz="1500" b="1" i="0">
                <a:solidFill>
                  <a:srgbClr val="182A21"/>
                </a:solidFill>
                <a:latin typeface="Trebuchet MS"/>
              </a:rPr>
              <a:t>Order intent travels with the payment</a:t>
            </a:r>
          </a:p>
          <a:p>
            <a:pPr algn="l">
              <a:lnSpc>
                <a:spcPct val="126000"/>
              </a:lnSpc>
              <a:spcBef>
                <a:spcPts val="0"/>
              </a:spcBef>
              <a:spcAft>
                <a:spcPts val="0"/>
              </a:spcAft>
            </a:pPr>
            <a:r>
              <a:rPr sz="1150" b="0" i="0">
                <a:solidFill>
                  <a:srgbClr val="6E7A72"/>
                </a:solidFill>
                <a:latin typeface="Tahoma"/>
              </a:rPr>
              <a:t>Line items, the delivery form and the user id are attached to the PaymentIntent metadata. The server rebuilds the order from Stripe rather than trusting a second request from the browser.</a:t>
            </a:r>
          </a:p>
        </p:txBody>
      </p:sp>
      <p:sp>
        <p:nvSpPr>
          <p:cNvPr id="19" name="Rounded Rectangle 18"/>
          <p:cNvSpPr/>
          <p:nvPr/>
        </p:nvSpPr>
        <p:spPr>
          <a:xfrm>
            <a:off x="6291072" y="3102101"/>
            <a:ext cx="5184648" cy="1549450"/>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291072" y="3102101"/>
            <a:ext cx="50292" cy="1549450"/>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47104" y="3303269"/>
            <a:ext cx="4745736" cy="1220266"/>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RELIABILITY</a:t>
            </a:r>
          </a:p>
          <a:p>
            <a:pPr algn="l">
              <a:lnSpc>
                <a:spcPct val="110000"/>
              </a:lnSpc>
              <a:spcBef>
                <a:spcPts val="0"/>
              </a:spcBef>
              <a:spcAft>
                <a:spcPts val="500"/>
              </a:spcAft>
            </a:pPr>
            <a:r>
              <a:rPr sz="1500" b="1" i="0">
                <a:solidFill>
                  <a:srgbClr val="182A21"/>
                </a:solidFill>
                <a:latin typeface="Trebuchet MS"/>
              </a:rPr>
              <a:t>Confirm is idempotent</a:t>
            </a:r>
          </a:p>
          <a:p>
            <a:pPr algn="l">
              <a:lnSpc>
                <a:spcPct val="126000"/>
              </a:lnSpc>
              <a:spcBef>
                <a:spcPts val="0"/>
              </a:spcBef>
              <a:spcAft>
                <a:spcPts val="0"/>
              </a:spcAft>
            </a:pPr>
            <a:r>
              <a:rPr sz="1150" b="0" i="0">
                <a:solidFill>
                  <a:srgbClr val="6E7A72"/>
                </a:solidFill>
                <a:latin typeface="Tahoma"/>
              </a:rPr>
              <a:t>The handler first looks for an existing order with the same paymentId and returns it if found, so a refresh or a double submit cannot create a duplicate order.</a:t>
            </a:r>
          </a:p>
        </p:txBody>
      </p:sp>
      <p:sp>
        <p:nvSpPr>
          <p:cNvPr id="22" name="Rounded Rectangle 21"/>
          <p:cNvSpPr/>
          <p:nvPr/>
        </p:nvSpPr>
        <p:spPr>
          <a:xfrm>
            <a:off x="713232" y="4907583"/>
            <a:ext cx="10768888" cy="800100"/>
          </a:xfrm>
          <a:prstGeom prst="roundRect">
            <a:avLst>
              <a:gd name="adj" fmla="val 4000"/>
            </a:avLst>
          </a:prstGeom>
          <a:solidFill>
            <a:srgbClr val="182A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32688" y="5044743"/>
            <a:ext cx="10329976" cy="580644"/>
          </a:xfrm>
          <a:prstGeom prst="rect">
            <a:avLst/>
          </a:prstGeom>
          <a:noFill/>
        </p:spPr>
        <p:txBody>
          <a:bodyPr wrap="square" lIns="0" rIns="0" tIns="0" bIns="0" anchor="t">
            <a:spAutoFit/>
          </a:bodyPr>
          <a:lstStyle/>
          <a:p>
            <a:pPr algn="l">
              <a:lnSpc>
                <a:spcPct val="150000"/>
              </a:lnSpc>
              <a:spcBef>
                <a:spcPts val="0"/>
              </a:spcBef>
              <a:spcAft>
                <a:spcPts val="0"/>
              </a:spcAft>
            </a:pPr>
            <a:r>
              <a:rPr sz="1150" b="0" i="0">
                <a:solidFill>
                  <a:srgbClr val="ECE8E1"/>
                </a:solidFill>
                <a:latin typeface="Courier New"/>
              </a:rPr>
              <a:t>const intent = await stripe.paymentIntents.retrieve(paymentIntentId);</a:t>
            </a:r>
          </a:p>
          <a:p>
            <a:pPr algn="l">
              <a:lnSpc>
                <a:spcPct val="150000"/>
              </a:lnSpc>
              <a:spcBef>
                <a:spcPts val="0"/>
              </a:spcBef>
              <a:spcAft>
                <a:spcPts val="0"/>
              </a:spcAft>
            </a:pPr>
            <a:r>
              <a:rPr sz="1150" b="0" i="0">
                <a:solidFill>
                  <a:srgbClr val="ECE8E1"/>
                </a:solidFill>
                <a:latin typeface="Courier New"/>
              </a:rPr>
              <a:t>if (intent.status !== "succeeded") return res.status(400)...   // never trust the client</a:t>
            </a:r>
          </a:p>
        </p:txBody>
      </p:sp>
      <p:sp>
        <p:nvSpPr>
          <p:cNvPr id="24" name="Rectangle 23"/>
          <p:cNvSpPr/>
          <p:nvPr/>
        </p:nvSpPr>
        <p:spPr>
          <a:xfrm>
            <a:off x="713232" y="6272784"/>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13232" y="6382512"/>
            <a:ext cx="54864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6E7A72"/>
                </a:solidFill>
                <a:latin typeface="Trebuchet MS"/>
              </a:rPr>
              <a:t>TrailBlaze</a:t>
            </a:r>
            <a:r>
              <a:rPr sz="950" b="0" i="0">
                <a:solidFill>
                  <a:srgbClr val="6E7A72"/>
                </a:solidFill>
                <a:latin typeface="Trebuchet MS"/>
              </a:rPr>
              <a:t>   |   Hiking E-Commerce and Trail Discovery</a:t>
            </a:r>
          </a:p>
        </p:txBody>
      </p:sp>
      <p:sp>
        <p:nvSpPr>
          <p:cNvPr id="26" name="TextBox 25"/>
          <p:cNvSpPr txBox="1"/>
          <p:nvPr/>
        </p:nvSpPr>
        <p:spPr>
          <a:xfrm>
            <a:off x="10515600" y="6382512"/>
            <a:ext cx="964692" cy="274320"/>
          </a:xfrm>
          <a:prstGeom prst="rect">
            <a:avLst/>
          </a:prstGeom>
          <a:noFill/>
        </p:spPr>
        <p:txBody>
          <a:bodyPr wrap="square" lIns="0" rIns="0" tIns="0" bIns="0" anchor="t">
            <a:spAutoFit/>
          </a:bodyPr>
          <a:lstStyle/>
          <a:p>
            <a:pPr algn="r">
              <a:lnSpc>
                <a:spcPct val="122000"/>
              </a:lnSpc>
              <a:spcBef>
                <a:spcPts val="0"/>
              </a:spcBef>
              <a:spcAft>
                <a:spcPts val="0"/>
              </a:spcAft>
            </a:pPr>
            <a:r>
              <a:rPr sz="950" b="1" i="0">
                <a:solidFill>
                  <a:srgbClr val="6E7A72"/>
                </a:solidFill>
                <a:latin typeface="Trebuchet M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8888" cy="237744"/>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4F8A63"/>
                </a:solidFill>
                <a:latin typeface="Trebuchet MS"/>
              </a:rPr>
              <a:t>FEATURES</a:t>
            </a:r>
          </a:p>
        </p:txBody>
      </p:sp>
      <p:sp>
        <p:nvSpPr>
          <p:cNvPr id="4" name="TextBox 3"/>
          <p:cNvSpPr txBox="1"/>
          <p:nvPr/>
        </p:nvSpPr>
        <p:spPr>
          <a:xfrm>
            <a:off x="713232" y="749808"/>
            <a:ext cx="10768888"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82A21"/>
                </a:solidFill>
                <a:latin typeface="Trebuchet MS"/>
              </a:rPr>
              <a:t>Order lifecycle and stock</a:t>
            </a:r>
          </a:p>
        </p:txBody>
      </p:sp>
      <p:sp>
        <p:nvSpPr>
          <p:cNvPr id="5" name="Rectangle 4"/>
          <p:cNvSpPr/>
          <p:nvPr/>
        </p:nvSpPr>
        <p:spPr>
          <a:xfrm>
            <a:off x="713232" y="1389888"/>
            <a:ext cx="566928"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572768"/>
            <a:ext cx="9509760" cy="36576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6E7A72"/>
                </a:solidFill>
                <a:latin typeface="Tahoma"/>
              </a:rPr>
              <a:t>A confirmed order decrements per-size stock, retires sold-out sizes and then advances through delivery states.</a:t>
            </a:r>
          </a:p>
        </p:txBody>
      </p:sp>
      <p:sp>
        <p:nvSpPr>
          <p:cNvPr id="7" name="Rounded Rectangle 6"/>
          <p:cNvSpPr/>
          <p:nvPr/>
        </p:nvSpPr>
        <p:spPr>
          <a:xfrm>
            <a:off x="713232" y="2077973"/>
            <a:ext cx="1934321" cy="640080"/>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200" b="1" i="0">
                <a:solidFill>
                  <a:srgbClr val="182A21"/>
                </a:solidFill>
                <a:latin typeface="Trebuchet MS"/>
              </a:rPr>
              <a:t>Processing</a:t>
            </a:r>
          </a:p>
        </p:txBody>
      </p:sp>
      <p:sp>
        <p:nvSpPr>
          <p:cNvPr id="8" name="Right Arrow 7"/>
          <p:cNvSpPr/>
          <p:nvPr/>
        </p:nvSpPr>
        <p:spPr>
          <a:xfrm>
            <a:off x="2647554" y="2324861"/>
            <a:ext cx="274320" cy="146304"/>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2921873" y="2077973"/>
            <a:ext cx="1934321" cy="640080"/>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200" b="1" i="0">
                <a:solidFill>
                  <a:srgbClr val="182A21"/>
                </a:solidFill>
                <a:latin typeface="Trebuchet MS"/>
              </a:rPr>
              <a:t>Packing</a:t>
            </a:r>
          </a:p>
        </p:txBody>
      </p:sp>
      <p:sp>
        <p:nvSpPr>
          <p:cNvPr id="10" name="Right Arrow 9"/>
          <p:cNvSpPr/>
          <p:nvPr/>
        </p:nvSpPr>
        <p:spPr>
          <a:xfrm>
            <a:off x="4856195" y="2324861"/>
            <a:ext cx="274320" cy="146304"/>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5130514" y="2077973"/>
            <a:ext cx="1934321" cy="640080"/>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200" b="1" i="0">
                <a:solidFill>
                  <a:srgbClr val="182A21"/>
                </a:solidFill>
                <a:latin typeface="Trebuchet MS"/>
              </a:rPr>
              <a:t>In Transit</a:t>
            </a:r>
          </a:p>
        </p:txBody>
      </p:sp>
      <p:sp>
        <p:nvSpPr>
          <p:cNvPr id="12" name="Right Arrow 11"/>
          <p:cNvSpPr/>
          <p:nvPr/>
        </p:nvSpPr>
        <p:spPr>
          <a:xfrm>
            <a:off x="7064836" y="2324861"/>
            <a:ext cx="274320" cy="146304"/>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7339155" y="2077973"/>
            <a:ext cx="1934321" cy="640080"/>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200" b="1" i="0">
                <a:solidFill>
                  <a:srgbClr val="182A21"/>
                </a:solidFill>
                <a:latin typeface="Trebuchet MS"/>
              </a:rPr>
              <a:t>Delivering</a:t>
            </a:r>
          </a:p>
        </p:txBody>
      </p:sp>
      <p:sp>
        <p:nvSpPr>
          <p:cNvPr id="14" name="Right Arrow 13"/>
          <p:cNvSpPr/>
          <p:nvPr/>
        </p:nvSpPr>
        <p:spPr>
          <a:xfrm>
            <a:off x="9273477" y="2324861"/>
            <a:ext cx="274320" cy="146304"/>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9547796" y="2077973"/>
            <a:ext cx="1934321" cy="640080"/>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200" b="1" i="0">
                <a:solidFill>
                  <a:srgbClr val="182A21"/>
                </a:solidFill>
                <a:latin typeface="Trebuchet MS"/>
              </a:rPr>
              <a:t>Delivered</a:t>
            </a:r>
          </a:p>
        </p:txBody>
      </p:sp>
      <p:sp>
        <p:nvSpPr>
          <p:cNvPr id="16" name="TextBox 15"/>
          <p:cNvSpPr txBox="1"/>
          <p:nvPr/>
        </p:nvSpPr>
        <p:spPr>
          <a:xfrm>
            <a:off x="713232" y="2827781"/>
            <a:ext cx="10768888" cy="274320"/>
          </a:xfrm>
          <a:prstGeom prst="rect">
            <a:avLst/>
          </a:prstGeom>
          <a:noFill/>
        </p:spPr>
        <p:txBody>
          <a:bodyPr wrap="square" lIns="0" rIns="0" tIns="0" bIns="0" anchor="t">
            <a:spAutoFit/>
          </a:bodyPr>
          <a:lstStyle/>
          <a:p>
            <a:pPr algn="l">
              <a:lnSpc>
                <a:spcPct val="122000"/>
              </a:lnSpc>
              <a:spcBef>
                <a:spcPts val="0"/>
              </a:spcBef>
              <a:spcAft>
                <a:spcPts val="0"/>
              </a:spcAft>
            </a:pPr>
            <a:r>
              <a:rPr sz="1100" b="0" i="1">
                <a:solidFill>
                  <a:srgbClr val="6E7A72"/>
                </a:solidFill>
                <a:latin typeface="Tahoma"/>
              </a:rPr>
              <a:t>Advanced on a timer so the tracking UI can be demonstrated end to end</a:t>
            </a:r>
          </a:p>
        </p:txBody>
      </p:sp>
      <p:sp>
        <p:nvSpPr>
          <p:cNvPr id="17" name="Rounded Rectangle 16"/>
          <p:cNvSpPr/>
          <p:nvPr/>
        </p:nvSpPr>
        <p:spPr>
          <a:xfrm>
            <a:off x="713232" y="3230117"/>
            <a:ext cx="5212080" cy="1549450"/>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713232" y="3230117"/>
            <a:ext cx="50292" cy="1549450"/>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69264" y="3431285"/>
            <a:ext cx="4773168" cy="1220266"/>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ON CONFIRM</a:t>
            </a:r>
          </a:p>
          <a:p>
            <a:pPr algn="l">
              <a:lnSpc>
                <a:spcPct val="110000"/>
              </a:lnSpc>
              <a:spcBef>
                <a:spcPts val="0"/>
              </a:spcBef>
              <a:spcAft>
                <a:spcPts val="500"/>
              </a:spcAft>
            </a:pPr>
            <a:r>
              <a:rPr sz="1500" b="1" i="0">
                <a:solidFill>
                  <a:srgbClr val="182A21"/>
                </a:solidFill>
                <a:latin typeface="Trebuchet MS"/>
              </a:rPr>
              <a:t>Stock is decremented per size</a:t>
            </a:r>
          </a:p>
          <a:p>
            <a:pPr algn="l">
              <a:lnSpc>
                <a:spcPct val="126000"/>
              </a:lnSpc>
              <a:spcBef>
                <a:spcPts val="0"/>
              </a:spcBef>
              <a:spcAft>
                <a:spcPts val="0"/>
              </a:spcAft>
            </a:pPr>
            <a:r>
              <a:rPr sz="1150" b="0" i="0">
                <a:solidFill>
                  <a:srgbClr val="6E7A72"/>
                </a:solidFill>
                <a:latin typeface="Tahoma"/>
              </a:rPr>
              <a:t>The ordered quantity is subtracted from the size key in Product.stock. When a size reaches zero it is also removed from availableSizes, so it stops appearing as selectable.</a:t>
            </a:r>
          </a:p>
        </p:txBody>
      </p:sp>
      <p:sp>
        <p:nvSpPr>
          <p:cNvPr id="20" name="Rounded Rectangle 19"/>
          <p:cNvSpPr/>
          <p:nvPr/>
        </p:nvSpPr>
        <p:spPr>
          <a:xfrm>
            <a:off x="6291072" y="3230117"/>
            <a:ext cx="5184648" cy="1549450"/>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291072" y="3230117"/>
            <a:ext cx="50292" cy="1549450"/>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47104" y="3431285"/>
            <a:ext cx="4745736" cy="1220266"/>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FOUND AND FIXED</a:t>
            </a:r>
          </a:p>
          <a:p>
            <a:pPr algn="l">
              <a:lnSpc>
                <a:spcPct val="110000"/>
              </a:lnSpc>
              <a:spcBef>
                <a:spcPts val="0"/>
              </a:spcBef>
              <a:spcAft>
                <a:spcPts val="500"/>
              </a:spcAft>
            </a:pPr>
            <a:r>
              <a:rPr sz="1500" b="1" i="0">
                <a:solidFill>
                  <a:srgbClr val="182A21"/>
                </a:solidFill>
                <a:latin typeface="Trebuchet MS"/>
              </a:rPr>
              <a:t>A bug worth naming</a:t>
            </a:r>
          </a:p>
          <a:p>
            <a:pPr algn="l">
              <a:lnSpc>
                <a:spcPct val="126000"/>
              </a:lnSpc>
              <a:spcBef>
                <a:spcPts val="0"/>
              </a:spcBef>
              <a:spcAft>
                <a:spcPts val="0"/>
              </a:spcAft>
            </a:pPr>
            <a:r>
              <a:rPr sz="1150" b="0" i="0">
                <a:solidFill>
                  <a:srgbClr val="6E7A72"/>
                </a:solidFill>
                <a:latin typeface="Tahoma"/>
              </a:rPr>
              <a:t>The admin decrement deleted the size from the source object instead of the copy being persisted, which left a stale value behind and stopped the last unit of a size ever selling out.</a:t>
            </a:r>
          </a:p>
        </p:txBody>
      </p:sp>
      <p:sp>
        <p:nvSpPr>
          <p:cNvPr id="23" name="TextBox 22"/>
          <p:cNvSpPr txBox="1"/>
          <p:nvPr/>
        </p:nvSpPr>
        <p:spPr>
          <a:xfrm>
            <a:off x="713232" y="5035599"/>
            <a:ext cx="10768888" cy="1097280"/>
          </a:xfrm>
          <a:prstGeom prst="rect">
            <a:avLst/>
          </a:prstGeom>
          <a:noFill/>
        </p:spPr>
        <p:txBody>
          <a:bodyPr wrap="square" lIns="0" rIns="0" tIns="0" bIns="0" anchor="t">
            <a:spAutoFit/>
          </a:bodyPr>
          <a:lstStyle/>
          <a:p>
            <a:pPr algn="l">
              <a:lnSpc>
                <a:spcPct val="135000"/>
              </a:lnSpc>
              <a:spcBef>
                <a:spcPts val="0"/>
              </a:spcBef>
              <a:spcAft>
                <a:spcPts val="0"/>
              </a:spcAft>
            </a:pPr>
            <a:r>
              <a:rPr sz="1400" b="1" i="0">
                <a:solidFill>
                  <a:srgbClr val="C1943C"/>
                </a:solidFill>
                <a:latin typeface="Trebuchet MS"/>
              </a:rPr>
              <a:t>Known limitation.  </a:t>
            </a:r>
            <a:r>
              <a:rPr sz="1400" b="0" i="0">
                <a:solidFill>
                  <a:srgbClr val="232E27"/>
                </a:solidFill>
                <a:latin typeface="Tahoma"/>
              </a:rPr>
              <a:t>Status transitions run on in-process timers, so a server restart loses the schedule for orders in flight. A durable job queue or a Stripe webhook is the correct production answer.</a:t>
            </a:r>
          </a:p>
        </p:txBody>
      </p:sp>
      <p:sp>
        <p:nvSpPr>
          <p:cNvPr id="24" name="Rectangle 23"/>
          <p:cNvSpPr/>
          <p:nvPr/>
        </p:nvSpPr>
        <p:spPr>
          <a:xfrm>
            <a:off x="713232" y="6272784"/>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13232" y="6382512"/>
            <a:ext cx="54864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6E7A72"/>
                </a:solidFill>
                <a:latin typeface="Trebuchet MS"/>
              </a:rPr>
              <a:t>TrailBlaze</a:t>
            </a:r>
            <a:r>
              <a:rPr sz="950" b="0" i="0">
                <a:solidFill>
                  <a:srgbClr val="6E7A72"/>
                </a:solidFill>
                <a:latin typeface="Trebuchet MS"/>
              </a:rPr>
              <a:t>   |   Hiking E-Commerce and Trail Discovery</a:t>
            </a:r>
          </a:p>
        </p:txBody>
      </p:sp>
      <p:sp>
        <p:nvSpPr>
          <p:cNvPr id="26" name="TextBox 25"/>
          <p:cNvSpPr txBox="1"/>
          <p:nvPr/>
        </p:nvSpPr>
        <p:spPr>
          <a:xfrm>
            <a:off x="10515600" y="6382512"/>
            <a:ext cx="964692" cy="274320"/>
          </a:xfrm>
          <a:prstGeom prst="rect">
            <a:avLst/>
          </a:prstGeom>
          <a:noFill/>
        </p:spPr>
        <p:txBody>
          <a:bodyPr wrap="square" lIns="0" rIns="0" tIns="0" bIns="0" anchor="t">
            <a:spAutoFit/>
          </a:bodyPr>
          <a:lstStyle/>
          <a:p>
            <a:pPr algn="r">
              <a:lnSpc>
                <a:spcPct val="122000"/>
              </a:lnSpc>
              <a:spcBef>
                <a:spcPts val="0"/>
              </a:spcBef>
              <a:spcAft>
                <a:spcPts val="0"/>
              </a:spcAft>
            </a:pPr>
            <a:r>
              <a:rPr sz="950" b="1" i="0">
                <a:solidFill>
                  <a:srgbClr val="6E7A72"/>
                </a:solidFill>
                <a:latin typeface="Trebuchet M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8888" cy="237744"/>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4F8A63"/>
                </a:solidFill>
                <a:latin typeface="Trebuchet MS"/>
              </a:rPr>
              <a:t>FEATURES</a:t>
            </a:r>
          </a:p>
        </p:txBody>
      </p:sp>
      <p:sp>
        <p:nvSpPr>
          <p:cNvPr id="4" name="TextBox 3"/>
          <p:cNvSpPr txBox="1"/>
          <p:nvPr/>
        </p:nvSpPr>
        <p:spPr>
          <a:xfrm>
            <a:off x="713232" y="749808"/>
            <a:ext cx="10768888"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82A21"/>
                </a:solidFill>
                <a:latin typeface="Trebuchet MS"/>
              </a:rPr>
              <a:t>Admin inventory console</a:t>
            </a:r>
          </a:p>
        </p:txBody>
      </p:sp>
      <p:sp>
        <p:nvSpPr>
          <p:cNvPr id="5" name="Rectangle 4"/>
          <p:cNvSpPr/>
          <p:nvPr/>
        </p:nvSpPr>
        <p:spPr>
          <a:xfrm>
            <a:off x="713232" y="1389888"/>
            <a:ext cx="566928"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572768"/>
            <a:ext cx="9509760" cy="36576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6E7A72"/>
                </a:solidFill>
                <a:latin typeface="Tahoma"/>
              </a:rPr>
              <a:t>An internal page for stock keeping, reachable only by an account whose role is administrator in the database.</a:t>
            </a:r>
          </a:p>
        </p:txBody>
      </p:sp>
      <p:sp>
        <p:nvSpPr>
          <p:cNvPr id="7" name="Rounded Rectangle 6"/>
          <p:cNvSpPr/>
          <p:nvPr/>
        </p:nvSpPr>
        <p:spPr>
          <a:xfrm>
            <a:off x="713232" y="2077973"/>
            <a:ext cx="5212080" cy="2290267"/>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13232" y="2077973"/>
            <a:ext cx="50292" cy="2290267"/>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9264" y="2279141"/>
            <a:ext cx="4773168" cy="1773936"/>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OPERATIONS</a:t>
            </a:r>
          </a:p>
          <a:p>
            <a:pPr algn="l">
              <a:lnSpc>
                <a:spcPct val="110000"/>
              </a:lnSpc>
              <a:spcBef>
                <a:spcPts val="0"/>
              </a:spcBef>
              <a:spcAft>
                <a:spcPts val="0"/>
              </a:spcAft>
            </a:pPr>
            <a:r>
              <a:rPr sz="1500" b="1" i="0">
                <a:solidFill>
                  <a:srgbClr val="182A21"/>
                </a:solidFill>
                <a:latin typeface="Trebuchet MS"/>
              </a:rPr>
              <a:t>What the page does</a:t>
            </a:r>
          </a:p>
        </p:txBody>
      </p:sp>
      <p:sp>
        <p:nvSpPr>
          <p:cNvPr id="10" name="TextBox 9"/>
          <p:cNvSpPr txBox="1"/>
          <p:nvPr/>
        </p:nvSpPr>
        <p:spPr>
          <a:xfrm>
            <a:off x="969264" y="2864357"/>
            <a:ext cx="4754880" cy="365760"/>
          </a:xfrm>
          <a:prstGeom prst="rect">
            <a:avLst/>
          </a:prstGeom>
          <a:noFill/>
        </p:spPr>
        <p:txBody>
          <a:bodyPr wrap="square" lIns="0" rIns="0" tIns="0" bIns="0" anchor="t">
            <a:spAutoFit/>
          </a:bodyPr>
          <a:lstStyle/>
          <a:p>
            <a:pPr algn="l" marL="187452" indent="-187452">
              <a:lnSpc>
                <a:spcPct val="126000"/>
              </a:lnSpc>
              <a:spcBef>
                <a:spcPts val="0"/>
              </a:spcBef>
              <a:spcAft>
                <a:spcPts val="0"/>
              </a:spcAft>
            </a:pPr>
            <a:r>
              <a:rPr sz="1200" b="1" i="0">
                <a:solidFill>
                  <a:srgbClr val="4F8A63"/>
                </a:solidFill>
                <a:latin typeface="Tahoma"/>
              </a:rPr>
              <a:t>▪   </a:t>
            </a:r>
            <a:r>
              <a:rPr sz="1200" b="1" i="0">
                <a:solidFill>
                  <a:srgbClr val="182A21"/>
                </a:solidFill>
                <a:latin typeface="Tahoma"/>
              </a:rPr>
              <a:t>List  </a:t>
            </a:r>
            <a:r>
              <a:rPr sz="1200" b="0" i="0">
                <a:solidFill>
                  <a:srgbClr val="232E27"/>
                </a:solidFill>
                <a:latin typeface="Tahoma"/>
              </a:rPr>
              <a:t>every product with its per-size stock levels</a:t>
            </a:r>
          </a:p>
          <a:p>
            <a:pPr algn="l" marL="187452" indent="-187452">
              <a:lnSpc>
                <a:spcPct val="126000"/>
              </a:lnSpc>
              <a:spcBef>
                <a:spcPts val="1000"/>
              </a:spcBef>
              <a:spcAft>
                <a:spcPts val="0"/>
              </a:spcAft>
            </a:pPr>
            <a:r>
              <a:rPr sz="1200" b="1" i="0">
                <a:solidFill>
                  <a:srgbClr val="4F8A63"/>
                </a:solidFill>
                <a:latin typeface="Tahoma"/>
              </a:rPr>
              <a:t>▪   </a:t>
            </a:r>
            <a:r>
              <a:rPr sz="1200" b="1" i="0">
                <a:solidFill>
                  <a:srgbClr val="182A21"/>
                </a:solidFill>
                <a:latin typeface="Tahoma"/>
              </a:rPr>
              <a:t>Increase  </a:t>
            </a:r>
            <a:r>
              <a:rPr sz="1200" b="0" i="0">
                <a:solidFill>
                  <a:srgbClr val="232E27"/>
                </a:solidFill>
                <a:latin typeface="Tahoma"/>
              </a:rPr>
              <a:t>stock for one size by a validated quantity</a:t>
            </a:r>
          </a:p>
          <a:p>
            <a:pPr algn="l" marL="187452" indent="-187452">
              <a:lnSpc>
                <a:spcPct val="126000"/>
              </a:lnSpc>
              <a:spcBef>
                <a:spcPts val="1000"/>
              </a:spcBef>
              <a:spcAft>
                <a:spcPts val="0"/>
              </a:spcAft>
            </a:pPr>
            <a:r>
              <a:rPr sz="1200" b="1" i="0">
                <a:solidFill>
                  <a:srgbClr val="4F8A63"/>
                </a:solidFill>
                <a:latin typeface="Tahoma"/>
              </a:rPr>
              <a:t>▪   </a:t>
            </a:r>
            <a:r>
              <a:rPr sz="1200" b="1" i="0">
                <a:solidFill>
                  <a:srgbClr val="182A21"/>
                </a:solidFill>
                <a:latin typeface="Tahoma"/>
              </a:rPr>
              <a:t>Decrease  </a:t>
            </a:r>
            <a:r>
              <a:rPr sz="1200" b="0" i="0">
                <a:solidFill>
                  <a:srgbClr val="232E27"/>
                </a:solidFill>
                <a:latin typeface="Tahoma"/>
              </a:rPr>
              <a:t>stock, dropping the key when it hits zero</a:t>
            </a:r>
          </a:p>
          <a:p>
            <a:pPr algn="l" marL="187452" indent="-187452">
              <a:lnSpc>
                <a:spcPct val="126000"/>
              </a:lnSpc>
              <a:spcBef>
                <a:spcPts val="1000"/>
              </a:spcBef>
              <a:spcAft>
                <a:spcPts val="0"/>
              </a:spcAft>
            </a:pPr>
            <a:r>
              <a:rPr sz="1200" b="1" i="0">
                <a:solidFill>
                  <a:srgbClr val="4F8A63"/>
                </a:solidFill>
                <a:latin typeface="Tahoma"/>
              </a:rPr>
              <a:t>▪   </a:t>
            </a:r>
            <a:r>
              <a:rPr sz="1200" b="1" i="0">
                <a:solidFill>
                  <a:srgbClr val="182A21"/>
                </a:solidFill>
                <a:latin typeface="Tahoma"/>
              </a:rPr>
              <a:t>Retire  </a:t>
            </a:r>
            <a:r>
              <a:rPr sz="1200" b="0" i="0">
                <a:solidFill>
                  <a:srgbClr val="232E27"/>
                </a:solidFill>
                <a:latin typeface="Tahoma"/>
              </a:rPr>
              <a:t>a size from a product entirely</a:t>
            </a:r>
          </a:p>
        </p:txBody>
      </p:sp>
      <p:sp>
        <p:nvSpPr>
          <p:cNvPr id="11" name="Rounded Rectangle 10"/>
          <p:cNvSpPr/>
          <p:nvPr/>
        </p:nvSpPr>
        <p:spPr>
          <a:xfrm>
            <a:off x="6291072" y="2077973"/>
            <a:ext cx="5184648" cy="1588770"/>
          </a:xfrm>
          <a:prstGeom prst="roundRect">
            <a:avLst>
              <a:gd name="adj" fmla="val 4000"/>
            </a:avLst>
          </a:prstGeom>
          <a:solidFill>
            <a:srgbClr val="182A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510528" y="2215133"/>
            <a:ext cx="4745736" cy="1369314"/>
          </a:xfrm>
          <a:prstGeom prst="rect">
            <a:avLst/>
          </a:prstGeom>
          <a:noFill/>
        </p:spPr>
        <p:txBody>
          <a:bodyPr wrap="square" lIns="0" rIns="0" tIns="0" bIns="0" anchor="t">
            <a:spAutoFit/>
          </a:bodyPr>
          <a:lstStyle/>
          <a:p>
            <a:pPr algn="l">
              <a:lnSpc>
                <a:spcPct val="150000"/>
              </a:lnSpc>
              <a:spcBef>
                <a:spcPts val="0"/>
              </a:spcBef>
              <a:spcAft>
                <a:spcPts val="0"/>
              </a:spcAft>
            </a:pPr>
            <a:r>
              <a:rPr sz="1150" b="0" i="0">
                <a:solidFill>
                  <a:srgbClr val="ECE8E1"/>
                </a:solidFill>
                <a:latin typeface="Courier New"/>
              </a:rPr>
              <a:t>PUT    /api/admin/add/:productId</a:t>
            </a:r>
          </a:p>
          <a:p>
            <a:pPr algn="l">
              <a:lnSpc>
                <a:spcPct val="150000"/>
              </a:lnSpc>
              <a:spcBef>
                <a:spcPts val="0"/>
              </a:spcBef>
              <a:spcAft>
                <a:spcPts val="0"/>
              </a:spcAft>
            </a:pPr>
            <a:r>
              <a:rPr sz="1150" b="0" i="0">
                <a:solidFill>
                  <a:srgbClr val="ECE8E1"/>
                </a:solidFill>
                <a:latin typeface="Courier New"/>
              </a:rPr>
              <a:t>PUT    /api/admin/decrease/:productId</a:t>
            </a:r>
          </a:p>
          <a:p>
            <a:pPr algn="l">
              <a:lnSpc>
                <a:spcPct val="150000"/>
              </a:lnSpc>
              <a:spcBef>
                <a:spcPts val="0"/>
              </a:spcBef>
              <a:spcAft>
                <a:spcPts val="0"/>
              </a:spcAft>
            </a:pPr>
            <a:r>
              <a:rPr sz="1150" b="0" i="0">
                <a:solidFill>
                  <a:srgbClr val="ECE8E1"/>
                </a:solidFill>
                <a:latin typeface="Courier New"/>
              </a:rPr>
              <a:t>DELETE /api/admin/remove/:productId/:size</a:t>
            </a:r>
          </a:p>
          <a:p>
            <a:pPr algn="l">
              <a:lnSpc>
                <a:spcPct val="150000"/>
              </a:lnSpc>
              <a:spcBef>
                <a:spcPts val="0"/>
              </a:spcBef>
              <a:spcAft>
                <a:spcPts val="0"/>
              </a:spcAft>
            </a:pPr>
            <a:r>
              <a:rPr sz="1150" b="0" i="0">
                <a:solidFill>
                  <a:srgbClr val="ECE8E1"/>
                </a:solidFill>
                <a:latin typeface="Courier New"/>
              </a:rPr>
              <a:t/>
            </a:r>
          </a:p>
          <a:p>
            <a:pPr algn="l">
              <a:lnSpc>
                <a:spcPct val="150000"/>
              </a:lnSpc>
              <a:spcBef>
                <a:spcPts val="0"/>
              </a:spcBef>
              <a:spcAft>
                <a:spcPts val="0"/>
              </a:spcAft>
            </a:pPr>
            <a:r>
              <a:rPr sz="1150" b="0" i="0">
                <a:solidFill>
                  <a:srgbClr val="ECE8E1"/>
                </a:solidFill>
                <a:latin typeface="Courier New"/>
              </a:rPr>
              <a:t>router.use(verifyJWT, requireAdmin);</a:t>
            </a:r>
          </a:p>
        </p:txBody>
      </p:sp>
      <p:sp>
        <p:nvSpPr>
          <p:cNvPr id="13" name="TextBox 12"/>
          <p:cNvSpPr txBox="1"/>
          <p:nvPr/>
        </p:nvSpPr>
        <p:spPr>
          <a:xfrm>
            <a:off x="6291072" y="3886199"/>
            <a:ext cx="5184648" cy="731520"/>
          </a:xfrm>
          <a:prstGeom prst="rect">
            <a:avLst/>
          </a:prstGeom>
          <a:noFill/>
        </p:spPr>
        <p:txBody>
          <a:bodyPr wrap="square" lIns="0" rIns="0" tIns="0" bIns="0" anchor="t">
            <a:spAutoFit/>
          </a:bodyPr>
          <a:lstStyle/>
          <a:p>
            <a:pPr algn="l">
              <a:lnSpc>
                <a:spcPct val="126000"/>
              </a:lnSpc>
              <a:spcBef>
                <a:spcPts val="0"/>
              </a:spcBef>
              <a:spcAft>
                <a:spcPts val="0"/>
              </a:spcAft>
            </a:pPr>
            <a:r>
              <a:rPr sz="1150" b="0" i="0">
                <a:solidFill>
                  <a:srgbClr val="6E7A72"/>
                </a:solidFill>
                <a:latin typeface="Tahoma"/>
              </a:rPr>
              <a:t>requireAdmin re-reads role and emailVerified from the database on every request, so removing an administrator takes effect at once rather than when their token expires.</a:t>
            </a:r>
          </a:p>
        </p:txBody>
      </p:sp>
      <p:sp>
        <p:nvSpPr>
          <p:cNvPr id="14" name="TextBox 13"/>
          <p:cNvSpPr txBox="1"/>
          <p:nvPr/>
        </p:nvSpPr>
        <p:spPr>
          <a:xfrm>
            <a:off x="713232" y="4642560"/>
            <a:ext cx="10768888" cy="1280160"/>
          </a:xfrm>
          <a:prstGeom prst="rect">
            <a:avLst/>
          </a:prstGeom>
          <a:noFill/>
        </p:spPr>
        <p:txBody>
          <a:bodyPr wrap="square" lIns="0" rIns="0" tIns="0" bIns="0" anchor="t">
            <a:spAutoFit/>
          </a:bodyPr>
          <a:lstStyle/>
          <a:p>
            <a:pPr algn="l">
              <a:lnSpc>
                <a:spcPct val="135000"/>
              </a:lnSpc>
              <a:spcBef>
                <a:spcPts val="0"/>
              </a:spcBef>
              <a:spcAft>
                <a:spcPts val="0"/>
              </a:spcAft>
            </a:pPr>
            <a:r>
              <a:rPr sz="1400" b="1" i="0">
                <a:solidFill>
                  <a:srgbClr val="182A21"/>
                </a:solidFill>
                <a:latin typeface="Trebuchet MS"/>
              </a:rPr>
              <a:t>Server-side validation.  </a:t>
            </a:r>
            <a:r>
              <a:rPr sz="1400" b="0" i="0">
                <a:solidFill>
                  <a:srgbClr val="232E27"/>
                </a:solidFill>
                <a:latin typeface="Tahoma"/>
              </a:rPr>
              <a:t>The quantity is coerced to a positive integer before use, the product is looked up before mutation, and a missing product returns 404 rather than writing a stock map for an id that does not exist.</a:t>
            </a:r>
          </a:p>
        </p:txBody>
      </p:sp>
      <p:sp>
        <p:nvSpPr>
          <p:cNvPr id="15" name="Rectangle 14"/>
          <p:cNvSpPr/>
          <p:nvPr/>
        </p:nvSpPr>
        <p:spPr>
          <a:xfrm>
            <a:off x="713232" y="6272784"/>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13232" y="6382512"/>
            <a:ext cx="54864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6E7A72"/>
                </a:solidFill>
                <a:latin typeface="Trebuchet MS"/>
              </a:rPr>
              <a:t>TrailBlaze</a:t>
            </a:r>
            <a:r>
              <a:rPr sz="950" b="0" i="0">
                <a:solidFill>
                  <a:srgbClr val="6E7A72"/>
                </a:solidFill>
                <a:latin typeface="Trebuchet MS"/>
              </a:rPr>
              <a:t>   |   Hiking E-Commerce and Trail Discovery</a:t>
            </a:r>
          </a:p>
        </p:txBody>
      </p:sp>
      <p:sp>
        <p:nvSpPr>
          <p:cNvPr id="17" name="TextBox 16"/>
          <p:cNvSpPr txBox="1"/>
          <p:nvPr/>
        </p:nvSpPr>
        <p:spPr>
          <a:xfrm>
            <a:off x="10515600" y="6382512"/>
            <a:ext cx="964692" cy="274320"/>
          </a:xfrm>
          <a:prstGeom prst="rect">
            <a:avLst/>
          </a:prstGeom>
          <a:noFill/>
        </p:spPr>
        <p:txBody>
          <a:bodyPr wrap="square" lIns="0" rIns="0" tIns="0" bIns="0" anchor="t">
            <a:spAutoFit/>
          </a:bodyPr>
          <a:lstStyle/>
          <a:p>
            <a:pPr algn="r">
              <a:lnSpc>
                <a:spcPct val="122000"/>
              </a:lnSpc>
              <a:spcBef>
                <a:spcPts val="0"/>
              </a:spcBef>
              <a:spcAft>
                <a:spcPts val="0"/>
              </a:spcAft>
            </a:pPr>
            <a:r>
              <a:rPr sz="950" b="1" i="0">
                <a:solidFill>
                  <a:srgbClr val="6E7A72"/>
                </a:solidFill>
                <a:latin typeface="Trebuchet M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8888" cy="237744"/>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4F8A63"/>
                </a:solidFill>
                <a:latin typeface="Trebuchet MS"/>
              </a:rPr>
              <a:t>FEATURES</a:t>
            </a:r>
          </a:p>
        </p:txBody>
      </p:sp>
      <p:sp>
        <p:nvSpPr>
          <p:cNvPr id="4" name="TextBox 3"/>
          <p:cNvSpPr txBox="1"/>
          <p:nvPr/>
        </p:nvSpPr>
        <p:spPr>
          <a:xfrm>
            <a:off x="713232" y="749808"/>
            <a:ext cx="10768888"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82A21"/>
                </a:solidFill>
                <a:latin typeface="Trebuchet MS"/>
              </a:rPr>
              <a:t>Trail discovery pipeline</a:t>
            </a:r>
          </a:p>
        </p:txBody>
      </p:sp>
      <p:sp>
        <p:nvSpPr>
          <p:cNvPr id="5" name="Rectangle 4"/>
          <p:cNvSpPr/>
          <p:nvPr/>
        </p:nvSpPr>
        <p:spPr>
          <a:xfrm>
            <a:off x="713232" y="1389888"/>
            <a:ext cx="566928"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572768"/>
            <a:ext cx="9509760" cy="36576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6E7A72"/>
                </a:solidFill>
                <a:latin typeface="Tahoma"/>
              </a:rPr>
              <a:t>A place name entered by the user becomes a mapped route with distance, difficulty, imagery and a forecast, through five chained services.</a:t>
            </a:r>
          </a:p>
        </p:txBody>
      </p:sp>
      <p:sp>
        <p:nvSpPr>
          <p:cNvPr id="7" name="Rounded Rectangle 6"/>
          <p:cNvSpPr/>
          <p:nvPr/>
        </p:nvSpPr>
        <p:spPr>
          <a:xfrm>
            <a:off x="713232" y="2345435"/>
            <a:ext cx="2029968" cy="1097280"/>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13232" y="2345435"/>
            <a:ext cx="50292" cy="1097280"/>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9264" y="2546603"/>
            <a:ext cx="1591056" cy="768096"/>
          </a:xfrm>
          <a:prstGeom prst="rect">
            <a:avLst/>
          </a:prstGeom>
          <a:noFill/>
        </p:spPr>
        <p:txBody>
          <a:bodyPr wrap="square" lIns="0" rIns="0" tIns="0" bIns="0" anchor="t">
            <a:spAutoFit/>
          </a:bodyPr>
          <a:lstStyle/>
          <a:p>
            <a:pPr algn="l">
              <a:lnSpc>
                <a:spcPct val="110000"/>
              </a:lnSpc>
              <a:spcBef>
                <a:spcPts val="0"/>
              </a:spcBef>
              <a:spcAft>
                <a:spcPts val="500"/>
              </a:spcAft>
            </a:pPr>
            <a:r>
              <a:rPr sz="1400" b="1" i="0">
                <a:solidFill>
                  <a:srgbClr val="182A21"/>
                </a:solidFill>
                <a:latin typeface="Trebuchet MS"/>
              </a:rPr>
              <a:t>Nominatim</a:t>
            </a:r>
          </a:p>
          <a:p>
            <a:pPr algn="l">
              <a:lnSpc>
                <a:spcPct val="126000"/>
              </a:lnSpc>
              <a:spcBef>
                <a:spcPts val="0"/>
              </a:spcBef>
              <a:spcAft>
                <a:spcPts val="0"/>
              </a:spcAft>
            </a:pPr>
            <a:r>
              <a:rPr sz="1050" b="0" i="0">
                <a:solidFill>
                  <a:srgbClr val="6E7A72"/>
                </a:solidFill>
                <a:latin typeface="Tahoma"/>
              </a:rPr>
              <a:t>place name to</a:t>
            </a:r>
            <a:br/>
            <a:r>
              <a:rPr sz="1050" b="0" i="0">
                <a:solidFill>
                  <a:srgbClr val="6E7A72"/>
                </a:solidFill>
                <a:latin typeface="Tahoma"/>
              </a:rPr>
              <a:t>latitude and longitude</a:t>
            </a:r>
          </a:p>
        </p:txBody>
      </p:sp>
      <p:sp>
        <p:nvSpPr>
          <p:cNvPr id="10" name="Rounded Rectangle 9"/>
          <p:cNvSpPr/>
          <p:nvPr/>
        </p:nvSpPr>
        <p:spPr>
          <a:xfrm>
            <a:off x="2884932" y="2345435"/>
            <a:ext cx="2029968" cy="1097280"/>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2884932" y="2345435"/>
            <a:ext cx="50292" cy="1097280"/>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140964" y="2546603"/>
            <a:ext cx="1591056" cy="768096"/>
          </a:xfrm>
          <a:prstGeom prst="rect">
            <a:avLst/>
          </a:prstGeom>
          <a:noFill/>
        </p:spPr>
        <p:txBody>
          <a:bodyPr wrap="square" lIns="0" rIns="0" tIns="0" bIns="0" anchor="t">
            <a:spAutoFit/>
          </a:bodyPr>
          <a:lstStyle/>
          <a:p>
            <a:pPr algn="l">
              <a:lnSpc>
                <a:spcPct val="110000"/>
              </a:lnSpc>
              <a:spcBef>
                <a:spcPts val="0"/>
              </a:spcBef>
              <a:spcAft>
                <a:spcPts val="500"/>
              </a:spcAft>
            </a:pPr>
            <a:r>
              <a:rPr sz="1400" b="1" i="0">
                <a:solidFill>
                  <a:srgbClr val="182A21"/>
                </a:solidFill>
                <a:latin typeface="Trebuchet MS"/>
              </a:rPr>
              <a:t>Overpass</a:t>
            </a:r>
          </a:p>
          <a:p>
            <a:pPr algn="l">
              <a:lnSpc>
                <a:spcPct val="126000"/>
              </a:lnSpc>
              <a:spcBef>
                <a:spcPts val="0"/>
              </a:spcBef>
              <a:spcAft>
                <a:spcPts val="0"/>
              </a:spcAft>
            </a:pPr>
            <a:r>
              <a:rPr sz="1050" b="0" i="0">
                <a:solidFill>
                  <a:srgbClr val="6E7A72"/>
                </a:solidFill>
                <a:latin typeface="Tahoma"/>
              </a:rPr>
              <a:t>hiking route relations</a:t>
            </a:r>
            <a:br/>
            <a:r>
              <a:rPr sz="1050" b="0" i="0">
                <a:solidFill>
                  <a:srgbClr val="6E7A72"/>
                </a:solidFill>
                <a:latin typeface="Tahoma"/>
              </a:rPr>
              <a:t>within 100 km</a:t>
            </a:r>
          </a:p>
        </p:txBody>
      </p:sp>
      <p:sp>
        <p:nvSpPr>
          <p:cNvPr id="13" name="Rounded Rectangle 12"/>
          <p:cNvSpPr/>
          <p:nvPr/>
        </p:nvSpPr>
        <p:spPr>
          <a:xfrm>
            <a:off x="5056632" y="2345435"/>
            <a:ext cx="2029968" cy="1097280"/>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5056632" y="2345435"/>
            <a:ext cx="50292" cy="1097280"/>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312664" y="2546603"/>
            <a:ext cx="1591056" cy="768096"/>
          </a:xfrm>
          <a:prstGeom prst="rect">
            <a:avLst/>
          </a:prstGeom>
          <a:noFill/>
        </p:spPr>
        <p:txBody>
          <a:bodyPr wrap="square" lIns="0" rIns="0" tIns="0" bIns="0" anchor="t">
            <a:spAutoFit/>
          </a:bodyPr>
          <a:lstStyle/>
          <a:p>
            <a:pPr algn="l">
              <a:lnSpc>
                <a:spcPct val="110000"/>
              </a:lnSpc>
              <a:spcBef>
                <a:spcPts val="0"/>
              </a:spcBef>
              <a:spcAft>
                <a:spcPts val="500"/>
              </a:spcAft>
            </a:pPr>
            <a:r>
              <a:rPr sz="1400" b="1" i="0">
                <a:solidFill>
                  <a:srgbClr val="182A21"/>
                </a:solidFill>
                <a:latin typeface="Trebuchet MS"/>
              </a:rPr>
              <a:t>OpenRouteService</a:t>
            </a:r>
          </a:p>
          <a:p>
            <a:pPr algn="l">
              <a:lnSpc>
                <a:spcPct val="126000"/>
              </a:lnSpc>
              <a:spcBef>
                <a:spcPts val="0"/>
              </a:spcBef>
              <a:spcAft>
                <a:spcPts val="0"/>
              </a:spcAft>
            </a:pPr>
            <a:r>
              <a:rPr sz="1050" b="0" i="0">
                <a:solidFill>
                  <a:srgbClr val="6E7A72"/>
                </a:solidFill>
                <a:latin typeface="Tahoma"/>
              </a:rPr>
              <a:t>distance between</a:t>
            </a:r>
            <a:br/>
            <a:r>
              <a:rPr sz="1050" b="0" i="0">
                <a:solidFill>
                  <a:srgbClr val="6E7A72"/>
                </a:solidFill>
                <a:latin typeface="Tahoma"/>
              </a:rPr>
              <a:t>route endpoints</a:t>
            </a:r>
          </a:p>
        </p:txBody>
      </p:sp>
      <p:sp>
        <p:nvSpPr>
          <p:cNvPr id="16" name="Rounded Rectangle 15"/>
          <p:cNvSpPr/>
          <p:nvPr/>
        </p:nvSpPr>
        <p:spPr>
          <a:xfrm>
            <a:off x="7228332" y="2345435"/>
            <a:ext cx="2029968" cy="1097280"/>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7228332" y="2345435"/>
            <a:ext cx="50292" cy="1097280"/>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484364" y="2546603"/>
            <a:ext cx="1591056" cy="768096"/>
          </a:xfrm>
          <a:prstGeom prst="rect">
            <a:avLst/>
          </a:prstGeom>
          <a:noFill/>
        </p:spPr>
        <p:txBody>
          <a:bodyPr wrap="square" lIns="0" rIns="0" tIns="0" bIns="0" anchor="t">
            <a:spAutoFit/>
          </a:bodyPr>
          <a:lstStyle/>
          <a:p>
            <a:pPr algn="l">
              <a:lnSpc>
                <a:spcPct val="110000"/>
              </a:lnSpc>
              <a:spcBef>
                <a:spcPts val="0"/>
              </a:spcBef>
              <a:spcAft>
                <a:spcPts val="500"/>
              </a:spcAft>
            </a:pPr>
            <a:r>
              <a:rPr sz="1400" b="1" i="0">
                <a:solidFill>
                  <a:srgbClr val="182A21"/>
                </a:solidFill>
                <a:latin typeface="Trebuchet MS"/>
              </a:rPr>
              <a:t>Open-Meteo</a:t>
            </a:r>
          </a:p>
          <a:p>
            <a:pPr algn="l">
              <a:lnSpc>
                <a:spcPct val="126000"/>
              </a:lnSpc>
              <a:spcBef>
                <a:spcPts val="0"/>
              </a:spcBef>
              <a:spcAft>
                <a:spcPts val="0"/>
              </a:spcAft>
            </a:pPr>
            <a:r>
              <a:rPr sz="1050" b="0" i="0">
                <a:solidFill>
                  <a:srgbClr val="6E7A72"/>
                </a:solidFill>
                <a:latin typeface="Tahoma"/>
              </a:rPr>
              <a:t>forecast for the</a:t>
            </a:r>
            <a:br/>
            <a:r>
              <a:rPr sz="1050" b="0" i="0">
                <a:solidFill>
                  <a:srgbClr val="6E7A72"/>
                </a:solidFill>
                <a:latin typeface="Tahoma"/>
              </a:rPr>
              <a:t>chosen date</a:t>
            </a:r>
          </a:p>
        </p:txBody>
      </p:sp>
      <p:sp>
        <p:nvSpPr>
          <p:cNvPr id="19" name="Rounded Rectangle 18"/>
          <p:cNvSpPr/>
          <p:nvPr/>
        </p:nvSpPr>
        <p:spPr>
          <a:xfrm>
            <a:off x="9400032" y="2345435"/>
            <a:ext cx="2029968" cy="1097280"/>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9400032" y="2345435"/>
            <a:ext cx="50292" cy="1097280"/>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656064" y="2546603"/>
            <a:ext cx="1591056" cy="768096"/>
          </a:xfrm>
          <a:prstGeom prst="rect">
            <a:avLst/>
          </a:prstGeom>
          <a:noFill/>
        </p:spPr>
        <p:txBody>
          <a:bodyPr wrap="square" lIns="0" rIns="0" tIns="0" bIns="0" anchor="t">
            <a:spAutoFit/>
          </a:bodyPr>
          <a:lstStyle/>
          <a:p>
            <a:pPr algn="l">
              <a:lnSpc>
                <a:spcPct val="110000"/>
              </a:lnSpc>
              <a:spcBef>
                <a:spcPts val="0"/>
              </a:spcBef>
              <a:spcAft>
                <a:spcPts val="500"/>
              </a:spcAft>
            </a:pPr>
            <a:r>
              <a:rPr sz="1400" b="1" i="0">
                <a:solidFill>
                  <a:srgbClr val="182A21"/>
                </a:solidFill>
                <a:latin typeface="Trebuchet MS"/>
              </a:rPr>
              <a:t>Pexels</a:t>
            </a:r>
          </a:p>
          <a:p>
            <a:pPr algn="l">
              <a:lnSpc>
                <a:spcPct val="126000"/>
              </a:lnSpc>
              <a:spcBef>
                <a:spcPts val="0"/>
              </a:spcBef>
              <a:spcAft>
                <a:spcPts val="0"/>
              </a:spcAft>
            </a:pPr>
            <a:r>
              <a:rPr sz="1050" b="0" i="0">
                <a:solidFill>
                  <a:srgbClr val="6E7A72"/>
                </a:solidFill>
                <a:latin typeface="Tahoma"/>
              </a:rPr>
              <a:t>representative</a:t>
            </a:r>
            <a:br/>
            <a:r>
              <a:rPr sz="1050" b="0" i="0">
                <a:solidFill>
                  <a:srgbClr val="6E7A72"/>
                </a:solidFill>
                <a:latin typeface="Tahoma"/>
              </a:rPr>
              <a:t>photography</a:t>
            </a:r>
          </a:p>
        </p:txBody>
      </p:sp>
      <p:sp>
        <p:nvSpPr>
          <p:cNvPr id="22" name="Right Arrow 21"/>
          <p:cNvSpPr/>
          <p:nvPr/>
        </p:nvSpPr>
        <p:spPr>
          <a:xfrm>
            <a:off x="2754200" y="2825495"/>
            <a:ext cx="118872" cy="137160"/>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ight Arrow 22"/>
          <p:cNvSpPr/>
          <p:nvPr/>
        </p:nvSpPr>
        <p:spPr>
          <a:xfrm>
            <a:off x="4925900" y="2825495"/>
            <a:ext cx="118872" cy="137160"/>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ight Arrow 23"/>
          <p:cNvSpPr/>
          <p:nvPr/>
        </p:nvSpPr>
        <p:spPr>
          <a:xfrm>
            <a:off x="7097600" y="2825495"/>
            <a:ext cx="118872" cy="137160"/>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ight Arrow 24"/>
          <p:cNvSpPr/>
          <p:nvPr/>
        </p:nvSpPr>
        <p:spPr>
          <a:xfrm>
            <a:off x="9269300" y="2825495"/>
            <a:ext cx="118872" cy="137160"/>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713232" y="3680459"/>
            <a:ext cx="5212080" cy="1549450"/>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713232" y="3680459"/>
            <a:ext cx="50292" cy="1549450"/>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69264" y="3881627"/>
            <a:ext cx="4773168" cy="1220266"/>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MAP</a:t>
            </a:r>
          </a:p>
          <a:p>
            <a:pPr algn="l">
              <a:lnSpc>
                <a:spcPct val="110000"/>
              </a:lnSpc>
              <a:spcBef>
                <a:spcPts val="0"/>
              </a:spcBef>
              <a:spcAft>
                <a:spcPts val="500"/>
              </a:spcAft>
            </a:pPr>
            <a:r>
              <a:rPr sz="1500" b="1" i="0">
                <a:solidFill>
                  <a:srgbClr val="182A21"/>
                </a:solidFill>
                <a:latin typeface="Trebuchet MS"/>
              </a:rPr>
              <a:t>Rendered with Leaflet</a:t>
            </a:r>
          </a:p>
          <a:p>
            <a:pPr algn="l">
              <a:lnSpc>
                <a:spcPct val="126000"/>
              </a:lnSpc>
              <a:spcBef>
                <a:spcPts val="0"/>
              </a:spcBef>
              <a:spcAft>
                <a:spcPts val="0"/>
              </a:spcAft>
            </a:pPr>
            <a:r>
              <a:rPr sz="1150" b="0" i="0">
                <a:solidFill>
                  <a:srgbClr val="6E7A72"/>
                </a:solidFill>
                <a:latin typeface="Tahoma"/>
              </a:rPr>
              <a:t>The route geometry returned by Overpass is drawn as a polyline over an OpenStreetMap base layer, with the trail name, ascent and SAC difficulty scale shown alongside.</a:t>
            </a:r>
          </a:p>
        </p:txBody>
      </p:sp>
      <p:sp>
        <p:nvSpPr>
          <p:cNvPr id="29" name="Rounded Rectangle 28"/>
          <p:cNvSpPr/>
          <p:nvPr/>
        </p:nvSpPr>
        <p:spPr>
          <a:xfrm>
            <a:off x="6291072" y="3680459"/>
            <a:ext cx="5184648" cy="1549450"/>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291072" y="3680459"/>
            <a:ext cx="50292" cy="1549450"/>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547104" y="3881627"/>
            <a:ext cx="4745736" cy="1042416"/>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ENTRY POINTS</a:t>
            </a:r>
          </a:p>
          <a:p>
            <a:pPr algn="l">
              <a:lnSpc>
                <a:spcPct val="110000"/>
              </a:lnSpc>
              <a:spcBef>
                <a:spcPts val="0"/>
              </a:spcBef>
              <a:spcAft>
                <a:spcPts val="500"/>
              </a:spcAft>
            </a:pPr>
            <a:r>
              <a:rPr sz="1500" b="1" i="0">
                <a:solidFill>
                  <a:srgbClr val="182A21"/>
                </a:solidFill>
                <a:latin typeface="Trebuchet MS"/>
              </a:rPr>
              <a:t>Quick-search presets</a:t>
            </a:r>
          </a:p>
          <a:p>
            <a:pPr algn="l">
              <a:lnSpc>
                <a:spcPct val="126000"/>
              </a:lnSpc>
              <a:spcBef>
                <a:spcPts val="0"/>
              </a:spcBef>
              <a:spcAft>
                <a:spcPts val="0"/>
              </a:spcAft>
            </a:pPr>
            <a:r>
              <a:rPr sz="1150" b="0" i="0">
                <a:solidFill>
                  <a:srgbClr val="6E7A72"/>
                </a:solidFill>
                <a:latin typeface="Tahoma"/>
              </a:rPr>
              <a:t>Swiss Alps, Black Forest, Dolomites and Pyrenees are offered as one-click searches, which also gives the demonstration a reliable starting point.</a:t>
            </a:r>
          </a:p>
        </p:txBody>
      </p:sp>
      <p:sp>
        <p:nvSpPr>
          <p:cNvPr id="32" name="TextBox 31"/>
          <p:cNvSpPr txBox="1"/>
          <p:nvPr/>
        </p:nvSpPr>
        <p:spPr>
          <a:xfrm>
            <a:off x="713232" y="5449365"/>
            <a:ext cx="10768888" cy="73152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E7A72"/>
                </a:solidFill>
                <a:latin typeface="Tahoma"/>
              </a:rPr>
              <a:t>Overpass tags vary by contributor, so difficulty falls back to sac_scale and unnamed routes are discarded before display.</a:t>
            </a:r>
          </a:p>
        </p:txBody>
      </p:sp>
      <p:sp>
        <p:nvSpPr>
          <p:cNvPr id="33" name="Rectangle 32"/>
          <p:cNvSpPr/>
          <p:nvPr/>
        </p:nvSpPr>
        <p:spPr>
          <a:xfrm>
            <a:off x="713232" y="6272784"/>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13232" y="6382512"/>
            <a:ext cx="54864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6E7A72"/>
                </a:solidFill>
                <a:latin typeface="Trebuchet MS"/>
              </a:rPr>
              <a:t>TrailBlaze</a:t>
            </a:r>
            <a:r>
              <a:rPr sz="950" b="0" i="0">
                <a:solidFill>
                  <a:srgbClr val="6E7A72"/>
                </a:solidFill>
                <a:latin typeface="Trebuchet MS"/>
              </a:rPr>
              <a:t>   |   Hiking E-Commerce and Trail Discovery</a:t>
            </a:r>
          </a:p>
        </p:txBody>
      </p:sp>
      <p:sp>
        <p:nvSpPr>
          <p:cNvPr id="35" name="TextBox 34"/>
          <p:cNvSpPr txBox="1"/>
          <p:nvPr/>
        </p:nvSpPr>
        <p:spPr>
          <a:xfrm>
            <a:off x="10515600" y="6382512"/>
            <a:ext cx="964692" cy="274320"/>
          </a:xfrm>
          <a:prstGeom prst="rect">
            <a:avLst/>
          </a:prstGeom>
          <a:noFill/>
        </p:spPr>
        <p:txBody>
          <a:bodyPr wrap="square" lIns="0" rIns="0" tIns="0" bIns="0" anchor="t">
            <a:spAutoFit/>
          </a:bodyPr>
          <a:lstStyle/>
          <a:p>
            <a:pPr algn="r">
              <a:lnSpc>
                <a:spcPct val="122000"/>
              </a:lnSpc>
              <a:spcBef>
                <a:spcPts val="0"/>
              </a:spcBef>
              <a:spcAft>
                <a:spcPts val="0"/>
              </a:spcAft>
            </a:pPr>
            <a:r>
              <a:rPr sz="950" b="1" i="0">
                <a:solidFill>
                  <a:srgbClr val="6E7A72"/>
                </a:solidFill>
                <a:latin typeface="Trebuchet M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8888" cy="237744"/>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4F8A63"/>
                </a:solidFill>
                <a:latin typeface="Trebuchet MS"/>
              </a:rPr>
              <a:t>ENGINEERING</a:t>
            </a:r>
          </a:p>
        </p:txBody>
      </p:sp>
      <p:sp>
        <p:nvSpPr>
          <p:cNvPr id="4" name="TextBox 3"/>
          <p:cNvSpPr txBox="1"/>
          <p:nvPr/>
        </p:nvSpPr>
        <p:spPr>
          <a:xfrm>
            <a:off x="713232" y="749808"/>
            <a:ext cx="10768888"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82A21"/>
                </a:solidFill>
                <a:latin typeface="Trebuchet MS"/>
              </a:rPr>
              <a:t>Resilience and performance</a:t>
            </a:r>
          </a:p>
        </p:txBody>
      </p:sp>
      <p:sp>
        <p:nvSpPr>
          <p:cNvPr id="5" name="Rectangle 4"/>
          <p:cNvSpPr/>
          <p:nvPr/>
        </p:nvSpPr>
        <p:spPr>
          <a:xfrm>
            <a:off x="713232" y="1389888"/>
            <a:ext cx="566928"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572768"/>
            <a:ext cx="9509760" cy="36576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6E7A72"/>
                </a:solidFill>
                <a:latin typeface="Tahoma"/>
              </a:rPr>
              <a:t>The trail pipeline depends on five free public APIs, so partial failure is the normal case rather than the exception.</a:t>
            </a:r>
          </a:p>
        </p:txBody>
      </p:sp>
      <p:sp>
        <p:nvSpPr>
          <p:cNvPr id="7" name="Rounded Rectangle 6"/>
          <p:cNvSpPr/>
          <p:nvPr/>
        </p:nvSpPr>
        <p:spPr>
          <a:xfrm>
            <a:off x="713232" y="2077973"/>
            <a:ext cx="2587752" cy="2011680"/>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13232" y="2077973"/>
            <a:ext cx="50292" cy="2011680"/>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9264" y="2279141"/>
            <a:ext cx="2148840" cy="1682496"/>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OVERPASS</a:t>
            </a:r>
          </a:p>
          <a:p>
            <a:pPr algn="l">
              <a:lnSpc>
                <a:spcPct val="110000"/>
              </a:lnSpc>
              <a:spcBef>
                <a:spcPts val="0"/>
              </a:spcBef>
              <a:spcAft>
                <a:spcPts val="500"/>
              </a:spcAft>
            </a:pPr>
            <a:r>
              <a:rPr sz="1500" b="1" i="0">
                <a:solidFill>
                  <a:srgbClr val="182A21"/>
                </a:solidFill>
                <a:latin typeface="Trebuchet MS"/>
              </a:rPr>
              <a:t>Exponential backoff</a:t>
            </a:r>
          </a:p>
          <a:p>
            <a:pPr algn="l">
              <a:lnSpc>
                <a:spcPct val="126000"/>
              </a:lnSpc>
              <a:spcBef>
                <a:spcPts val="0"/>
              </a:spcBef>
              <a:spcAft>
                <a:spcPts val="0"/>
              </a:spcAft>
            </a:pPr>
            <a:r>
              <a:rPr sz="1150" b="0" i="0">
                <a:solidFill>
                  <a:srgbClr val="6E7A72"/>
                </a:solidFill>
                <a:latin typeface="Tahoma"/>
              </a:rPr>
              <a:t>Overpass rejects requests under load. Failed calls retry after 2, 5 and 10 seconds before the user sees an error message.</a:t>
            </a:r>
          </a:p>
        </p:txBody>
      </p:sp>
      <p:sp>
        <p:nvSpPr>
          <p:cNvPr id="10" name="Rounded Rectangle 9"/>
          <p:cNvSpPr/>
          <p:nvPr/>
        </p:nvSpPr>
        <p:spPr>
          <a:xfrm>
            <a:off x="3447288" y="2077973"/>
            <a:ext cx="2587752" cy="2011680"/>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3447288" y="2077973"/>
            <a:ext cx="50292" cy="2011680"/>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703320" y="2279141"/>
            <a:ext cx="2148840" cy="1682496"/>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FAN-OUT</a:t>
            </a:r>
          </a:p>
          <a:p>
            <a:pPr algn="l">
              <a:lnSpc>
                <a:spcPct val="110000"/>
              </a:lnSpc>
              <a:spcBef>
                <a:spcPts val="0"/>
              </a:spcBef>
              <a:spcAft>
                <a:spcPts val="500"/>
              </a:spcAft>
            </a:pPr>
            <a:r>
              <a:rPr sz="1500" b="1" i="0">
                <a:solidFill>
                  <a:srgbClr val="182A21"/>
                </a:solidFill>
                <a:latin typeface="Trebuchet MS"/>
              </a:rPr>
              <a:t>Settled, not all</a:t>
            </a:r>
          </a:p>
          <a:p>
            <a:pPr algn="l">
              <a:lnSpc>
                <a:spcPct val="126000"/>
              </a:lnSpc>
              <a:spcBef>
                <a:spcPts val="0"/>
              </a:spcBef>
              <a:spcAft>
                <a:spcPts val="0"/>
              </a:spcAft>
            </a:pPr>
            <a:r>
              <a:rPr sz="1150" b="0" i="0">
                <a:solidFill>
                  <a:srgbClr val="6E7A72"/>
                </a:solidFill>
                <a:latin typeface="Tahoma"/>
              </a:rPr>
              <a:t>Per-trail enrichment runs through Promise.allSettled, so one failed photo or distance lookup does not discard the whole result set.</a:t>
            </a:r>
          </a:p>
        </p:txBody>
      </p:sp>
      <p:sp>
        <p:nvSpPr>
          <p:cNvPr id="13" name="Rounded Rectangle 12"/>
          <p:cNvSpPr/>
          <p:nvPr/>
        </p:nvSpPr>
        <p:spPr>
          <a:xfrm>
            <a:off x="6181344" y="2077973"/>
            <a:ext cx="2587752" cy="2011680"/>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181344" y="2077973"/>
            <a:ext cx="50292" cy="2011680"/>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37376" y="2279141"/>
            <a:ext cx="2148840" cy="1682496"/>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OPENROUTESERVICE</a:t>
            </a:r>
          </a:p>
          <a:p>
            <a:pPr algn="l">
              <a:lnSpc>
                <a:spcPct val="110000"/>
              </a:lnSpc>
              <a:spcBef>
                <a:spcPts val="0"/>
              </a:spcBef>
              <a:spcAft>
                <a:spcPts val="500"/>
              </a:spcAft>
            </a:pPr>
            <a:r>
              <a:rPr sz="1500" b="1" i="0">
                <a:solidFill>
                  <a:srgbClr val="182A21"/>
                </a:solidFill>
                <a:latin typeface="Trebuchet MS"/>
              </a:rPr>
              <a:t>Coordinate cache</a:t>
            </a:r>
          </a:p>
          <a:p>
            <a:pPr algn="l">
              <a:lnSpc>
                <a:spcPct val="126000"/>
              </a:lnSpc>
              <a:spcBef>
                <a:spcPts val="0"/>
              </a:spcBef>
              <a:spcAft>
                <a:spcPts val="0"/>
              </a:spcAft>
            </a:pPr>
            <a:r>
              <a:rPr sz="1150" b="0" i="0">
                <a:solidFill>
                  <a:srgbClr val="6E7A72"/>
                </a:solidFill>
                <a:latin typeface="Tahoma"/>
              </a:rPr>
              <a:t>Distance results are memoised on a key rounded to four decimal places, which collapses repeated lookups for the same trailhead.</a:t>
            </a:r>
          </a:p>
        </p:txBody>
      </p:sp>
      <p:sp>
        <p:nvSpPr>
          <p:cNvPr id="16" name="Rounded Rectangle 15"/>
          <p:cNvSpPr/>
          <p:nvPr/>
        </p:nvSpPr>
        <p:spPr>
          <a:xfrm>
            <a:off x="8915400" y="2077973"/>
            <a:ext cx="2587752" cy="2011680"/>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8915400" y="2077973"/>
            <a:ext cx="50292" cy="2011680"/>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171432" y="2279141"/>
            <a:ext cx="2148840" cy="1682496"/>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FRONTEND</a:t>
            </a:r>
          </a:p>
          <a:p>
            <a:pPr algn="l">
              <a:lnSpc>
                <a:spcPct val="110000"/>
              </a:lnSpc>
              <a:spcBef>
                <a:spcPts val="0"/>
              </a:spcBef>
              <a:spcAft>
                <a:spcPts val="500"/>
              </a:spcAft>
            </a:pPr>
            <a:r>
              <a:rPr sz="1500" b="1" i="0">
                <a:solidFill>
                  <a:srgbClr val="182A21"/>
                </a:solidFill>
                <a:latin typeface="Trebuchet MS"/>
              </a:rPr>
              <a:t>Perceived speed</a:t>
            </a:r>
          </a:p>
          <a:p>
            <a:pPr algn="l">
              <a:lnSpc>
                <a:spcPct val="126000"/>
              </a:lnSpc>
              <a:spcBef>
                <a:spcPts val="0"/>
              </a:spcBef>
              <a:spcAft>
                <a:spcPts val="0"/>
              </a:spcAft>
            </a:pPr>
            <a:r>
              <a:rPr sz="1150" b="0" i="0">
                <a:solidFill>
                  <a:srgbClr val="6E7A72"/>
                </a:solidFill>
                <a:latin typeface="Tahoma"/>
              </a:rPr>
              <a:t>Seven dedicated skeleton components hold layout during fetches, so the page does not reflow when slow trail data arrives.</a:t>
            </a:r>
          </a:p>
        </p:txBody>
      </p:sp>
      <p:sp>
        <p:nvSpPr>
          <p:cNvPr id="19" name="Rounded Rectangle 18"/>
          <p:cNvSpPr/>
          <p:nvPr/>
        </p:nvSpPr>
        <p:spPr>
          <a:xfrm>
            <a:off x="713232" y="4327397"/>
            <a:ext cx="10768888" cy="800100"/>
          </a:xfrm>
          <a:prstGeom prst="roundRect">
            <a:avLst>
              <a:gd name="adj" fmla="val 4000"/>
            </a:avLst>
          </a:prstGeom>
          <a:solidFill>
            <a:srgbClr val="182A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32688" y="4464557"/>
            <a:ext cx="10329976" cy="580644"/>
          </a:xfrm>
          <a:prstGeom prst="rect">
            <a:avLst/>
          </a:prstGeom>
          <a:noFill/>
        </p:spPr>
        <p:txBody>
          <a:bodyPr wrap="square" lIns="0" rIns="0" tIns="0" bIns="0" anchor="t">
            <a:spAutoFit/>
          </a:bodyPr>
          <a:lstStyle/>
          <a:p>
            <a:pPr algn="l">
              <a:lnSpc>
                <a:spcPct val="150000"/>
              </a:lnSpc>
              <a:spcBef>
                <a:spcPts val="0"/>
              </a:spcBef>
              <a:spcAft>
                <a:spcPts val="0"/>
              </a:spcAft>
            </a:pPr>
            <a:r>
              <a:rPr sz="1150" b="0" i="0">
                <a:solidFill>
                  <a:srgbClr val="ECE8E1"/>
                </a:solidFill>
                <a:latin typeface="Courier New"/>
              </a:rPr>
              <a:t>const BACKOFF_DELAYS = [2000, 5000, 10000];</a:t>
            </a:r>
          </a:p>
          <a:p>
            <a:pPr algn="l">
              <a:lnSpc>
                <a:spcPct val="150000"/>
              </a:lnSpc>
              <a:spcBef>
                <a:spcPts val="0"/>
              </a:spcBef>
              <a:spcAft>
                <a:spcPts val="0"/>
              </a:spcAft>
            </a:pPr>
            <a:r>
              <a:rPr sz="1150" b="0" i="0">
                <a:solidFill>
                  <a:srgbClr val="ECE8E1"/>
                </a:solidFill>
                <a:latin typeface="Courier New"/>
              </a:rPr>
              <a:t>const key = `${lat.toFixed(4)},${lon.toFixed(4)}-...`;   // cache hit for the same trailhead</a:t>
            </a:r>
          </a:p>
        </p:txBody>
      </p:sp>
      <p:sp>
        <p:nvSpPr>
          <p:cNvPr id="21" name="TextBox 20"/>
          <p:cNvSpPr txBox="1"/>
          <p:nvPr/>
        </p:nvSpPr>
        <p:spPr>
          <a:xfrm>
            <a:off x="713232" y="5346953"/>
            <a:ext cx="10768888" cy="64008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E7A72"/>
                </a:solidFill>
                <a:latin typeface="Tahoma"/>
              </a:rPr>
              <a:t>An error boundary wraps the whole route tree, so an unhandled render error shows a recoverable fallback instead of a blank page.</a:t>
            </a:r>
          </a:p>
        </p:txBody>
      </p:sp>
      <p:sp>
        <p:nvSpPr>
          <p:cNvPr id="22" name="Rectangle 21"/>
          <p:cNvSpPr/>
          <p:nvPr/>
        </p:nvSpPr>
        <p:spPr>
          <a:xfrm>
            <a:off x="713232" y="6272784"/>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13232" y="6382512"/>
            <a:ext cx="54864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6E7A72"/>
                </a:solidFill>
                <a:latin typeface="Trebuchet MS"/>
              </a:rPr>
              <a:t>TrailBlaze</a:t>
            </a:r>
            <a:r>
              <a:rPr sz="950" b="0" i="0">
                <a:solidFill>
                  <a:srgbClr val="6E7A72"/>
                </a:solidFill>
                <a:latin typeface="Trebuchet MS"/>
              </a:rPr>
              <a:t>   |   Hiking E-Commerce and Trail Discovery</a:t>
            </a:r>
          </a:p>
        </p:txBody>
      </p:sp>
      <p:sp>
        <p:nvSpPr>
          <p:cNvPr id="24" name="TextBox 23"/>
          <p:cNvSpPr txBox="1"/>
          <p:nvPr/>
        </p:nvSpPr>
        <p:spPr>
          <a:xfrm>
            <a:off x="10515600" y="6382512"/>
            <a:ext cx="964692" cy="274320"/>
          </a:xfrm>
          <a:prstGeom prst="rect">
            <a:avLst/>
          </a:prstGeom>
          <a:noFill/>
        </p:spPr>
        <p:txBody>
          <a:bodyPr wrap="square" lIns="0" rIns="0" tIns="0" bIns="0" anchor="t">
            <a:spAutoFit/>
          </a:bodyPr>
          <a:lstStyle/>
          <a:p>
            <a:pPr algn="r">
              <a:lnSpc>
                <a:spcPct val="122000"/>
              </a:lnSpc>
              <a:spcBef>
                <a:spcPts val="0"/>
              </a:spcBef>
              <a:spcAft>
                <a:spcPts val="0"/>
              </a:spcAft>
            </a:pPr>
            <a:r>
              <a:rPr sz="950" b="1" i="0">
                <a:solidFill>
                  <a:srgbClr val="6E7A72"/>
                </a:solidFill>
                <a:latin typeface="Trebuchet M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8888" cy="237744"/>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4F8A63"/>
                </a:solidFill>
                <a:latin typeface="Trebuchet MS"/>
              </a:rPr>
              <a:t>FEATURES</a:t>
            </a:r>
          </a:p>
        </p:txBody>
      </p:sp>
      <p:sp>
        <p:nvSpPr>
          <p:cNvPr id="4" name="TextBox 3"/>
          <p:cNvSpPr txBox="1"/>
          <p:nvPr/>
        </p:nvSpPr>
        <p:spPr>
          <a:xfrm>
            <a:off x="713232" y="749808"/>
            <a:ext cx="10768888"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82A21"/>
                </a:solidFill>
                <a:latin typeface="Trebuchet MS"/>
              </a:rPr>
              <a:t>AI gear advisor</a:t>
            </a:r>
          </a:p>
        </p:txBody>
      </p:sp>
      <p:sp>
        <p:nvSpPr>
          <p:cNvPr id="5" name="Rectangle 4"/>
          <p:cNvSpPr/>
          <p:nvPr/>
        </p:nvSpPr>
        <p:spPr>
          <a:xfrm>
            <a:off x="713232" y="1389888"/>
            <a:ext cx="566928"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572768"/>
            <a:ext cx="9509760" cy="36576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6E7A72"/>
                </a:solidFill>
                <a:latin typeface="Tahoma"/>
              </a:rPr>
              <a:t>The model is given the store inventory and the trail conditions, and is constrained to answer only with products that exist.</a:t>
            </a:r>
          </a:p>
        </p:txBody>
      </p:sp>
      <p:sp>
        <p:nvSpPr>
          <p:cNvPr id="7" name="Rounded Rectangle 6"/>
          <p:cNvSpPr/>
          <p:nvPr/>
        </p:nvSpPr>
        <p:spPr>
          <a:xfrm>
            <a:off x="713232" y="2077973"/>
            <a:ext cx="1642414" cy="749808"/>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050" b="1" i="0">
                <a:solidFill>
                  <a:srgbClr val="182A21"/>
                </a:solidFill>
                <a:latin typeface="Trebuchet MS"/>
              </a:rPr>
              <a:t>Trail + difficulty</a:t>
            </a:r>
          </a:p>
        </p:txBody>
      </p:sp>
      <p:sp>
        <p:nvSpPr>
          <p:cNvPr id="8" name="Right Arrow 7"/>
          <p:cNvSpPr/>
          <p:nvPr/>
        </p:nvSpPr>
        <p:spPr>
          <a:xfrm>
            <a:off x="2309927" y="2379725"/>
            <a:ext cx="274320" cy="146304"/>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2538526" y="2077973"/>
            <a:ext cx="1642414" cy="749808"/>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050" b="1" i="0">
                <a:solidFill>
                  <a:srgbClr val="182A21"/>
                </a:solidFill>
                <a:latin typeface="Trebuchet MS"/>
              </a:rPr>
              <a:t>Forecast for date</a:t>
            </a:r>
          </a:p>
        </p:txBody>
      </p:sp>
      <p:sp>
        <p:nvSpPr>
          <p:cNvPr id="10" name="Right Arrow 9"/>
          <p:cNvSpPr/>
          <p:nvPr/>
        </p:nvSpPr>
        <p:spPr>
          <a:xfrm>
            <a:off x="4135221" y="2379725"/>
            <a:ext cx="274320" cy="146304"/>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4363820" y="2077973"/>
            <a:ext cx="1642414" cy="749808"/>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050" b="1" i="0">
                <a:solidFill>
                  <a:srgbClr val="182A21"/>
                </a:solidFill>
                <a:latin typeface="Trebuchet MS"/>
              </a:rPr>
              <a:t>Inventory list</a:t>
            </a:r>
          </a:p>
          <a:p>
            <a:pPr algn="ctr">
              <a:lnSpc>
                <a:spcPct val="105000"/>
              </a:lnSpc>
              <a:spcBef>
                <a:spcPts val="100"/>
              </a:spcBef>
              <a:spcAft>
                <a:spcPts val="0"/>
              </a:spcAft>
            </a:pPr>
            <a:r>
              <a:rPr sz="1050" b="1" i="0">
                <a:solidFill>
                  <a:srgbClr val="182A21"/>
                </a:solidFill>
                <a:latin typeface="Trebuchet MS"/>
              </a:rPr>
              <a:t>from database</a:t>
            </a:r>
          </a:p>
        </p:txBody>
      </p:sp>
      <p:sp>
        <p:nvSpPr>
          <p:cNvPr id="12" name="Right Arrow 11"/>
          <p:cNvSpPr/>
          <p:nvPr/>
        </p:nvSpPr>
        <p:spPr>
          <a:xfrm>
            <a:off x="5960515" y="2379725"/>
            <a:ext cx="274320" cy="146304"/>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189114" y="2077973"/>
            <a:ext cx="1642414" cy="749808"/>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050" b="1" i="0">
                <a:solidFill>
                  <a:srgbClr val="182A21"/>
                </a:solidFill>
                <a:latin typeface="Trebuchet MS"/>
              </a:rPr>
              <a:t>Claude Haiku 4.5</a:t>
            </a:r>
          </a:p>
        </p:txBody>
      </p:sp>
      <p:sp>
        <p:nvSpPr>
          <p:cNvPr id="14" name="Right Arrow 13"/>
          <p:cNvSpPr/>
          <p:nvPr/>
        </p:nvSpPr>
        <p:spPr>
          <a:xfrm>
            <a:off x="7785809" y="2379725"/>
            <a:ext cx="274320" cy="146304"/>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8014408" y="2077973"/>
            <a:ext cx="1642414" cy="749808"/>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050" b="1" i="0">
                <a:solidFill>
                  <a:srgbClr val="182A21"/>
                </a:solidFill>
                <a:latin typeface="Trebuchet MS"/>
              </a:rPr>
              <a:t>Validated JSON</a:t>
            </a:r>
          </a:p>
        </p:txBody>
      </p:sp>
      <p:sp>
        <p:nvSpPr>
          <p:cNvPr id="16" name="Right Arrow 15"/>
          <p:cNvSpPr/>
          <p:nvPr/>
        </p:nvSpPr>
        <p:spPr>
          <a:xfrm>
            <a:off x="9611103" y="2379725"/>
            <a:ext cx="274320" cy="146304"/>
          </a:xfrm>
          <a:prstGeom prst="rightArrow">
            <a:avLst/>
          </a:prstGeom>
          <a:solidFill>
            <a:srgbClr val="8CBB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9839702" y="2077973"/>
            <a:ext cx="1642414" cy="749808"/>
          </a:xfrm>
          <a:prstGeom prst="roundRect">
            <a:avLst>
              <a:gd name="adj" fmla="val 220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Bef>
                <a:spcPts val="0"/>
              </a:spcBef>
              <a:spcAft>
                <a:spcPts val="0"/>
              </a:spcAft>
            </a:pPr>
            <a:r>
              <a:rPr sz="1050" b="1" i="0">
                <a:solidFill>
                  <a:srgbClr val="182A21"/>
                </a:solidFill>
                <a:latin typeface="Trebuchet MS"/>
              </a:rPr>
              <a:t>Links to products</a:t>
            </a:r>
          </a:p>
        </p:txBody>
      </p:sp>
      <p:sp>
        <p:nvSpPr>
          <p:cNvPr id="18" name="Rounded Rectangle 17"/>
          <p:cNvSpPr/>
          <p:nvPr/>
        </p:nvSpPr>
        <p:spPr>
          <a:xfrm>
            <a:off x="713232" y="3065525"/>
            <a:ext cx="3429000" cy="1991106"/>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713232" y="3065525"/>
            <a:ext cx="50292" cy="1991106"/>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69264" y="3266693"/>
            <a:ext cx="2990088" cy="1441094"/>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CONSTRAINT</a:t>
            </a:r>
          </a:p>
          <a:p>
            <a:pPr algn="l">
              <a:lnSpc>
                <a:spcPct val="110000"/>
              </a:lnSpc>
              <a:spcBef>
                <a:spcPts val="0"/>
              </a:spcBef>
              <a:spcAft>
                <a:spcPts val="500"/>
              </a:spcAft>
            </a:pPr>
            <a:r>
              <a:rPr sz="1500" b="1" i="0">
                <a:solidFill>
                  <a:srgbClr val="182A21"/>
                </a:solidFill>
                <a:latin typeface="Trebuchet MS"/>
              </a:rPr>
              <a:t>Grounded in inventory</a:t>
            </a:r>
          </a:p>
          <a:p>
            <a:pPr algn="l">
              <a:lnSpc>
                <a:spcPct val="126000"/>
              </a:lnSpc>
              <a:spcBef>
                <a:spcPts val="0"/>
              </a:spcBef>
              <a:spcAft>
                <a:spcPts val="0"/>
              </a:spcAft>
            </a:pPr>
            <a:r>
              <a:rPr sz="1150" b="0" i="0">
                <a:solidFill>
                  <a:srgbClr val="6E7A72"/>
                </a:solidFill>
                <a:latin typeface="Tahoma"/>
              </a:rPr>
              <a:t>Titles, categories, gender and product ids are read from the database and injected into the prompt, so a recommendation is always something the user can actually add to a cart.</a:t>
            </a:r>
          </a:p>
        </p:txBody>
      </p:sp>
      <p:sp>
        <p:nvSpPr>
          <p:cNvPr id="21" name="Rounded Rectangle 20"/>
          <p:cNvSpPr/>
          <p:nvPr/>
        </p:nvSpPr>
        <p:spPr>
          <a:xfrm>
            <a:off x="4379976" y="3065525"/>
            <a:ext cx="3429000" cy="1991106"/>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4379976" y="3065525"/>
            <a:ext cx="50292" cy="1991106"/>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636008" y="3266693"/>
            <a:ext cx="2990088" cy="1661922"/>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SHAPE</a:t>
            </a:r>
          </a:p>
          <a:p>
            <a:pPr algn="l">
              <a:lnSpc>
                <a:spcPct val="110000"/>
              </a:lnSpc>
              <a:spcBef>
                <a:spcPts val="0"/>
              </a:spcBef>
              <a:spcAft>
                <a:spcPts val="500"/>
              </a:spcAft>
            </a:pPr>
            <a:r>
              <a:rPr sz="1500" b="1" i="0">
                <a:solidFill>
                  <a:srgbClr val="182A21"/>
                </a:solidFill>
                <a:latin typeface="Trebuchet MS"/>
              </a:rPr>
              <a:t>Strict output contract</a:t>
            </a:r>
          </a:p>
          <a:p>
            <a:pPr algn="l">
              <a:lnSpc>
                <a:spcPct val="126000"/>
              </a:lnSpc>
              <a:spcBef>
                <a:spcPts val="0"/>
              </a:spcBef>
              <a:spcAft>
                <a:spcPts val="0"/>
              </a:spcAft>
            </a:pPr>
            <a:r>
              <a:rPr sz="1150" b="0" i="0">
                <a:solidFill>
                  <a:srgbClr val="6E7A72"/>
                </a:solidFill>
                <a:latin typeface="Tahoma"/>
              </a:rPr>
              <a:t>The system prompt demands a raw JSON object with a top and bottom recommendation per gender plus a one-sentence weather rationale. Markdown fences are stripped before parsing.</a:t>
            </a:r>
          </a:p>
        </p:txBody>
      </p:sp>
      <p:sp>
        <p:nvSpPr>
          <p:cNvPr id="24" name="Rounded Rectangle 23"/>
          <p:cNvSpPr/>
          <p:nvPr/>
        </p:nvSpPr>
        <p:spPr>
          <a:xfrm>
            <a:off x="8046720" y="3065525"/>
            <a:ext cx="3429000" cy="1991106"/>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46720" y="3065525"/>
            <a:ext cx="50292" cy="1991106"/>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302752" y="3266693"/>
            <a:ext cx="2990088" cy="1441094"/>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VALIDATION</a:t>
            </a:r>
          </a:p>
          <a:p>
            <a:pPr algn="l">
              <a:lnSpc>
                <a:spcPct val="110000"/>
              </a:lnSpc>
              <a:spcBef>
                <a:spcPts val="0"/>
              </a:spcBef>
              <a:spcAft>
                <a:spcPts val="500"/>
              </a:spcAft>
            </a:pPr>
            <a:r>
              <a:rPr sz="1500" b="1" i="0">
                <a:solidFill>
                  <a:srgbClr val="182A21"/>
                </a:solidFill>
                <a:latin typeface="Trebuchet MS"/>
              </a:rPr>
              <a:t>Rejected if malformed</a:t>
            </a:r>
          </a:p>
          <a:p>
            <a:pPr algn="l">
              <a:lnSpc>
                <a:spcPct val="126000"/>
              </a:lnSpc>
              <a:spcBef>
                <a:spcPts val="0"/>
              </a:spcBef>
              <a:spcAft>
                <a:spcPts val="0"/>
              </a:spcAft>
            </a:pPr>
            <a:r>
              <a:rPr sz="1150" b="0" i="0">
                <a:solidFill>
                  <a:srgbClr val="6E7A72"/>
                </a:solidFill>
                <a:latin typeface="Tahoma"/>
              </a:rPr>
              <a:t>The parsed object is checked for all four required slots and the request fails with a 500 rather than rendering a partial or invented recommendation.</a:t>
            </a:r>
          </a:p>
        </p:txBody>
      </p:sp>
      <p:sp>
        <p:nvSpPr>
          <p:cNvPr id="27" name="TextBox 26"/>
          <p:cNvSpPr txBox="1"/>
          <p:nvPr/>
        </p:nvSpPr>
        <p:spPr>
          <a:xfrm>
            <a:off x="713232" y="5312663"/>
            <a:ext cx="10768888" cy="914400"/>
          </a:xfrm>
          <a:prstGeom prst="rect">
            <a:avLst/>
          </a:prstGeom>
          <a:noFill/>
        </p:spPr>
        <p:txBody>
          <a:bodyPr wrap="square" lIns="0" rIns="0" tIns="0" bIns="0" anchor="t">
            <a:spAutoFit/>
          </a:bodyPr>
          <a:lstStyle/>
          <a:p>
            <a:pPr algn="l">
              <a:lnSpc>
                <a:spcPct val="135000"/>
              </a:lnSpc>
              <a:spcBef>
                <a:spcPts val="0"/>
              </a:spcBef>
              <a:spcAft>
                <a:spcPts val="0"/>
              </a:spcAft>
            </a:pPr>
            <a:r>
              <a:rPr sz="1400" b="1" i="0">
                <a:solidFill>
                  <a:srgbClr val="182A21"/>
                </a:solidFill>
                <a:latin typeface="Trebuchet MS"/>
              </a:rPr>
              <a:t>Why a small model.  </a:t>
            </a:r>
            <a:r>
              <a:rPr sz="1400" b="0" i="0">
                <a:solidFill>
                  <a:srgbClr val="232E27"/>
                </a:solidFill>
                <a:latin typeface="Tahoma"/>
              </a:rPr>
              <a:t>The task is selection from a supplied list under two numeric conditions, not open reasoning. Haiku keeps the response inside the interaction budget of a page the user is waiting on, at a fraction of the cost.</a:t>
            </a:r>
          </a:p>
        </p:txBody>
      </p:sp>
      <p:sp>
        <p:nvSpPr>
          <p:cNvPr id="28" name="Rectangle 27"/>
          <p:cNvSpPr/>
          <p:nvPr/>
        </p:nvSpPr>
        <p:spPr>
          <a:xfrm>
            <a:off x="713232" y="6272784"/>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13232" y="6382512"/>
            <a:ext cx="54864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6E7A72"/>
                </a:solidFill>
                <a:latin typeface="Trebuchet MS"/>
              </a:rPr>
              <a:t>TrailBlaze</a:t>
            </a:r>
            <a:r>
              <a:rPr sz="950" b="0" i="0">
                <a:solidFill>
                  <a:srgbClr val="6E7A72"/>
                </a:solidFill>
                <a:latin typeface="Trebuchet MS"/>
              </a:rPr>
              <a:t>   |   Hiking E-Commerce and Trail Discovery</a:t>
            </a:r>
          </a:p>
        </p:txBody>
      </p:sp>
      <p:sp>
        <p:nvSpPr>
          <p:cNvPr id="30" name="TextBox 29"/>
          <p:cNvSpPr txBox="1"/>
          <p:nvPr/>
        </p:nvSpPr>
        <p:spPr>
          <a:xfrm>
            <a:off x="10515600" y="6382512"/>
            <a:ext cx="964692" cy="274320"/>
          </a:xfrm>
          <a:prstGeom prst="rect">
            <a:avLst/>
          </a:prstGeom>
          <a:noFill/>
        </p:spPr>
        <p:txBody>
          <a:bodyPr wrap="square" lIns="0" rIns="0" tIns="0" bIns="0" anchor="t">
            <a:spAutoFit/>
          </a:bodyPr>
          <a:lstStyle/>
          <a:p>
            <a:pPr algn="r">
              <a:lnSpc>
                <a:spcPct val="122000"/>
              </a:lnSpc>
              <a:spcBef>
                <a:spcPts val="0"/>
              </a:spcBef>
              <a:spcAft>
                <a:spcPts val="0"/>
              </a:spcAft>
            </a:pPr>
            <a:r>
              <a:rPr sz="950" b="1" i="0">
                <a:solidFill>
                  <a:srgbClr val="6E7A72"/>
                </a:solidFill>
                <a:latin typeface="Trebuchet M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8888" cy="237744"/>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4F8A63"/>
                </a:solidFill>
                <a:latin typeface="Trebuchet MS"/>
              </a:rPr>
              <a:t>ENGINEERING</a:t>
            </a:r>
          </a:p>
        </p:txBody>
      </p:sp>
      <p:sp>
        <p:nvSpPr>
          <p:cNvPr id="4" name="TextBox 3"/>
          <p:cNvSpPr txBox="1"/>
          <p:nvPr/>
        </p:nvSpPr>
        <p:spPr>
          <a:xfrm>
            <a:off x="713232" y="749808"/>
            <a:ext cx="10768888"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82A21"/>
                </a:solidFill>
                <a:latin typeface="Trebuchet MS"/>
              </a:rPr>
              <a:t>Frontend and user experience</a:t>
            </a:r>
          </a:p>
        </p:txBody>
      </p:sp>
      <p:sp>
        <p:nvSpPr>
          <p:cNvPr id="5" name="Rectangle 4"/>
          <p:cNvSpPr/>
          <p:nvPr/>
        </p:nvSpPr>
        <p:spPr>
          <a:xfrm>
            <a:off x="713232" y="1389888"/>
            <a:ext cx="566928"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572768"/>
            <a:ext cx="9509760" cy="36576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6E7A72"/>
                </a:solidFill>
                <a:latin typeface="Tahoma"/>
              </a:rPr>
              <a:t>91 TypeScript and JSX modules across 11 feature pages, with routing, guards and state kept explicit.</a:t>
            </a:r>
          </a:p>
        </p:txBody>
      </p:sp>
      <p:sp>
        <p:nvSpPr>
          <p:cNvPr id="7" name="Rounded Rectangle 6"/>
          <p:cNvSpPr/>
          <p:nvPr/>
        </p:nvSpPr>
        <p:spPr>
          <a:xfrm>
            <a:off x="713232" y="2077973"/>
            <a:ext cx="5212080" cy="3136696"/>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13232" y="2077973"/>
            <a:ext cx="50292" cy="3136696"/>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9264" y="2279141"/>
            <a:ext cx="4773168" cy="2688336"/>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ARCHITECTURE</a:t>
            </a:r>
          </a:p>
          <a:p>
            <a:pPr algn="l">
              <a:lnSpc>
                <a:spcPct val="110000"/>
              </a:lnSpc>
              <a:spcBef>
                <a:spcPts val="0"/>
              </a:spcBef>
              <a:spcAft>
                <a:spcPts val="0"/>
              </a:spcAft>
            </a:pPr>
            <a:r>
              <a:rPr sz="1500" b="1" i="0">
                <a:solidFill>
                  <a:srgbClr val="182A21"/>
                </a:solidFill>
                <a:latin typeface="Trebuchet MS"/>
              </a:rPr>
              <a:t>Structure and safety</a:t>
            </a:r>
          </a:p>
        </p:txBody>
      </p:sp>
      <p:sp>
        <p:nvSpPr>
          <p:cNvPr id="10" name="TextBox 9"/>
          <p:cNvSpPr txBox="1"/>
          <p:nvPr/>
        </p:nvSpPr>
        <p:spPr>
          <a:xfrm>
            <a:off x="969264" y="2827781"/>
            <a:ext cx="4754880" cy="365760"/>
          </a:xfrm>
          <a:prstGeom prst="rect">
            <a:avLst/>
          </a:prstGeom>
          <a:noFill/>
        </p:spPr>
        <p:txBody>
          <a:bodyPr wrap="square" lIns="0" rIns="0" tIns="0" bIns="0" anchor="t">
            <a:spAutoFit/>
          </a:bodyPr>
          <a:lstStyle/>
          <a:p>
            <a:pPr algn="l" marL="187452" indent="-187452">
              <a:lnSpc>
                <a:spcPct val="126000"/>
              </a:lnSpc>
              <a:spcBef>
                <a:spcPts val="0"/>
              </a:spcBef>
              <a:spcAft>
                <a:spcPts val="0"/>
              </a:spcAft>
            </a:pPr>
            <a:r>
              <a:rPr sz="1150" b="1" i="0">
                <a:solidFill>
                  <a:srgbClr val="4F8A63"/>
                </a:solidFill>
                <a:latin typeface="Tahoma"/>
              </a:rPr>
              <a:t>▪   </a:t>
            </a:r>
            <a:r>
              <a:rPr sz="1150" b="1" i="0">
                <a:solidFill>
                  <a:srgbClr val="182A21"/>
                </a:solidFill>
                <a:latin typeface="Tahoma"/>
              </a:rPr>
              <a:t>Typed boundaries  </a:t>
            </a:r>
            <a:r>
              <a:rPr sz="1150" b="0" i="0">
                <a:solidFill>
                  <a:srgbClr val="232E27"/>
                </a:solidFill>
                <a:latin typeface="Tahoma"/>
              </a:rPr>
              <a:t>Interfaces are declared per feature and shared between the component and its handlers.</a:t>
            </a:r>
          </a:p>
          <a:p>
            <a:pPr algn="l" marL="187452" indent="-187452">
              <a:lnSpc>
                <a:spcPct val="126000"/>
              </a:lnSpc>
              <a:spcBef>
                <a:spcPts val="1100"/>
              </a:spcBef>
              <a:spcAft>
                <a:spcPts val="0"/>
              </a:spcAft>
            </a:pPr>
            <a:r>
              <a:rPr sz="1150" b="1" i="0">
                <a:solidFill>
                  <a:srgbClr val="4F8A63"/>
                </a:solidFill>
                <a:latin typeface="Tahoma"/>
              </a:rPr>
              <a:t>▪   </a:t>
            </a:r>
            <a:r>
              <a:rPr sz="1150" b="1" i="0">
                <a:solidFill>
                  <a:srgbClr val="182A21"/>
                </a:solidFill>
                <a:latin typeface="Tahoma"/>
              </a:rPr>
              <a:t>Route guards  </a:t>
            </a:r>
            <a:r>
              <a:rPr sz="1150" b="0" i="0">
                <a:solidFill>
                  <a:srgbClr val="232E27"/>
                </a:solidFill>
                <a:latin typeface="Tahoma"/>
              </a:rPr>
              <a:t>ProtectedRoute wraps the account, checkout and admin areas; GuestRoute keeps signed-in users off login and register.</a:t>
            </a:r>
          </a:p>
          <a:p>
            <a:pPr algn="l" marL="187452" indent="-187452">
              <a:lnSpc>
                <a:spcPct val="126000"/>
              </a:lnSpc>
              <a:spcBef>
                <a:spcPts val="1100"/>
              </a:spcBef>
              <a:spcAft>
                <a:spcPts val="0"/>
              </a:spcAft>
            </a:pPr>
            <a:r>
              <a:rPr sz="1150" b="1" i="0">
                <a:solidFill>
                  <a:srgbClr val="4F8A63"/>
                </a:solidFill>
                <a:latin typeface="Tahoma"/>
              </a:rPr>
              <a:t>▪   </a:t>
            </a:r>
            <a:r>
              <a:rPr sz="1150" b="1" i="0">
                <a:solidFill>
                  <a:srgbClr val="182A21"/>
                </a:solidFill>
                <a:latin typeface="Tahoma"/>
              </a:rPr>
              <a:t>Auth context  </a:t>
            </a:r>
            <a:r>
              <a:rPr sz="1150" b="0" i="0">
                <a:solidFill>
                  <a:srgbClr val="232E27"/>
                </a:solidFill>
                <a:latin typeface="Tahoma"/>
              </a:rPr>
              <a:t>A single context exposes the current user, so the header, guards and pages read one source of truth.</a:t>
            </a:r>
          </a:p>
          <a:p>
            <a:pPr algn="l" marL="187452" indent="-187452">
              <a:lnSpc>
                <a:spcPct val="126000"/>
              </a:lnSpc>
              <a:spcBef>
                <a:spcPts val="1100"/>
              </a:spcBef>
              <a:spcAft>
                <a:spcPts val="0"/>
              </a:spcAft>
            </a:pPr>
            <a:r>
              <a:rPr sz="1150" b="1" i="0">
                <a:solidFill>
                  <a:srgbClr val="4F8A63"/>
                </a:solidFill>
                <a:latin typeface="Tahoma"/>
              </a:rPr>
              <a:t>▪   </a:t>
            </a:r>
            <a:r>
              <a:rPr sz="1150" b="1" i="0">
                <a:solidFill>
                  <a:srgbClr val="182A21"/>
                </a:solidFill>
                <a:latin typeface="Tahoma"/>
              </a:rPr>
              <a:t>Error boundary  </a:t>
            </a:r>
            <a:r>
              <a:rPr sz="1150" b="0" i="0">
                <a:solidFill>
                  <a:srgbClr val="232E27"/>
                </a:solidFill>
                <a:latin typeface="Tahoma"/>
              </a:rPr>
              <a:t>A fallback component with a reset action wraps every route.</a:t>
            </a:r>
          </a:p>
        </p:txBody>
      </p:sp>
      <p:sp>
        <p:nvSpPr>
          <p:cNvPr id="11" name="Rounded Rectangle 10"/>
          <p:cNvSpPr/>
          <p:nvPr/>
        </p:nvSpPr>
        <p:spPr>
          <a:xfrm>
            <a:off x="6291072" y="2077973"/>
            <a:ext cx="5184648" cy="3136696"/>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91072" y="2077973"/>
            <a:ext cx="50292" cy="3136696"/>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47104" y="2279141"/>
            <a:ext cx="4745736" cy="2688336"/>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INTERFACE</a:t>
            </a:r>
          </a:p>
          <a:p>
            <a:pPr algn="l">
              <a:lnSpc>
                <a:spcPct val="110000"/>
              </a:lnSpc>
              <a:spcBef>
                <a:spcPts val="0"/>
              </a:spcBef>
              <a:spcAft>
                <a:spcPts val="0"/>
              </a:spcAft>
            </a:pPr>
            <a:r>
              <a:rPr sz="1500" b="1" i="0">
                <a:solidFill>
                  <a:srgbClr val="182A21"/>
                </a:solidFill>
                <a:latin typeface="Trebuchet MS"/>
              </a:rPr>
              <a:t>Experience</a:t>
            </a:r>
          </a:p>
        </p:txBody>
      </p:sp>
      <p:sp>
        <p:nvSpPr>
          <p:cNvPr id="14" name="TextBox 13"/>
          <p:cNvSpPr txBox="1"/>
          <p:nvPr/>
        </p:nvSpPr>
        <p:spPr>
          <a:xfrm>
            <a:off x="6547104" y="2827781"/>
            <a:ext cx="4709160" cy="365760"/>
          </a:xfrm>
          <a:prstGeom prst="rect">
            <a:avLst/>
          </a:prstGeom>
          <a:noFill/>
        </p:spPr>
        <p:txBody>
          <a:bodyPr wrap="square" lIns="0" rIns="0" tIns="0" bIns="0" anchor="t">
            <a:spAutoFit/>
          </a:bodyPr>
          <a:lstStyle/>
          <a:p>
            <a:pPr algn="l" marL="187452" indent="-187452">
              <a:lnSpc>
                <a:spcPct val="126000"/>
              </a:lnSpc>
              <a:spcBef>
                <a:spcPts val="0"/>
              </a:spcBef>
              <a:spcAft>
                <a:spcPts val="0"/>
              </a:spcAft>
            </a:pPr>
            <a:r>
              <a:rPr sz="1150" b="1" i="0">
                <a:solidFill>
                  <a:srgbClr val="C1943C"/>
                </a:solidFill>
                <a:latin typeface="Tahoma"/>
              </a:rPr>
              <a:t>▪   </a:t>
            </a:r>
            <a:r>
              <a:rPr sz="1150" b="1" i="0">
                <a:solidFill>
                  <a:srgbClr val="182A21"/>
                </a:solidFill>
                <a:latin typeface="Tahoma"/>
              </a:rPr>
              <a:t>Responsive range  </a:t>
            </a:r>
            <a:r>
              <a:rPr sz="1150" b="0" i="0">
                <a:solidFill>
                  <a:srgbClr val="232E27"/>
                </a:solidFill>
                <a:latin typeface="Tahoma"/>
              </a:rPr>
              <a:t>Layouts are exercised from 361 px handsets up to 1921 px desktops using Tailwind breakpoints.</a:t>
            </a:r>
          </a:p>
          <a:p>
            <a:pPr algn="l" marL="187452" indent="-187452">
              <a:lnSpc>
                <a:spcPct val="126000"/>
              </a:lnSpc>
              <a:spcBef>
                <a:spcPts val="1100"/>
              </a:spcBef>
              <a:spcAft>
                <a:spcPts val="0"/>
              </a:spcAft>
            </a:pPr>
            <a:r>
              <a:rPr sz="1150" b="1" i="0">
                <a:solidFill>
                  <a:srgbClr val="C1943C"/>
                </a:solidFill>
                <a:latin typeface="Tahoma"/>
              </a:rPr>
              <a:t>▪   </a:t>
            </a:r>
            <a:r>
              <a:rPr sz="1150" b="1" i="0">
                <a:solidFill>
                  <a:srgbClr val="182A21"/>
                </a:solidFill>
                <a:latin typeface="Tahoma"/>
              </a:rPr>
              <a:t>Loading states  </a:t>
            </a:r>
            <a:r>
              <a:rPr sz="1150" b="0" i="0">
                <a:solidFill>
                  <a:srgbClr val="232E27"/>
                </a:solidFill>
                <a:latin typeface="Tahoma"/>
              </a:rPr>
              <a:t>Seven skeleton components mirror the real layout of cards, cart rows, product pages and trail details.</a:t>
            </a:r>
          </a:p>
          <a:p>
            <a:pPr algn="l" marL="187452" indent="-187452">
              <a:lnSpc>
                <a:spcPct val="126000"/>
              </a:lnSpc>
              <a:spcBef>
                <a:spcPts val="1100"/>
              </a:spcBef>
              <a:spcAft>
                <a:spcPts val="0"/>
              </a:spcAft>
            </a:pPr>
            <a:r>
              <a:rPr sz="1150" b="1" i="0">
                <a:solidFill>
                  <a:srgbClr val="C1943C"/>
                </a:solidFill>
                <a:latin typeface="Tahoma"/>
              </a:rPr>
              <a:t>▪   </a:t>
            </a:r>
            <a:r>
              <a:rPr sz="1150" b="1" i="0">
                <a:solidFill>
                  <a:srgbClr val="182A21"/>
                </a:solidFill>
                <a:latin typeface="Tahoma"/>
              </a:rPr>
              <a:t>Feedback  </a:t>
            </a:r>
            <a:r>
              <a:rPr sz="1150" b="0" i="0">
                <a:solidFill>
                  <a:srgbClr val="232E27"/>
                </a:solidFill>
                <a:latin typeface="Tahoma"/>
              </a:rPr>
              <a:t>Toast notifications confirm cart, wishlist and profile actions without a page change.</a:t>
            </a:r>
          </a:p>
          <a:p>
            <a:pPr algn="l" marL="187452" indent="-187452">
              <a:lnSpc>
                <a:spcPct val="126000"/>
              </a:lnSpc>
              <a:spcBef>
                <a:spcPts val="1100"/>
              </a:spcBef>
              <a:spcAft>
                <a:spcPts val="0"/>
              </a:spcAft>
            </a:pPr>
            <a:r>
              <a:rPr sz="1150" b="1" i="0">
                <a:solidFill>
                  <a:srgbClr val="C1943C"/>
                </a:solidFill>
                <a:latin typeface="Tahoma"/>
              </a:rPr>
              <a:t>▪   </a:t>
            </a:r>
            <a:r>
              <a:rPr sz="1150" b="1" i="0">
                <a:solidFill>
                  <a:srgbClr val="182A21"/>
                </a:solidFill>
                <a:latin typeface="Tahoma"/>
              </a:rPr>
              <a:t>Sticky header  </a:t>
            </a:r>
            <a:r>
              <a:rPr sz="1150" b="0" i="0">
                <a:solidFill>
                  <a:srgbClr val="232E27"/>
                </a:solidFill>
                <a:latin typeface="Tahoma"/>
              </a:rPr>
              <a:t>Transparent over the hero, solid on scroll, with the catalogue and trail entry points always reachable.</a:t>
            </a:r>
          </a:p>
        </p:txBody>
      </p:sp>
      <p:sp>
        <p:nvSpPr>
          <p:cNvPr id="15" name="Rectangle 14"/>
          <p:cNvSpPr/>
          <p:nvPr/>
        </p:nvSpPr>
        <p:spPr>
          <a:xfrm>
            <a:off x="713232" y="6272784"/>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13232" y="6382512"/>
            <a:ext cx="54864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6E7A72"/>
                </a:solidFill>
                <a:latin typeface="Trebuchet MS"/>
              </a:rPr>
              <a:t>TrailBlaze</a:t>
            </a:r>
            <a:r>
              <a:rPr sz="950" b="0" i="0">
                <a:solidFill>
                  <a:srgbClr val="6E7A72"/>
                </a:solidFill>
                <a:latin typeface="Trebuchet MS"/>
              </a:rPr>
              <a:t>   |   Hiking E-Commerce and Trail Discovery</a:t>
            </a:r>
          </a:p>
        </p:txBody>
      </p:sp>
      <p:sp>
        <p:nvSpPr>
          <p:cNvPr id="17" name="TextBox 16"/>
          <p:cNvSpPr txBox="1"/>
          <p:nvPr/>
        </p:nvSpPr>
        <p:spPr>
          <a:xfrm>
            <a:off x="10515600" y="6382512"/>
            <a:ext cx="964692" cy="274320"/>
          </a:xfrm>
          <a:prstGeom prst="rect">
            <a:avLst/>
          </a:prstGeom>
          <a:noFill/>
        </p:spPr>
        <p:txBody>
          <a:bodyPr wrap="square" lIns="0" rIns="0" tIns="0" bIns="0" anchor="t">
            <a:spAutoFit/>
          </a:bodyPr>
          <a:lstStyle/>
          <a:p>
            <a:pPr algn="r">
              <a:lnSpc>
                <a:spcPct val="122000"/>
              </a:lnSpc>
              <a:spcBef>
                <a:spcPts val="0"/>
              </a:spcBef>
              <a:spcAft>
                <a:spcPts val="0"/>
              </a:spcAft>
            </a:pPr>
            <a:r>
              <a:rPr sz="950" b="1" i="0">
                <a:solidFill>
                  <a:srgbClr val="6E7A72"/>
                </a:solidFill>
                <a:latin typeface="Trebuchet M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8888" cy="237744"/>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4F8A63"/>
                </a:solidFill>
                <a:latin typeface="Trebuchet MS"/>
              </a:rPr>
              <a:t>PROCESS</a:t>
            </a:r>
          </a:p>
        </p:txBody>
      </p:sp>
      <p:sp>
        <p:nvSpPr>
          <p:cNvPr id="4" name="TextBox 3"/>
          <p:cNvSpPr txBox="1"/>
          <p:nvPr/>
        </p:nvSpPr>
        <p:spPr>
          <a:xfrm>
            <a:off x="713232" y="749808"/>
            <a:ext cx="10768888"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82A21"/>
                </a:solidFill>
                <a:latin typeface="Trebuchet MS"/>
              </a:rPr>
              <a:t>Project in numbers</a:t>
            </a:r>
          </a:p>
        </p:txBody>
      </p:sp>
      <p:sp>
        <p:nvSpPr>
          <p:cNvPr id="5" name="Rectangle 4"/>
          <p:cNvSpPr/>
          <p:nvPr/>
        </p:nvSpPr>
        <p:spPr>
          <a:xfrm>
            <a:off x="713232" y="1389888"/>
            <a:ext cx="566928"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572768"/>
            <a:ext cx="9509760" cy="36576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6E7A72"/>
                </a:solidFill>
                <a:latin typeface="Tahoma"/>
              </a:rPr>
              <a:t>Developed as a single-author project over twelve months, from the first home-page commit to the access-control hardening branch.</a:t>
            </a:r>
          </a:p>
        </p:txBody>
      </p:sp>
      <p:sp>
        <p:nvSpPr>
          <p:cNvPr id="7" name="TextBox 6"/>
          <p:cNvSpPr txBox="1"/>
          <p:nvPr/>
        </p:nvSpPr>
        <p:spPr>
          <a:xfrm>
            <a:off x="713232" y="2345435"/>
            <a:ext cx="2121408" cy="914400"/>
          </a:xfrm>
          <a:prstGeom prst="rect">
            <a:avLst/>
          </a:prstGeom>
          <a:noFill/>
        </p:spPr>
        <p:txBody>
          <a:bodyPr wrap="square" lIns="0" rIns="0" tIns="0" bIns="0" anchor="t">
            <a:spAutoFit/>
          </a:bodyPr>
          <a:lstStyle/>
          <a:p>
            <a:pPr algn="l">
              <a:lnSpc>
                <a:spcPct val="100000"/>
              </a:lnSpc>
              <a:spcBef>
                <a:spcPts val="0"/>
              </a:spcBef>
              <a:spcAft>
                <a:spcPts val="0"/>
              </a:spcAft>
            </a:pPr>
            <a:r>
              <a:rPr sz="4000" b="1" i="0">
                <a:solidFill>
                  <a:srgbClr val="4F8A63"/>
                </a:solidFill>
                <a:latin typeface="Trebuchet MS"/>
              </a:rPr>
              <a:t>159</a:t>
            </a:r>
          </a:p>
          <a:p>
            <a:pPr algn="l">
              <a:lnSpc>
                <a:spcPct val="120000"/>
              </a:lnSpc>
              <a:spcBef>
                <a:spcPts val="400"/>
              </a:spcBef>
              <a:spcAft>
                <a:spcPts val="0"/>
              </a:spcAft>
            </a:pPr>
            <a:r>
              <a:rPr sz="1150" b="0" i="0">
                <a:solidFill>
                  <a:srgbClr val="6E7A72"/>
                </a:solidFill>
                <a:latin typeface="Tahoma"/>
              </a:rPr>
              <a:t>commits</a:t>
            </a:r>
          </a:p>
        </p:txBody>
      </p:sp>
      <p:sp>
        <p:nvSpPr>
          <p:cNvPr id="8" name="TextBox 7"/>
          <p:cNvSpPr txBox="1"/>
          <p:nvPr/>
        </p:nvSpPr>
        <p:spPr>
          <a:xfrm>
            <a:off x="2834640" y="2345435"/>
            <a:ext cx="2121408" cy="914400"/>
          </a:xfrm>
          <a:prstGeom prst="rect">
            <a:avLst/>
          </a:prstGeom>
          <a:noFill/>
        </p:spPr>
        <p:txBody>
          <a:bodyPr wrap="square" lIns="0" rIns="0" tIns="0" bIns="0" anchor="t">
            <a:spAutoFit/>
          </a:bodyPr>
          <a:lstStyle/>
          <a:p>
            <a:pPr algn="l">
              <a:lnSpc>
                <a:spcPct val="100000"/>
              </a:lnSpc>
              <a:spcBef>
                <a:spcPts val="0"/>
              </a:spcBef>
              <a:spcAft>
                <a:spcPts val="0"/>
              </a:spcAft>
            </a:pPr>
            <a:r>
              <a:rPr sz="4000" b="1" i="0">
                <a:solidFill>
                  <a:srgbClr val="C1943C"/>
                </a:solidFill>
                <a:latin typeface="Trebuchet MS"/>
              </a:rPr>
              <a:t>12</a:t>
            </a:r>
          </a:p>
          <a:p>
            <a:pPr algn="l">
              <a:lnSpc>
                <a:spcPct val="120000"/>
              </a:lnSpc>
              <a:spcBef>
                <a:spcPts val="400"/>
              </a:spcBef>
              <a:spcAft>
                <a:spcPts val="0"/>
              </a:spcAft>
            </a:pPr>
            <a:r>
              <a:rPr sz="1150" b="0" i="0">
                <a:solidFill>
                  <a:srgbClr val="6E7A72"/>
                </a:solidFill>
                <a:latin typeface="Tahoma"/>
              </a:rPr>
              <a:t>months of work</a:t>
            </a:r>
          </a:p>
        </p:txBody>
      </p:sp>
      <p:sp>
        <p:nvSpPr>
          <p:cNvPr id="9" name="TextBox 8"/>
          <p:cNvSpPr txBox="1"/>
          <p:nvPr/>
        </p:nvSpPr>
        <p:spPr>
          <a:xfrm>
            <a:off x="4956048" y="2345435"/>
            <a:ext cx="2121408" cy="914400"/>
          </a:xfrm>
          <a:prstGeom prst="rect">
            <a:avLst/>
          </a:prstGeom>
          <a:noFill/>
        </p:spPr>
        <p:txBody>
          <a:bodyPr wrap="square" lIns="0" rIns="0" tIns="0" bIns="0" anchor="t">
            <a:spAutoFit/>
          </a:bodyPr>
          <a:lstStyle/>
          <a:p>
            <a:pPr algn="l">
              <a:lnSpc>
                <a:spcPct val="100000"/>
              </a:lnSpc>
              <a:spcBef>
                <a:spcPts val="0"/>
              </a:spcBef>
              <a:spcAft>
                <a:spcPts val="0"/>
              </a:spcAft>
            </a:pPr>
            <a:r>
              <a:rPr sz="4000" b="1" i="0">
                <a:solidFill>
                  <a:srgbClr val="4F8A63"/>
                </a:solidFill>
                <a:latin typeface="Trebuchet MS"/>
              </a:rPr>
              <a:t>8,909</a:t>
            </a:r>
          </a:p>
          <a:p>
            <a:pPr algn="l">
              <a:lnSpc>
                <a:spcPct val="120000"/>
              </a:lnSpc>
              <a:spcBef>
                <a:spcPts val="400"/>
              </a:spcBef>
              <a:spcAft>
                <a:spcPts val="0"/>
              </a:spcAft>
            </a:pPr>
            <a:r>
              <a:rPr sz="1150" b="0" i="0">
                <a:solidFill>
                  <a:srgbClr val="6E7A72"/>
                </a:solidFill>
                <a:latin typeface="Tahoma"/>
              </a:rPr>
              <a:t>lines of source</a:t>
            </a:r>
          </a:p>
        </p:txBody>
      </p:sp>
      <p:sp>
        <p:nvSpPr>
          <p:cNvPr id="10" name="TextBox 9"/>
          <p:cNvSpPr txBox="1"/>
          <p:nvPr/>
        </p:nvSpPr>
        <p:spPr>
          <a:xfrm>
            <a:off x="7077456" y="2345435"/>
            <a:ext cx="2121408" cy="914400"/>
          </a:xfrm>
          <a:prstGeom prst="rect">
            <a:avLst/>
          </a:prstGeom>
          <a:noFill/>
        </p:spPr>
        <p:txBody>
          <a:bodyPr wrap="square" lIns="0" rIns="0" tIns="0" bIns="0" anchor="t">
            <a:spAutoFit/>
          </a:bodyPr>
          <a:lstStyle/>
          <a:p>
            <a:pPr algn="l">
              <a:lnSpc>
                <a:spcPct val="100000"/>
              </a:lnSpc>
              <a:spcBef>
                <a:spcPts val="0"/>
              </a:spcBef>
              <a:spcAft>
                <a:spcPts val="0"/>
              </a:spcAft>
            </a:pPr>
            <a:r>
              <a:rPr sz="4000" b="1" i="0">
                <a:solidFill>
                  <a:srgbClr val="C1943C"/>
                </a:solidFill>
                <a:latin typeface="Trebuchet MS"/>
              </a:rPr>
              <a:t>91</a:t>
            </a:r>
          </a:p>
          <a:p>
            <a:pPr algn="l">
              <a:lnSpc>
                <a:spcPct val="120000"/>
              </a:lnSpc>
              <a:spcBef>
                <a:spcPts val="400"/>
              </a:spcBef>
              <a:spcAft>
                <a:spcPts val="0"/>
              </a:spcAft>
            </a:pPr>
            <a:r>
              <a:rPr sz="1150" b="0" i="0">
                <a:solidFill>
                  <a:srgbClr val="6E7A72"/>
                </a:solidFill>
                <a:latin typeface="Tahoma"/>
              </a:rPr>
              <a:t>client modules</a:t>
            </a:r>
          </a:p>
        </p:txBody>
      </p:sp>
      <p:sp>
        <p:nvSpPr>
          <p:cNvPr id="11" name="TextBox 10"/>
          <p:cNvSpPr txBox="1"/>
          <p:nvPr/>
        </p:nvSpPr>
        <p:spPr>
          <a:xfrm>
            <a:off x="9198864" y="2345435"/>
            <a:ext cx="2121408" cy="914400"/>
          </a:xfrm>
          <a:prstGeom prst="rect">
            <a:avLst/>
          </a:prstGeom>
          <a:noFill/>
        </p:spPr>
        <p:txBody>
          <a:bodyPr wrap="square" lIns="0" rIns="0" tIns="0" bIns="0" anchor="t">
            <a:spAutoFit/>
          </a:bodyPr>
          <a:lstStyle/>
          <a:p>
            <a:pPr algn="l">
              <a:lnSpc>
                <a:spcPct val="100000"/>
              </a:lnSpc>
              <a:spcBef>
                <a:spcPts val="0"/>
              </a:spcBef>
              <a:spcAft>
                <a:spcPts val="0"/>
              </a:spcAft>
            </a:pPr>
            <a:r>
              <a:rPr sz="4000" b="1" i="0">
                <a:solidFill>
                  <a:srgbClr val="4F8A63"/>
                </a:solidFill>
                <a:latin typeface="Trebuchet MS"/>
              </a:rPr>
              <a:t>34</a:t>
            </a:r>
          </a:p>
          <a:p>
            <a:pPr algn="l">
              <a:lnSpc>
                <a:spcPct val="120000"/>
              </a:lnSpc>
              <a:spcBef>
                <a:spcPts val="400"/>
              </a:spcBef>
              <a:spcAft>
                <a:spcPts val="0"/>
              </a:spcAft>
            </a:pPr>
            <a:r>
              <a:rPr sz="1150" b="0" i="0">
                <a:solidFill>
                  <a:srgbClr val="6E7A72"/>
                </a:solidFill>
                <a:latin typeface="Tahoma"/>
              </a:rPr>
              <a:t>server modules</a:t>
            </a:r>
          </a:p>
        </p:txBody>
      </p:sp>
      <p:sp>
        <p:nvSpPr>
          <p:cNvPr id="12" name="Rectangle 11"/>
          <p:cNvSpPr/>
          <p:nvPr/>
        </p:nvSpPr>
        <p:spPr>
          <a:xfrm>
            <a:off x="713232" y="3399027"/>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713232" y="3636771"/>
            <a:ext cx="3429000" cy="1566214"/>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13232" y="3636771"/>
            <a:ext cx="50292" cy="1566214"/>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9264" y="3837939"/>
            <a:ext cx="2990088" cy="1152144"/>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START</a:t>
            </a:r>
          </a:p>
          <a:p>
            <a:pPr algn="l">
              <a:lnSpc>
                <a:spcPct val="110000"/>
              </a:lnSpc>
              <a:spcBef>
                <a:spcPts val="0"/>
              </a:spcBef>
              <a:spcAft>
                <a:spcPts val="500"/>
              </a:spcAft>
            </a:pPr>
            <a:r>
              <a:rPr sz="1600" b="1" i="0">
                <a:solidFill>
                  <a:srgbClr val="182A21"/>
                </a:solidFill>
                <a:latin typeface="Trebuchet MS"/>
              </a:rPr>
              <a:t>Aug 29, 2025</a:t>
            </a:r>
          </a:p>
          <a:p>
            <a:pPr algn="l">
              <a:lnSpc>
                <a:spcPct val="126000"/>
              </a:lnSpc>
              <a:spcBef>
                <a:spcPts val="0"/>
              </a:spcBef>
              <a:spcAft>
                <a:spcPts val="0"/>
              </a:spcAft>
            </a:pPr>
            <a:r>
              <a:rPr sz="1150" b="0" i="0">
                <a:solidFill>
                  <a:srgbClr val="6E7A72"/>
                </a:solidFill>
                <a:latin typeface="Tahoma"/>
              </a:rPr>
              <a:t>First commit: the home page hero and category sections.</a:t>
            </a:r>
          </a:p>
        </p:txBody>
      </p:sp>
      <p:sp>
        <p:nvSpPr>
          <p:cNvPr id="16" name="Rounded Rectangle 15"/>
          <p:cNvSpPr/>
          <p:nvPr/>
        </p:nvSpPr>
        <p:spPr>
          <a:xfrm>
            <a:off x="4379976" y="3636771"/>
            <a:ext cx="3429000" cy="1566214"/>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379976" y="3636771"/>
            <a:ext cx="50292" cy="1566214"/>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636008" y="3837939"/>
            <a:ext cx="2990088" cy="1237030"/>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MIDDLE</a:t>
            </a:r>
          </a:p>
          <a:p>
            <a:pPr algn="l">
              <a:lnSpc>
                <a:spcPct val="110000"/>
              </a:lnSpc>
              <a:spcBef>
                <a:spcPts val="0"/>
              </a:spcBef>
              <a:spcAft>
                <a:spcPts val="500"/>
              </a:spcAft>
            </a:pPr>
            <a:r>
              <a:rPr sz="1600" b="1" i="0">
                <a:solidFill>
                  <a:srgbClr val="182A21"/>
                </a:solidFill>
                <a:latin typeface="Trebuchet MS"/>
              </a:rPr>
              <a:t>Incremental slices</a:t>
            </a:r>
          </a:p>
          <a:p>
            <a:pPr algn="l">
              <a:lnSpc>
                <a:spcPct val="126000"/>
              </a:lnSpc>
              <a:spcBef>
                <a:spcPts val="0"/>
              </a:spcBef>
              <a:spcAft>
                <a:spcPts val="0"/>
              </a:spcAft>
            </a:pPr>
            <a:r>
              <a:rPr sz="1150" b="0" i="0">
                <a:solidFill>
                  <a:srgbClr val="6E7A72"/>
                </a:solidFill>
                <a:latin typeface="Tahoma"/>
              </a:rPr>
              <a:t>Login, catalogue, cart, checkout, orders, trails, AI advisor and the admin console were each landed as a working slice.</a:t>
            </a:r>
          </a:p>
        </p:txBody>
      </p:sp>
      <p:sp>
        <p:nvSpPr>
          <p:cNvPr id="19" name="Rounded Rectangle 18"/>
          <p:cNvSpPr/>
          <p:nvPr/>
        </p:nvSpPr>
        <p:spPr>
          <a:xfrm>
            <a:off x="8046720" y="3636771"/>
            <a:ext cx="3429000" cy="1566214"/>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46720" y="3636771"/>
            <a:ext cx="50292" cy="1566214"/>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302752" y="3837939"/>
            <a:ext cx="2990088" cy="1152144"/>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LATEST</a:t>
            </a:r>
          </a:p>
          <a:p>
            <a:pPr algn="l">
              <a:lnSpc>
                <a:spcPct val="110000"/>
              </a:lnSpc>
              <a:spcBef>
                <a:spcPts val="0"/>
              </a:spcBef>
              <a:spcAft>
                <a:spcPts val="500"/>
              </a:spcAft>
            </a:pPr>
            <a:r>
              <a:rPr sz="1600" b="1" i="0">
                <a:solidFill>
                  <a:srgbClr val="182A21"/>
                </a:solidFill>
                <a:latin typeface="Trebuchet MS"/>
              </a:rPr>
              <a:t>Aug 28, 2026</a:t>
            </a:r>
          </a:p>
          <a:p>
            <a:pPr algn="l">
              <a:lnSpc>
                <a:spcPct val="126000"/>
              </a:lnSpc>
              <a:spcBef>
                <a:spcPts val="0"/>
              </a:spcBef>
              <a:spcAft>
                <a:spcPts val="0"/>
              </a:spcAft>
            </a:pPr>
            <a:r>
              <a:rPr sz="1150" b="0" i="0">
                <a:solidFill>
                  <a:srgbClr val="6E7A72"/>
                </a:solidFill>
                <a:latin typeface="Tahoma"/>
              </a:rPr>
              <a:t>Access-control review and hardening, currently on the fix branch.</a:t>
            </a:r>
          </a:p>
        </p:txBody>
      </p:sp>
      <p:sp>
        <p:nvSpPr>
          <p:cNvPr id="22" name="TextBox 21"/>
          <p:cNvSpPr txBox="1"/>
          <p:nvPr/>
        </p:nvSpPr>
        <p:spPr>
          <a:xfrm>
            <a:off x="713232" y="5459017"/>
            <a:ext cx="10768888" cy="64008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E7A72"/>
                </a:solidFill>
                <a:latin typeface="Tahoma"/>
              </a:rPr>
              <a:t>Both the frontend and the API are deployed and publicly reachable, backed by a managed serverless PostgreSQL instance with 60 seeded products.</a:t>
            </a:r>
          </a:p>
        </p:txBody>
      </p:sp>
      <p:sp>
        <p:nvSpPr>
          <p:cNvPr id="23" name="Rectangle 22"/>
          <p:cNvSpPr/>
          <p:nvPr/>
        </p:nvSpPr>
        <p:spPr>
          <a:xfrm>
            <a:off x="713232" y="6272784"/>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13232" y="6382512"/>
            <a:ext cx="54864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6E7A72"/>
                </a:solidFill>
                <a:latin typeface="Trebuchet MS"/>
              </a:rPr>
              <a:t>TrailBlaze</a:t>
            </a:r>
            <a:r>
              <a:rPr sz="950" b="0" i="0">
                <a:solidFill>
                  <a:srgbClr val="6E7A72"/>
                </a:solidFill>
                <a:latin typeface="Trebuchet MS"/>
              </a:rPr>
              <a:t>   |   Hiking E-Commerce and Trail Discovery</a:t>
            </a:r>
          </a:p>
        </p:txBody>
      </p:sp>
      <p:sp>
        <p:nvSpPr>
          <p:cNvPr id="25" name="TextBox 24"/>
          <p:cNvSpPr txBox="1"/>
          <p:nvPr/>
        </p:nvSpPr>
        <p:spPr>
          <a:xfrm>
            <a:off x="10515600" y="6382512"/>
            <a:ext cx="964692" cy="274320"/>
          </a:xfrm>
          <a:prstGeom prst="rect">
            <a:avLst/>
          </a:prstGeom>
          <a:noFill/>
        </p:spPr>
        <p:txBody>
          <a:bodyPr wrap="square" lIns="0" rIns="0" tIns="0" bIns="0" anchor="t">
            <a:spAutoFit/>
          </a:bodyPr>
          <a:lstStyle/>
          <a:p>
            <a:pPr algn="r">
              <a:lnSpc>
                <a:spcPct val="122000"/>
              </a:lnSpc>
              <a:spcBef>
                <a:spcPts val="0"/>
              </a:spcBef>
              <a:spcAft>
                <a:spcPts val="0"/>
              </a:spcAft>
            </a:pPr>
            <a:r>
              <a:rPr sz="950" b="1" i="0">
                <a:solidFill>
                  <a:srgbClr val="6E7A72"/>
                </a:solidFill>
                <a:latin typeface="Trebuchet M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8888" cy="237744"/>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4F8A63"/>
                </a:solidFill>
                <a:latin typeface="Trebuchet MS"/>
              </a:rPr>
              <a:t>ASSESSMENT</a:t>
            </a:r>
          </a:p>
        </p:txBody>
      </p:sp>
      <p:sp>
        <p:nvSpPr>
          <p:cNvPr id="4" name="TextBox 3"/>
          <p:cNvSpPr txBox="1"/>
          <p:nvPr/>
        </p:nvSpPr>
        <p:spPr>
          <a:xfrm>
            <a:off x="713232" y="749808"/>
            <a:ext cx="10768888"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82A21"/>
                </a:solidFill>
                <a:latin typeface="Trebuchet MS"/>
              </a:rPr>
              <a:t>Validation and limitations</a:t>
            </a:r>
          </a:p>
        </p:txBody>
      </p:sp>
      <p:sp>
        <p:nvSpPr>
          <p:cNvPr id="5" name="Rectangle 4"/>
          <p:cNvSpPr/>
          <p:nvPr/>
        </p:nvSpPr>
        <p:spPr>
          <a:xfrm>
            <a:off x="713232" y="1389888"/>
            <a:ext cx="566928"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572768"/>
            <a:ext cx="9509760" cy="36576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6E7A72"/>
                </a:solidFill>
                <a:latin typeface="Tahoma"/>
              </a:rPr>
              <a:t>Stated plainly, because these are the boundaries of what the current system demonstrates.</a:t>
            </a:r>
          </a:p>
        </p:txBody>
      </p:sp>
      <p:sp>
        <p:nvSpPr>
          <p:cNvPr id="7" name="Rounded Rectangle 6"/>
          <p:cNvSpPr/>
          <p:nvPr/>
        </p:nvSpPr>
        <p:spPr>
          <a:xfrm>
            <a:off x="713232" y="2077973"/>
            <a:ext cx="5212080" cy="3004769"/>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13232" y="2077973"/>
            <a:ext cx="50292" cy="3004769"/>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9264" y="2279141"/>
            <a:ext cx="4773168" cy="1792224"/>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TESTING</a:t>
            </a:r>
          </a:p>
          <a:p>
            <a:pPr algn="l">
              <a:lnSpc>
                <a:spcPct val="110000"/>
              </a:lnSpc>
              <a:spcBef>
                <a:spcPts val="0"/>
              </a:spcBef>
              <a:spcAft>
                <a:spcPts val="0"/>
              </a:spcAft>
            </a:pPr>
            <a:r>
              <a:rPr sz="1500" b="1" i="0">
                <a:solidFill>
                  <a:srgbClr val="182A21"/>
                </a:solidFill>
                <a:latin typeface="Trebuchet MS"/>
              </a:rPr>
              <a:t>How it was validated</a:t>
            </a:r>
          </a:p>
        </p:txBody>
      </p:sp>
      <p:sp>
        <p:nvSpPr>
          <p:cNvPr id="10" name="TextBox 9"/>
          <p:cNvSpPr txBox="1"/>
          <p:nvPr/>
        </p:nvSpPr>
        <p:spPr>
          <a:xfrm>
            <a:off x="969264" y="2827781"/>
            <a:ext cx="4754880" cy="365760"/>
          </a:xfrm>
          <a:prstGeom prst="rect">
            <a:avLst/>
          </a:prstGeom>
          <a:noFill/>
        </p:spPr>
        <p:txBody>
          <a:bodyPr wrap="square" lIns="0" rIns="0" tIns="0" bIns="0" anchor="t">
            <a:spAutoFit/>
          </a:bodyPr>
          <a:lstStyle/>
          <a:p>
            <a:pPr algn="l" marL="187452" indent="-187452">
              <a:lnSpc>
                <a:spcPct val="126000"/>
              </a:lnSpc>
              <a:spcBef>
                <a:spcPts val="0"/>
              </a:spcBef>
              <a:spcAft>
                <a:spcPts val="0"/>
              </a:spcAft>
            </a:pPr>
            <a:r>
              <a:rPr sz="1150" b="1" i="0">
                <a:solidFill>
                  <a:srgbClr val="4F8A63"/>
                </a:solidFill>
                <a:latin typeface="Tahoma"/>
              </a:rPr>
              <a:t>▪   </a:t>
            </a:r>
            <a:r>
              <a:rPr sz="1150" b="1" i="0">
                <a:solidFill>
                  <a:srgbClr val="182A21"/>
                </a:solidFill>
                <a:latin typeface="Tahoma"/>
              </a:rPr>
              <a:t>Manual end-to-end runs  </a:t>
            </a:r>
            <a:r>
              <a:rPr sz="1150" b="0" i="0">
                <a:solidFill>
                  <a:srgbClr val="232E27"/>
                </a:solidFill>
                <a:latin typeface="Tahoma"/>
              </a:rPr>
              <a:t>of registration, purchase and tracking</a:t>
            </a:r>
          </a:p>
          <a:p>
            <a:pPr algn="l" marL="187452" indent="-187452">
              <a:lnSpc>
                <a:spcPct val="126000"/>
              </a:lnSpc>
              <a:spcBef>
                <a:spcPts val="1000"/>
              </a:spcBef>
              <a:spcAft>
                <a:spcPts val="0"/>
              </a:spcAft>
            </a:pPr>
            <a:r>
              <a:rPr sz="1150" b="1" i="0">
                <a:solidFill>
                  <a:srgbClr val="4F8A63"/>
                </a:solidFill>
                <a:latin typeface="Tahoma"/>
              </a:rPr>
              <a:t>▪   </a:t>
            </a:r>
            <a:r>
              <a:rPr sz="1150" b="1" i="0">
                <a:solidFill>
                  <a:srgbClr val="182A21"/>
                </a:solidFill>
                <a:latin typeface="Tahoma"/>
              </a:rPr>
              <a:t>Stripe test mode  </a:t>
            </a:r>
            <a:r>
              <a:rPr sz="1150" b="0" i="0">
                <a:solidFill>
                  <a:srgbClr val="232E27"/>
                </a:solidFill>
                <a:latin typeface="Tahoma"/>
              </a:rPr>
              <a:t>for the full payment path</a:t>
            </a:r>
          </a:p>
          <a:p>
            <a:pPr algn="l" marL="187452" indent="-187452">
              <a:lnSpc>
                <a:spcPct val="126000"/>
              </a:lnSpc>
              <a:spcBef>
                <a:spcPts val="1000"/>
              </a:spcBef>
              <a:spcAft>
                <a:spcPts val="0"/>
              </a:spcAft>
            </a:pPr>
            <a:r>
              <a:rPr sz="1150" b="1" i="0">
                <a:solidFill>
                  <a:srgbClr val="4F8A63"/>
                </a:solidFill>
                <a:latin typeface="Tahoma"/>
              </a:rPr>
              <a:t>▪   </a:t>
            </a:r>
            <a:r>
              <a:rPr sz="1150" b="1" i="0">
                <a:solidFill>
                  <a:srgbClr val="182A21"/>
                </a:solidFill>
                <a:latin typeface="Tahoma"/>
              </a:rPr>
              <a:t>ESLint  </a:t>
            </a:r>
            <a:r>
              <a:rPr sz="1150" b="0" i="0">
                <a:solidFill>
                  <a:srgbClr val="232E27"/>
                </a:solidFill>
                <a:latin typeface="Tahoma"/>
              </a:rPr>
              <a:t>across the codebase on every change</a:t>
            </a:r>
          </a:p>
          <a:p>
            <a:pPr algn="l" marL="187452" indent="-187452">
              <a:lnSpc>
                <a:spcPct val="126000"/>
              </a:lnSpc>
              <a:spcBef>
                <a:spcPts val="1000"/>
              </a:spcBef>
              <a:spcAft>
                <a:spcPts val="0"/>
              </a:spcAft>
            </a:pPr>
            <a:r>
              <a:rPr sz="1150" b="1" i="0">
                <a:solidFill>
                  <a:srgbClr val="4F8A63"/>
                </a:solidFill>
                <a:latin typeface="Tahoma"/>
              </a:rPr>
              <a:t>▪   </a:t>
            </a:r>
            <a:r>
              <a:rPr sz="1150" b="1" i="0">
                <a:solidFill>
                  <a:srgbClr val="182A21"/>
                </a:solidFill>
                <a:latin typeface="Tahoma"/>
              </a:rPr>
              <a:t>TypeScript  </a:t>
            </a:r>
            <a:r>
              <a:rPr sz="1150" b="0" i="0">
                <a:solidFill>
                  <a:srgbClr val="232E27"/>
                </a:solidFill>
                <a:latin typeface="Tahoma"/>
              </a:rPr>
              <a:t>on the client for interface-level checking</a:t>
            </a:r>
          </a:p>
          <a:p>
            <a:pPr algn="l" marL="187452" indent="-187452">
              <a:lnSpc>
                <a:spcPct val="126000"/>
              </a:lnSpc>
              <a:spcBef>
                <a:spcPts val="1000"/>
              </a:spcBef>
              <a:spcAft>
                <a:spcPts val="0"/>
              </a:spcAft>
            </a:pPr>
            <a:r>
              <a:rPr sz="1150" b="1" i="0">
                <a:solidFill>
                  <a:srgbClr val="4F8A63"/>
                </a:solidFill>
                <a:latin typeface="Tahoma"/>
              </a:rPr>
              <a:t>▪   </a:t>
            </a:r>
            <a:r>
              <a:rPr sz="1150" b="1" i="0">
                <a:solidFill>
                  <a:srgbClr val="182A21"/>
                </a:solidFill>
                <a:latin typeface="Tahoma"/>
              </a:rPr>
              <a:t>No automated suite  </a:t>
            </a:r>
            <a:r>
              <a:rPr sz="1150" b="0" i="0">
                <a:solidFill>
                  <a:srgbClr val="232E27"/>
                </a:solidFill>
                <a:latin typeface="Tahoma"/>
              </a:rPr>
              <a:t>the npm test script is still a stub</a:t>
            </a:r>
          </a:p>
        </p:txBody>
      </p:sp>
      <p:sp>
        <p:nvSpPr>
          <p:cNvPr id="11" name="Rounded Rectangle 10"/>
          <p:cNvSpPr/>
          <p:nvPr/>
        </p:nvSpPr>
        <p:spPr>
          <a:xfrm>
            <a:off x="6291072" y="2077973"/>
            <a:ext cx="5184648" cy="3004769"/>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91072" y="2077973"/>
            <a:ext cx="50292" cy="3004769"/>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47104" y="2279141"/>
            <a:ext cx="4745736" cy="1792224"/>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BOUNDARIES</a:t>
            </a:r>
          </a:p>
          <a:p>
            <a:pPr algn="l">
              <a:lnSpc>
                <a:spcPct val="110000"/>
              </a:lnSpc>
              <a:spcBef>
                <a:spcPts val="0"/>
              </a:spcBef>
              <a:spcAft>
                <a:spcPts val="0"/>
              </a:spcAft>
            </a:pPr>
            <a:r>
              <a:rPr sz="1500" b="1" i="0">
                <a:solidFill>
                  <a:srgbClr val="182A21"/>
                </a:solidFill>
                <a:latin typeface="Trebuchet MS"/>
              </a:rPr>
              <a:t>Known limitations</a:t>
            </a:r>
          </a:p>
        </p:txBody>
      </p:sp>
      <p:sp>
        <p:nvSpPr>
          <p:cNvPr id="14" name="TextBox 13"/>
          <p:cNvSpPr txBox="1"/>
          <p:nvPr/>
        </p:nvSpPr>
        <p:spPr>
          <a:xfrm>
            <a:off x="6547104" y="2827781"/>
            <a:ext cx="4709160" cy="365760"/>
          </a:xfrm>
          <a:prstGeom prst="rect">
            <a:avLst/>
          </a:prstGeom>
          <a:noFill/>
        </p:spPr>
        <p:txBody>
          <a:bodyPr wrap="square" lIns="0" rIns="0" tIns="0" bIns="0" anchor="t">
            <a:spAutoFit/>
          </a:bodyPr>
          <a:lstStyle/>
          <a:p>
            <a:pPr algn="l" marL="187452" indent="-187452">
              <a:lnSpc>
                <a:spcPct val="126000"/>
              </a:lnSpc>
              <a:spcBef>
                <a:spcPts val="0"/>
              </a:spcBef>
              <a:spcAft>
                <a:spcPts val="0"/>
              </a:spcAft>
            </a:pPr>
            <a:r>
              <a:rPr sz="1150" b="1" i="0">
                <a:solidFill>
                  <a:srgbClr val="C1943C"/>
                </a:solidFill>
                <a:latin typeface="Tahoma"/>
              </a:rPr>
              <a:t>▪   </a:t>
            </a:r>
            <a:r>
              <a:rPr sz="1150" b="1" i="0">
                <a:solidFill>
                  <a:srgbClr val="182A21"/>
                </a:solidFill>
                <a:latin typeface="Tahoma"/>
              </a:rPr>
              <a:t>In-process timers  </a:t>
            </a:r>
            <a:r>
              <a:rPr sz="1150" b="0" i="0">
                <a:solidFill>
                  <a:srgbClr val="232E27"/>
                </a:solidFill>
                <a:latin typeface="Tahoma"/>
              </a:rPr>
              <a:t>order status schedules do not survive a restart</a:t>
            </a:r>
          </a:p>
          <a:p>
            <a:pPr algn="l" marL="187452" indent="-187452">
              <a:lnSpc>
                <a:spcPct val="126000"/>
              </a:lnSpc>
              <a:spcBef>
                <a:spcPts val="1000"/>
              </a:spcBef>
              <a:spcAft>
                <a:spcPts val="0"/>
              </a:spcAft>
            </a:pPr>
            <a:r>
              <a:rPr sz="1150" b="1" i="0">
                <a:solidFill>
                  <a:srgbClr val="C1943C"/>
                </a:solidFill>
                <a:latin typeface="Tahoma"/>
              </a:rPr>
              <a:t>▪   </a:t>
            </a:r>
            <a:r>
              <a:rPr sz="1150" b="1" i="0">
                <a:solidFill>
                  <a:srgbClr val="182A21"/>
                </a:solidFill>
                <a:latin typeface="Tahoma"/>
              </a:rPr>
              <a:t>No Stripe webhook  </a:t>
            </a:r>
            <a:r>
              <a:rPr sz="1150" b="0" i="0">
                <a:solidFill>
                  <a:srgbClr val="232E27"/>
                </a:solidFill>
                <a:latin typeface="Tahoma"/>
              </a:rPr>
              <a:t>confirmation is client-initiated, then verified</a:t>
            </a:r>
          </a:p>
          <a:p>
            <a:pPr algn="l" marL="187452" indent="-187452">
              <a:lnSpc>
                <a:spcPct val="126000"/>
              </a:lnSpc>
              <a:spcBef>
                <a:spcPts val="1000"/>
              </a:spcBef>
              <a:spcAft>
                <a:spcPts val="0"/>
              </a:spcAft>
            </a:pPr>
            <a:r>
              <a:rPr sz="1150" b="1" i="0">
                <a:solidFill>
                  <a:srgbClr val="C1943C"/>
                </a:solidFill>
                <a:latin typeface="Tahoma"/>
              </a:rPr>
              <a:t>▪   </a:t>
            </a:r>
            <a:r>
              <a:rPr sz="1150" b="1" i="0">
                <a:solidFill>
                  <a:srgbClr val="182A21"/>
                </a:solidFill>
                <a:latin typeface="Tahoma"/>
              </a:rPr>
              <a:t>No stock reservation  </a:t>
            </a:r>
            <a:r>
              <a:rPr sz="1150" b="0" i="0">
                <a:solidFill>
                  <a:srgbClr val="232E27"/>
                </a:solidFill>
                <a:latin typeface="Tahoma"/>
              </a:rPr>
              <a:t>adding to a cart does not hold inventory</a:t>
            </a:r>
          </a:p>
          <a:p>
            <a:pPr algn="l" marL="187452" indent="-187452">
              <a:lnSpc>
                <a:spcPct val="126000"/>
              </a:lnSpc>
              <a:spcBef>
                <a:spcPts val="1000"/>
              </a:spcBef>
              <a:spcAft>
                <a:spcPts val="0"/>
              </a:spcAft>
            </a:pPr>
            <a:r>
              <a:rPr sz="1150" b="1" i="0">
                <a:solidFill>
                  <a:srgbClr val="C1943C"/>
                </a:solidFill>
                <a:latin typeface="Tahoma"/>
              </a:rPr>
              <a:t>▪   </a:t>
            </a:r>
            <a:r>
              <a:rPr sz="1150" b="1" i="0">
                <a:solidFill>
                  <a:srgbClr val="182A21"/>
                </a:solidFill>
                <a:latin typeface="Tahoma"/>
              </a:rPr>
              <a:t>Sandbox mail sender  </a:t>
            </a:r>
            <a:r>
              <a:rPr sz="1150" b="0" i="0">
                <a:solidFill>
                  <a:srgbClr val="232E27"/>
                </a:solidFill>
                <a:latin typeface="Tahoma"/>
              </a:rPr>
              <a:t>a verified domain is needed for open registration</a:t>
            </a:r>
          </a:p>
          <a:p>
            <a:pPr algn="l" marL="187452" indent="-187452">
              <a:lnSpc>
                <a:spcPct val="126000"/>
              </a:lnSpc>
              <a:spcBef>
                <a:spcPts val="1000"/>
              </a:spcBef>
              <a:spcAft>
                <a:spcPts val="0"/>
              </a:spcAft>
            </a:pPr>
            <a:r>
              <a:rPr sz="1150" b="1" i="0">
                <a:solidFill>
                  <a:srgbClr val="C1943C"/>
                </a:solidFill>
                <a:latin typeface="Tahoma"/>
              </a:rPr>
              <a:t>▪   </a:t>
            </a:r>
            <a:r>
              <a:rPr sz="1150" b="1" i="0">
                <a:solidFill>
                  <a:srgbClr val="182A21"/>
                </a:solidFill>
                <a:latin typeface="Tahoma"/>
              </a:rPr>
              <a:t>Free-tier API limits  </a:t>
            </a:r>
            <a:r>
              <a:rPr sz="1150" b="0" i="0">
                <a:solidFill>
                  <a:srgbClr val="232E27"/>
                </a:solidFill>
                <a:latin typeface="Tahoma"/>
              </a:rPr>
              <a:t>Overpass throttling is visible under load</a:t>
            </a:r>
          </a:p>
        </p:txBody>
      </p:sp>
      <p:sp>
        <p:nvSpPr>
          <p:cNvPr id="15" name="TextBox 14"/>
          <p:cNvSpPr txBox="1"/>
          <p:nvPr/>
        </p:nvSpPr>
        <p:spPr>
          <a:xfrm>
            <a:off x="713232" y="5320486"/>
            <a:ext cx="10768888" cy="1188720"/>
          </a:xfrm>
          <a:prstGeom prst="rect">
            <a:avLst/>
          </a:prstGeom>
          <a:noFill/>
        </p:spPr>
        <p:txBody>
          <a:bodyPr wrap="square" lIns="0" rIns="0" tIns="0" bIns="0" anchor="t">
            <a:spAutoFit/>
          </a:bodyPr>
          <a:lstStyle/>
          <a:p>
            <a:pPr algn="l">
              <a:lnSpc>
                <a:spcPct val="135000"/>
              </a:lnSpc>
              <a:spcBef>
                <a:spcPts val="0"/>
              </a:spcBef>
              <a:spcAft>
                <a:spcPts val="0"/>
              </a:spcAft>
            </a:pPr>
            <a:r>
              <a:rPr sz="1400" b="1" i="0">
                <a:solidFill>
                  <a:srgbClr val="182A21"/>
                </a:solidFill>
                <a:latin typeface="Trebuchet MS"/>
              </a:rPr>
              <a:t>On the missing test suite.  </a:t>
            </a:r>
            <a:r>
              <a:rPr sz="1400" b="0" i="0">
                <a:solidFill>
                  <a:srgbClr val="232E27"/>
                </a:solidFill>
                <a:latin typeface="Tahoma"/>
              </a:rPr>
              <a:t>The absence of automated tests is the clearest gap in the project. The access-control flaws described earlier are exactly the class of defect that an integration test around the auth middleware would have caught much sooner.</a:t>
            </a:r>
          </a:p>
        </p:txBody>
      </p:sp>
      <p:sp>
        <p:nvSpPr>
          <p:cNvPr id="16" name="Rectangle 15"/>
          <p:cNvSpPr/>
          <p:nvPr/>
        </p:nvSpPr>
        <p:spPr>
          <a:xfrm>
            <a:off x="713232" y="6272784"/>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13232" y="6382512"/>
            <a:ext cx="54864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6E7A72"/>
                </a:solidFill>
                <a:latin typeface="Trebuchet MS"/>
              </a:rPr>
              <a:t>TrailBlaze</a:t>
            </a:r>
            <a:r>
              <a:rPr sz="950" b="0" i="0">
                <a:solidFill>
                  <a:srgbClr val="6E7A72"/>
                </a:solidFill>
                <a:latin typeface="Trebuchet MS"/>
              </a:rPr>
              <a:t>   |   Hiking E-Commerce and Trail Discovery</a:t>
            </a:r>
          </a:p>
        </p:txBody>
      </p:sp>
      <p:sp>
        <p:nvSpPr>
          <p:cNvPr id="18" name="TextBox 17"/>
          <p:cNvSpPr txBox="1"/>
          <p:nvPr/>
        </p:nvSpPr>
        <p:spPr>
          <a:xfrm>
            <a:off x="10515600" y="6382512"/>
            <a:ext cx="964692" cy="274320"/>
          </a:xfrm>
          <a:prstGeom prst="rect">
            <a:avLst/>
          </a:prstGeom>
          <a:noFill/>
        </p:spPr>
        <p:txBody>
          <a:bodyPr wrap="square" lIns="0" rIns="0" tIns="0" bIns="0" anchor="t">
            <a:spAutoFit/>
          </a:bodyPr>
          <a:lstStyle/>
          <a:p>
            <a:pPr algn="r">
              <a:lnSpc>
                <a:spcPct val="122000"/>
              </a:lnSpc>
              <a:spcBef>
                <a:spcPts val="0"/>
              </a:spcBef>
              <a:spcAft>
                <a:spcPts val="0"/>
              </a:spcAft>
            </a:pPr>
            <a:r>
              <a:rPr sz="950" b="1" i="0">
                <a:solidFill>
                  <a:srgbClr val="6E7A72"/>
                </a:solidFill>
                <a:latin typeface="Trebuchet M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8888" cy="237744"/>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4F8A63"/>
                </a:solidFill>
                <a:latin typeface="Trebuchet MS"/>
              </a:rPr>
              <a:t>NEXT</a:t>
            </a:r>
          </a:p>
        </p:txBody>
      </p:sp>
      <p:sp>
        <p:nvSpPr>
          <p:cNvPr id="4" name="TextBox 3"/>
          <p:cNvSpPr txBox="1"/>
          <p:nvPr/>
        </p:nvSpPr>
        <p:spPr>
          <a:xfrm>
            <a:off x="713232" y="749808"/>
            <a:ext cx="10768888" cy="566928"/>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82A21"/>
                </a:solidFill>
                <a:latin typeface="Trebuchet MS"/>
              </a:rPr>
              <a:t>Future work</a:t>
            </a:r>
          </a:p>
        </p:txBody>
      </p:sp>
      <p:sp>
        <p:nvSpPr>
          <p:cNvPr id="5" name="Rectangle 4"/>
          <p:cNvSpPr/>
          <p:nvPr/>
        </p:nvSpPr>
        <p:spPr>
          <a:xfrm>
            <a:off x="713232" y="1389888"/>
            <a:ext cx="566928"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572768"/>
            <a:ext cx="9509760" cy="365760"/>
          </a:xfrm>
          <a:prstGeom prst="rect">
            <a:avLst/>
          </a:prstGeom>
          <a:noFill/>
        </p:spPr>
        <p:txBody>
          <a:bodyPr wrap="square" lIns="0" rIns="0" tIns="0" bIns="0" anchor="t">
            <a:spAutoFit/>
          </a:bodyPr>
          <a:lstStyle/>
          <a:p>
            <a:pPr algn="l">
              <a:lnSpc>
                <a:spcPct val="130000"/>
              </a:lnSpc>
              <a:spcBef>
                <a:spcPts val="0"/>
              </a:spcBef>
              <a:spcAft>
                <a:spcPts val="0"/>
              </a:spcAft>
            </a:pPr>
            <a:r>
              <a:rPr sz="1350" b="0" i="0">
                <a:solidFill>
                  <a:srgbClr val="6E7A72"/>
                </a:solidFill>
                <a:latin typeface="Tahoma"/>
              </a:rPr>
              <a:t>Ordered by what would most improve correctness and operability rather than by visible surface area.</a:t>
            </a:r>
          </a:p>
        </p:txBody>
      </p:sp>
      <p:sp>
        <p:nvSpPr>
          <p:cNvPr id="7" name="Rounded Rectangle 6"/>
          <p:cNvSpPr/>
          <p:nvPr/>
        </p:nvSpPr>
        <p:spPr>
          <a:xfrm>
            <a:off x="713232" y="2077973"/>
            <a:ext cx="3429000" cy="1512265"/>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13232" y="2077973"/>
            <a:ext cx="50292" cy="1512265"/>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9264" y="2279141"/>
            <a:ext cx="2990088" cy="1183081"/>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HIGHEST VALUE</a:t>
            </a:r>
          </a:p>
          <a:p>
            <a:pPr algn="l">
              <a:lnSpc>
                <a:spcPct val="110000"/>
              </a:lnSpc>
              <a:spcBef>
                <a:spcPts val="0"/>
              </a:spcBef>
              <a:spcAft>
                <a:spcPts val="500"/>
              </a:spcAft>
            </a:pPr>
            <a:r>
              <a:rPr sz="1450" b="1" i="0">
                <a:solidFill>
                  <a:srgbClr val="182A21"/>
                </a:solidFill>
                <a:latin typeface="Trebuchet MS"/>
              </a:rPr>
              <a:t>Automated test coverage</a:t>
            </a:r>
          </a:p>
          <a:p>
            <a:pPr algn="l">
              <a:lnSpc>
                <a:spcPct val="126000"/>
              </a:lnSpc>
              <a:spcBef>
                <a:spcPts val="0"/>
              </a:spcBef>
              <a:spcAft>
                <a:spcPts val="0"/>
              </a:spcAft>
            </a:pPr>
            <a:r>
              <a:rPr sz="1100" b="0" i="0">
                <a:solidFill>
                  <a:srgbClr val="6E7A72"/>
                </a:solidFill>
                <a:latin typeface="Tahoma"/>
              </a:rPr>
              <a:t>Integration tests around authentication, authorization and the order path, run in continuous integration on every push.</a:t>
            </a:r>
          </a:p>
        </p:txBody>
      </p:sp>
      <p:sp>
        <p:nvSpPr>
          <p:cNvPr id="10" name="Rounded Rectangle 9"/>
          <p:cNvSpPr/>
          <p:nvPr/>
        </p:nvSpPr>
        <p:spPr>
          <a:xfrm>
            <a:off x="4379976" y="2077973"/>
            <a:ext cx="3429000" cy="1512265"/>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379976" y="2077973"/>
            <a:ext cx="50292" cy="1512265"/>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636008" y="2279141"/>
            <a:ext cx="2990088" cy="1183081"/>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CORRECTNESS</a:t>
            </a:r>
          </a:p>
          <a:p>
            <a:pPr algn="l">
              <a:lnSpc>
                <a:spcPct val="110000"/>
              </a:lnSpc>
              <a:spcBef>
                <a:spcPts val="0"/>
              </a:spcBef>
              <a:spcAft>
                <a:spcPts val="500"/>
              </a:spcAft>
            </a:pPr>
            <a:r>
              <a:rPr sz="1450" b="1" i="0">
                <a:solidFill>
                  <a:srgbClr val="182A21"/>
                </a:solidFill>
                <a:latin typeface="Trebuchet MS"/>
              </a:rPr>
              <a:t>Stripe webhooks and a job queue</a:t>
            </a:r>
          </a:p>
          <a:p>
            <a:pPr algn="l">
              <a:lnSpc>
                <a:spcPct val="126000"/>
              </a:lnSpc>
              <a:spcBef>
                <a:spcPts val="0"/>
              </a:spcBef>
              <a:spcAft>
                <a:spcPts val="0"/>
              </a:spcAft>
            </a:pPr>
            <a:r>
              <a:rPr sz="1100" b="0" i="0">
                <a:solidFill>
                  <a:srgbClr val="6E7A72"/>
                </a:solidFill>
                <a:latin typeface="Tahoma"/>
              </a:rPr>
              <a:t>Move order creation to a webhook and status transitions to a durable queue, so neither depends on a live process.</a:t>
            </a:r>
          </a:p>
        </p:txBody>
      </p:sp>
      <p:sp>
        <p:nvSpPr>
          <p:cNvPr id="13" name="Rounded Rectangle 12"/>
          <p:cNvSpPr/>
          <p:nvPr/>
        </p:nvSpPr>
        <p:spPr>
          <a:xfrm>
            <a:off x="8046720" y="2077973"/>
            <a:ext cx="3429000" cy="1512265"/>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8046720" y="2077973"/>
            <a:ext cx="50292" cy="1512265"/>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302752" y="2279141"/>
            <a:ext cx="2990088" cy="1183081"/>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4F8A63"/>
                </a:solidFill>
                <a:latin typeface="Trebuchet MS"/>
              </a:rPr>
              <a:t>CORRECTNESS</a:t>
            </a:r>
          </a:p>
          <a:p>
            <a:pPr algn="l">
              <a:lnSpc>
                <a:spcPct val="110000"/>
              </a:lnSpc>
              <a:spcBef>
                <a:spcPts val="0"/>
              </a:spcBef>
              <a:spcAft>
                <a:spcPts val="500"/>
              </a:spcAft>
            </a:pPr>
            <a:r>
              <a:rPr sz="1450" b="1" i="0">
                <a:solidFill>
                  <a:srgbClr val="182A21"/>
                </a:solidFill>
                <a:latin typeface="Trebuchet MS"/>
              </a:rPr>
              <a:t>Transactional stock handling</a:t>
            </a:r>
          </a:p>
          <a:p>
            <a:pPr algn="l">
              <a:lnSpc>
                <a:spcPct val="126000"/>
              </a:lnSpc>
              <a:spcBef>
                <a:spcPts val="0"/>
              </a:spcBef>
              <a:spcAft>
                <a:spcPts val="0"/>
              </a:spcAft>
            </a:pPr>
            <a:r>
              <a:rPr sz="1100" b="0" i="0">
                <a:solidFill>
                  <a:srgbClr val="6E7A72"/>
                </a:solidFill>
                <a:latin typeface="Tahoma"/>
              </a:rPr>
              <a:t>Decrement stock inside a database transaction and add short-lived cart reservations to prevent oversell under concurrency.</a:t>
            </a:r>
          </a:p>
        </p:txBody>
      </p:sp>
      <p:sp>
        <p:nvSpPr>
          <p:cNvPr id="16" name="Rounded Rectangle 15"/>
          <p:cNvSpPr/>
          <p:nvPr/>
        </p:nvSpPr>
        <p:spPr>
          <a:xfrm>
            <a:off x="713232" y="3791406"/>
            <a:ext cx="3429000" cy="1512265"/>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713232" y="3791406"/>
            <a:ext cx="50292" cy="1512265"/>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9264" y="3992574"/>
            <a:ext cx="2990088" cy="971854"/>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FEATURES</a:t>
            </a:r>
          </a:p>
          <a:p>
            <a:pPr algn="l">
              <a:lnSpc>
                <a:spcPct val="110000"/>
              </a:lnSpc>
              <a:spcBef>
                <a:spcPts val="0"/>
              </a:spcBef>
              <a:spcAft>
                <a:spcPts val="500"/>
              </a:spcAft>
            </a:pPr>
            <a:r>
              <a:rPr sz="1450" b="1" i="0">
                <a:solidFill>
                  <a:srgbClr val="182A21"/>
                </a:solidFill>
                <a:latin typeface="Trebuchet MS"/>
              </a:rPr>
              <a:t>Richer trail data</a:t>
            </a:r>
          </a:p>
          <a:p>
            <a:pPr algn="l">
              <a:lnSpc>
                <a:spcPct val="126000"/>
              </a:lnSpc>
              <a:spcBef>
                <a:spcPts val="0"/>
              </a:spcBef>
              <a:spcAft>
                <a:spcPts val="0"/>
              </a:spcAft>
            </a:pPr>
            <a:r>
              <a:rPr sz="1100" b="0" i="0">
                <a:solidFill>
                  <a:srgbClr val="6E7A72"/>
                </a:solidFill>
                <a:latin typeface="Tahoma"/>
              </a:rPr>
              <a:t>Elevation profiles, cached Overpass results and saved favourite trails per user.</a:t>
            </a:r>
          </a:p>
        </p:txBody>
      </p:sp>
      <p:sp>
        <p:nvSpPr>
          <p:cNvPr id="19" name="Rounded Rectangle 18"/>
          <p:cNvSpPr/>
          <p:nvPr/>
        </p:nvSpPr>
        <p:spPr>
          <a:xfrm>
            <a:off x="4379976" y="3791406"/>
            <a:ext cx="3429000" cy="1512265"/>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379976" y="3791406"/>
            <a:ext cx="50292" cy="1512265"/>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636008" y="3992574"/>
            <a:ext cx="2990088" cy="1183081"/>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FEATURES</a:t>
            </a:r>
          </a:p>
          <a:p>
            <a:pPr algn="l">
              <a:lnSpc>
                <a:spcPct val="110000"/>
              </a:lnSpc>
              <a:spcBef>
                <a:spcPts val="0"/>
              </a:spcBef>
              <a:spcAft>
                <a:spcPts val="500"/>
              </a:spcAft>
            </a:pPr>
            <a:r>
              <a:rPr sz="1450" b="1" i="0">
                <a:solidFill>
                  <a:srgbClr val="182A21"/>
                </a:solidFill>
                <a:latin typeface="Trebuchet MS"/>
              </a:rPr>
              <a:t>Recommendation quality</a:t>
            </a:r>
          </a:p>
          <a:p>
            <a:pPr algn="l">
              <a:lnSpc>
                <a:spcPct val="126000"/>
              </a:lnSpc>
              <a:spcBef>
                <a:spcPts val="0"/>
              </a:spcBef>
              <a:spcAft>
                <a:spcPts val="0"/>
              </a:spcAft>
            </a:pPr>
            <a:r>
              <a:rPr sz="1100" b="0" i="0">
                <a:solidFill>
                  <a:srgbClr val="6E7A72"/>
                </a:solidFill>
                <a:latin typeface="Tahoma"/>
              </a:rPr>
              <a:t>Include size availability and past purchases in the prompt, and record whether suggestions were accepted.</a:t>
            </a:r>
          </a:p>
        </p:txBody>
      </p:sp>
      <p:sp>
        <p:nvSpPr>
          <p:cNvPr id="22" name="Rounded Rectangle 21"/>
          <p:cNvSpPr/>
          <p:nvPr/>
        </p:nvSpPr>
        <p:spPr>
          <a:xfrm>
            <a:off x="8046720" y="3791406"/>
            <a:ext cx="3429000" cy="1512265"/>
          </a:xfrm>
          <a:prstGeom prst="roundRect">
            <a:avLst>
              <a:gd name="adj" fmla="val 5500"/>
            </a:avLst>
          </a:prstGeom>
          <a:solidFill>
            <a:srgbClr val="FFFFFF"/>
          </a:solidFill>
          <a:ln w="9525">
            <a:solidFill>
              <a:srgbClr val="DBD6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8046720" y="3791406"/>
            <a:ext cx="50292" cy="1512265"/>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302752" y="3992574"/>
            <a:ext cx="2990088" cy="971854"/>
          </a:xfrm>
          <a:prstGeom prst="rect">
            <a:avLst/>
          </a:prstGeom>
          <a:noFill/>
        </p:spPr>
        <p:txBody>
          <a:bodyPr wrap="square" lIns="0" rIns="0" tIns="0" bIns="0" anchor="t">
            <a:spAutoFit/>
          </a:bodyPr>
          <a:lstStyle/>
          <a:p>
            <a:pPr algn="l">
              <a:lnSpc>
                <a:spcPct val="122000"/>
              </a:lnSpc>
              <a:spcBef>
                <a:spcPts val="0"/>
              </a:spcBef>
              <a:spcAft>
                <a:spcPts val="400"/>
              </a:spcAft>
            </a:pPr>
            <a:r>
              <a:rPr sz="900" b="1" i="0">
                <a:solidFill>
                  <a:srgbClr val="C1943C"/>
                </a:solidFill>
                <a:latin typeface="Trebuchet MS"/>
              </a:rPr>
              <a:t>OPERATIONS</a:t>
            </a:r>
          </a:p>
          <a:p>
            <a:pPr algn="l">
              <a:lnSpc>
                <a:spcPct val="110000"/>
              </a:lnSpc>
              <a:spcBef>
                <a:spcPts val="0"/>
              </a:spcBef>
              <a:spcAft>
                <a:spcPts val="500"/>
              </a:spcAft>
            </a:pPr>
            <a:r>
              <a:rPr sz="1450" b="1" i="0">
                <a:solidFill>
                  <a:srgbClr val="182A21"/>
                </a:solidFill>
                <a:latin typeface="Trebuchet MS"/>
              </a:rPr>
              <a:t>Operational visibility</a:t>
            </a:r>
          </a:p>
          <a:p>
            <a:pPr algn="l">
              <a:lnSpc>
                <a:spcPct val="126000"/>
              </a:lnSpc>
              <a:spcBef>
                <a:spcPts val="0"/>
              </a:spcBef>
              <a:spcAft>
                <a:spcPts val="0"/>
              </a:spcAft>
            </a:pPr>
            <a:r>
              <a:rPr sz="1100" b="0" i="0">
                <a:solidFill>
                  <a:srgbClr val="6E7A72"/>
                </a:solidFill>
                <a:latin typeface="Tahoma"/>
              </a:rPr>
              <a:t>Structured logging, error reporting and basic metrics on the API.</a:t>
            </a:r>
          </a:p>
        </p:txBody>
      </p:sp>
      <p:sp>
        <p:nvSpPr>
          <p:cNvPr id="25" name="Rectangle 24"/>
          <p:cNvSpPr/>
          <p:nvPr/>
        </p:nvSpPr>
        <p:spPr>
          <a:xfrm>
            <a:off x="713232" y="6272784"/>
            <a:ext cx="10768888" cy="9525"/>
          </a:xfrm>
          <a:prstGeom prst="rect">
            <a:avLst/>
          </a:prstGeom>
          <a:solidFill>
            <a:srgbClr val="DBD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13232" y="6382512"/>
            <a:ext cx="5486400"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a:solidFill>
                  <a:srgbClr val="6E7A72"/>
                </a:solidFill>
                <a:latin typeface="Trebuchet MS"/>
              </a:rPr>
              <a:t>TrailBlaze</a:t>
            </a:r>
            <a:r>
              <a:rPr sz="950" b="0" i="0">
                <a:solidFill>
                  <a:srgbClr val="6E7A72"/>
                </a:solidFill>
                <a:latin typeface="Trebuchet MS"/>
              </a:rPr>
              <a:t>   |   Hiking E-Commerce and Trail Discovery</a:t>
            </a:r>
          </a:p>
        </p:txBody>
      </p:sp>
      <p:sp>
        <p:nvSpPr>
          <p:cNvPr id="27" name="TextBox 26"/>
          <p:cNvSpPr txBox="1"/>
          <p:nvPr/>
        </p:nvSpPr>
        <p:spPr>
          <a:xfrm>
            <a:off x="10515600" y="6382512"/>
            <a:ext cx="964692" cy="274320"/>
          </a:xfrm>
          <a:prstGeom prst="rect">
            <a:avLst/>
          </a:prstGeom>
          <a:noFill/>
        </p:spPr>
        <p:txBody>
          <a:bodyPr wrap="square" lIns="0" rIns="0" tIns="0" bIns="0" anchor="t">
            <a:spAutoFit/>
          </a:bodyPr>
          <a:lstStyle/>
          <a:p>
            <a:pPr algn="r">
              <a:lnSpc>
                <a:spcPct val="122000"/>
              </a:lnSpc>
              <a:spcBef>
                <a:spcPts val="0"/>
              </a:spcBef>
              <a:spcAft>
                <a:spcPts val="0"/>
              </a:spcAft>
            </a:pPr>
            <a:r>
              <a:rPr sz="950" b="1" i="0">
                <a:solidFill>
                  <a:srgbClr val="6E7A72"/>
                </a:solidFill>
                <a:latin typeface="Trebuchet M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F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Isosceles Triangle 3"/>
          <p:cNvSpPr/>
          <p:nvPr/>
        </p:nvSpPr>
        <p:spPr>
          <a:xfrm>
            <a:off x="7863840" y="3566160"/>
            <a:ext cx="5486400" cy="3291840"/>
          </a:xfrm>
          <a:prstGeom prst="triangle">
            <a:avLst/>
          </a:prstGeom>
          <a:solidFill>
            <a:srgbClr val="182B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Isosceles Triangle 4"/>
          <p:cNvSpPr/>
          <p:nvPr/>
        </p:nvSpPr>
        <p:spPr>
          <a:xfrm>
            <a:off x="9966960" y="4023360"/>
            <a:ext cx="3840480" cy="2834640"/>
          </a:xfrm>
          <a:prstGeom prst="triangle">
            <a:avLst/>
          </a:prstGeom>
          <a:solidFill>
            <a:srgbClr val="1D33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868680"/>
            <a:ext cx="7680960" cy="274320"/>
          </a:xfrm>
          <a:prstGeom prst="rect">
            <a:avLst/>
          </a:prstGeom>
          <a:noFill/>
        </p:spPr>
        <p:txBody>
          <a:bodyPr wrap="square" lIns="0" rIns="0" tIns="0" bIns="0" anchor="t">
            <a:spAutoFit/>
          </a:bodyPr>
          <a:lstStyle/>
          <a:p>
            <a:pPr algn="l">
              <a:lnSpc>
                <a:spcPct val="122000"/>
              </a:lnSpc>
              <a:spcBef>
                <a:spcPts val="0"/>
              </a:spcBef>
              <a:spcAft>
                <a:spcPts val="0"/>
              </a:spcAft>
            </a:pPr>
            <a:r>
              <a:rPr sz="1100" b="1" i="0">
                <a:solidFill>
                  <a:srgbClr val="C1943C"/>
                </a:solidFill>
                <a:latin typeface="Trebuchet MS"/>
              </a:rPr>
              <a:t>CONCLUSION</a:t>
            </a:r>
          </a:p>
        </p:txBody>
      </p:sp>
      <p:sp>
        <p:nvSpPr>
          <p:cNvPr id="7" name="TextBox 6"/>
          <p:cNvSpPr txBox="1"/>
          <p:nvPr/>
        </p:nvSpPr>
        <p:spPr>
          <a:xfrm>
            <a:off x="713232" y="1243584"/>
            <a:ext cx="7863840" cy="1097280"/>
          </a:xfrm>
          <a:prstGeom prst="rect">
            <a:avLst/>
          </a:prstGeom>
          <a:noFill/>
        </p:spPr>
        <p:txBody>
          <a:bodyPr wrap="square" lIns="0" rIns="0" tIns="0" bIns="0" anchor="t">
            <a:spAutoFit/>
          </a:bodyPr>
          <a:lstStyle/>
          <a:p>
            <a:pPr algn="l">
              <a:lnSpc>
                <a:spcPct val="102000"/>
              </a:lnSpc>
              <a:spcBef>
                <a:spcPts val="0"/>
              </a:spcBef>
              <a:spcAft>
                <a:spcPts val="0"/>
              </a:spcAft>
            </a:pPr>
            <a:r>
              <a:rPr sz="4400" b="1" i="0">
                <a:solidFill>
                  <a:srgbClr val="FFFFFF"/>
                </a:solidFill>
                <a:latin typeface="Trebuchet MS"/>
              </a:rPr>
              <a:t>One system, not two</a:t>
            </a:r>
          </a:p>
        </p:txBody>
      </p:sp>
      <p:sp>
        <p:nvSpPr>
          <p:cNvPr id="8" name="Rectangle 7"/>
          <p:cNvSpPr/>
          <p:nvPr/>
        </p:nvSpPr>
        <p:spPr>
          <a:xfrm>
            <a:off x="713232" y="2286000"/>
            <a:ext cx="822960" cy="41148"/>
          </a:xfrm>
          <a:prstGeom prst="rect">
            <a:avLst/>
          </a:prstGeom>
          <a:solidFill>
            <a:srgbClr val="C19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13232" y="2615184"/>
            <a:ext cx="7589520" cy="2194560"/>
          </a:xfrm>
          <a:prstGeom prst="rect">
            <a:avLst/>
          </a:prstGeom>
          <a:noFill/>
        </p:spPr>
        <p:txBody>
          <a:bodyPr wrap="square" lIns="0" rIns="0" tIns="0" bIns="0" anchor="t">
            <a:spAutoFit/>
          </a:bodyPr>
          <a:lstStyle/>
          <a:p>
            <a:pPr algn="l">
              <a:lnSpc>
                <a:spcPct val="142000"/>
              </a:lnSpc>
              <a:spcBef>
                <a:spcPts val="0"/>
              </a:spcBef>
              <a:spcAft>
                <a:spcPts val="0"/>
              </a:spcAft>
            </a:pPr>
            <a:r>
              <a:rPr sz="1550" b="0" i="0">
                <a:solidFill>
                  <a:srgbClr val="8CBB99"/>
                </a:solidFill>
                <a:latin typeface="Tahoma"/>
              </a:rPr>
              <a:t>TrailBlaze delivers a complete commercial flow, from catalogue to a real card payment to order tracking, on top of live geospatial and weather data. Because the catalogue and the trail context sit in the same system, the gear recommendation is grounded in stock that actually exists.</a:t>
            </a:r>
          </a:p>
          <a:p>
            <a:pPr algn="l">
              <a:lnSpc>
                <a:spcPct val="142000"/>
              </a:lnSpc>
              <a:spcBef>
                <a:spcPts val="1200"/>
              </a:spcBef>
              <a:spcAft>
                <a:spcPts val="0"/>
              </a:spcAft>
            </a:pPr>
            <a:r>
              <a:rPr sz="1550" b="0" i="0">
                <a:solidFill>
                  <a:srgbClr val="ECE8E1"/>
                </a:solidFill>
                <a:latin typeface="Tahoma"/>
              </a:rPr>
              <a:t>The access-control review late in the project was the most instructive part of the work: a feature can look finished and still be wrong in ways only an adversarial reading reveals.</a:t>
            </a:r>
          </a:p>
        </p:txBody>
      </p:sp>
      <p:sp>
        <p:nvSpPr>
          <p:cNvPr id="10" name="TextBox 9"/>
          <p:cNvSpPr txBox="1"/>
          <p:nvPr/>
        </p:nvSpPr>
        <p:spPr>
          <a:xfrm>
            <a:off x="713232" y="5138928"/>
            <a:ext cx="7315200" cy="822960"/>
          </a:xfrm>
          <a:prstGeom prst="rect">
            <a:avLst/>
          </a:prstGeom>
          <a:noFill/>
        </p:spPr>
        <p:txBody>
          <a:bodyPr wrap="square" lIns="0" rIns="0" tIns="0" bIns="0" anchor="t">
            <a:spAutoFit/>
          </a:bodyPr>
          <a:lstStyle/>
          <a:p>
            <a:pPr algn="l">
              <a:lnSpc>
                <a:spcPct val="122000"/>
              </a:lnSpc>
              <a:spcBef>
                <a:spcPts val="0"/>
              </a:spcBef>
              <a:spcAft>
                <a:spcPts val="0"/>
              </a:spcAft>
            </a:pPr>
            <a:r>
              <a:rPr sz="1900" b="1" i="0">
                <a:solidFill>
                  <a:srgbClr val="FFFFFF"/>
                </a:solidFill>
                <a:latin typeface="Trebuchet MS"/>
              </a:rPr>
              <a:t>Thank you. Questions welcome.</a:t>
            </a:r>
          </a:p>
          <a:p>
            <a:pPr algn="l">
              <a:lnSpc>
                <a:spcPct val="122000"/>
              </a:lnSpc>
              <a:spcBef>
                <a:spcPts val="700"/>
              </a:spcBef>
              <a:spcAft>
                <a:spcPts val="0"/>
              </a:spcAft>
            </a:pPr>
            <a:r>
              <a:rPr sz="1250" b="0" i="0">
                <a:solidFill>
                  <a:srgbClr val="6E7A72"/>
                </a:solidFill>
                <a:latin typeface="Tahoma"/>
              </a:rPr>
              <a:t>Denys Herzhyk   |   Ruse University   |   hiking-ecommerce.vercel.app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